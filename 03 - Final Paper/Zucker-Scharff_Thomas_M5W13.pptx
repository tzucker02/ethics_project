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2"/>
  </p:notesMasterIdLst>
  <p:sldIdLst>
    <p:sldId id="256" r:id="rId2"/>
    <p:sldId id="257" r:id="rId3"/>
    <p:sldId id="258" r:id="rId4"/>
    <p:sldId id="262" r:id="rId5"/>
    <p:sldId id="259" r:id="rId6"/>
    <p:sldId id="264" r:id="rId7"/>
    <p:sldId id="263" r:id="rId8"/>
    <p:sldId id="265" r:id="rId9"/>
    <p:sldId id="260" r:id="rId10"/>
    <p:sldId id="261" r:id="rId11"/>
  </p:sldIdLst>
  <p:sldSz cx="9144000" cy="5143500" type="screen16x9"/>
  <p:notesSz cx="7102475" cy="9388475"/>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Intro, problem, Ethical framework" id="{E64F3362-6748-F147-AA9C-F62020640CF9}">
          <p14:sldIdLst>
            <p14:sldId id="256"/>
            <p14:sldId id="257"/>
            <p14:sldId id="258"/>
            <p14:sldId id="262"/>
          </p14:sldIdLst>
        </p14:section>
        <p14:section name="Stakeholders" id="{88CD699E-E815-164A-B2F9-681822B1BDBB}">
          <p14:sldIdLst>
            <p14:sldId id="259"/>
            <p14:sldId id="264"/>
          </p14:sldIdLst>
        </p14:section>
        <p14:section name="Timeline'" id="{787D9DD8-509B-3D4D-948A-10FE4A84E079}">
          <p14:sldIdLst>
            <p14:sldId id="263"/>
            <p14:sldId id="265"/>
          </p14:sldIdLst>
        </p14:section>
        <p14:section name="Policy" id="{629BC368-EED3-C040-9B30-55B158DA3819}">
          <p14:sldIdLst>
            <p14:sldId id="260"/>
          </p14:sldIdLst>
        </p14:section>
        <p14:section name="Objections / critiques" id="{C76B6F8D-9E82-0849-8107-A2216E46C925}">
          <p14:sldIdLst>
            <p14:sldId id="261"/>
          </p14:sldIdLst>
        </p14:section>
      </p14:sectionLst>
    </p:ext>
    <p:ext uri="{EFAFB233-063F-42B5-8137-9DF3F51BA10A}">
      <p15:sldGuideLst xmlns:p15="http://schemas.microsoft.com/office/powerpoint/2012/main">
        <p15:guide id="1" orient="horz" pos="1620">
          <p15:clr>
            <a:srgbClr val="747775"/>
          </p15:clr>
        </p15:guide>
        <p15:guide id="2" pos="2880">
          <p15:clr>
            <a:srgbClr val="747775"/>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868"/>
    <p:restoredTop sz="80952" autoAdjust="0"/>
  </p:normalViewPr>
  <p:slideViewPr>
    <p:cSldViewPr snapToGrid="0">
      <p:cViewPr varScale="1">
        <p:scale>
          <a:sx n="128" d="100"/>
          <a:sy n="128" d="100"/>
        </p:scale>
        <p:origin x="1170" y="288"/>
      </p:cViewPr>
      <p:guideLst>
        <p:guide orient="horz" pos="1620"/>
        <p:guide pos="2880"/>
      </p:guideLst>
    </p:cSldViewPr>
  </p:slideViewPr>
  <p:notesTextViewPr>
    <p:cViewPr>
      <p:scale>
        <a:sx n="1" d="1"/>
        <a:sy n="1" d="1"/>
      </p:scale>
      <p:origin x="0" y="0"/>
    </p:cViewPr>
  </p:notesTextViewPr>
  <p:notesViewPr>
    <p:cSldViewPr snapToGrid="0">
      <p:cViewPr varScale="1">
        <p:scale>
          <a:sx n="94" d="100"/>
          <a:sy n="94" d="100"/>
        </p:scale>
        <p:origin x="4320" y="20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423863" y="704850"/>
            <a:ext cx="6256337" cy="3519488"/>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710248" y="4459526"/>
            <a:ext cx="5681980" cy="4224814"/>
          </a:xfrm>
          <a:prstGeom prst="rect">
            <a:avLst/>
          </a:prstGeom>
          <a:noFill/>
          <a:ln>
            <a:noFill/>
          </a:ln>
        </p:spPr>
        <p:txBody>
          <a:bodyPr spcFirstLastPara="1" wrap="square" lIns="94213" tIns="94213" rIns="94213" bIns="94213"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422275" y="704850"/>
            <a:ext cx="6257925" cy="3519488"/>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710248" y="4459526"/>
            <a:ext cx="5681980" cy="4224814"/>
          </a:xfrm>
          <a:prstGeom prst="rect">
            <a:avLst/>
          </a:prstGeom>
        </p:spPr>
        <p:txBody>
          <a:bodyPr spcFirstLastPara="1" wrap="square" lIns="94213" tIns="94213" rIns="94213" bIns="94213" anchor="t" anchorCtr="0">
            <a:noAutofit/>
          </a:bodyPr>
          <a:lstStyle/>
          <a:p>
            <a:r>
              <a:rPr lang="en-US" dirty="0"/>
              <a:t>This is a policy to address AI detector use with English Language Learners</a:t>
            </a: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3737bdc3c25_0_0:notes"/>
          <p:cNvSpPr>
            <a:spLocks noGrp="1" noRot="1" noChangeAspect="1"/>
          </p:cNvSpPr>
          <p:nvPr>
            <p:ph type="sldImg" idx="2"/>
          </p:nvPr>
        </p:nvSpPr>
        <p:spPr>
          <a:xfrm>
            <a:off x="422275" y="704850"/>
            <a:ext cx="6257925" cy="3519488"/>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3737bdc3c25_0_0:notes"/>
          <p:cNvSpPr txBox="1">
            <a:spLocks noGrp="1"/>
          </p:cNvSpPr>
          <p:nvPr>
            <p:ph type="body" idx="1"/>
          </p:nvPr>
        </p:nvSpPr>
        <p:spPr>
          <a:xfrm>
            <a:off x="710248" y="4459526"/>
            <a:ext cx="5681980" cy="4224814"/>
          </a:xfrm>
          <a:prstGeom prst="rect">
            <a:avLst/>
          </a:prstGeom>
        </p:spPr>
        <p:txBody>
          <a:bodyPr spcFirstLastPara="1" wrap="square" lIns="94213" tIns="94213" rIns="94213" bIns="94213" anchor="t" anchorCtr="0">
            <a:noAutofit/>
          </a:bodyPr>
          <a:lstStyle/>
          <a:p>
            <a:pPr marL="0" indent="0">
              <a:buNone/>
            </a:pPr>
            <a:r>
              <a:rPr lang="en-US" dirty="0"/>
              <a:t>The problem to be addressed is when AI detectors are used, English Language learners (ELL) suffer more often than other students. Currently, there is no policy for AI-detector use with ELLs, unless the institution has disabled it across the board. The scope of this policy will reach across student populations, to faculty, administrators, educational leaders, education agencies, the general public/media, and the vendors who create these detectors.</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g3737bdc3c25_0_10:notes"/>
          <p:cNvSpPr>
            <a:spLocks noGrp="1" noRot="1" noChangeAspect="1"/>
          </p:cNvSpPr>
          <p:nvPr>
            <p:ph type="sldImg" idx="2"/>
          </p:nvPr>
        </p:nvSpPr>
        <p:spPr>
          <a:xfrm>
            <a:off x="422275" y="704850"/>
            <a:ext cx="6257925" cy="3519488"/>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g3737bdc3c25_0_10:notes"/>
          <p:cNvSpPr txBox="1">
            <a:spLocks noGrp="1"/>
          </p:cNvSpPr>
          <p:nvPr>
            <p:ph type="body" idx="1"/>
          </p:nvPr>
        </p:nvSpPr>
        <p:spPr>
          <a:xfrm>
            <a:off x="710248" y="4459526"/>
            <a:ext cx="5681980" cy="4224814"/>
          </a:xfrm>
          <a:prstGeom prst="rect">
            <a:avLst/>
          </a:prstGeom>
        </p:spPr>
        <p:txBody>
          <a:bodyPr spcFirstLastPara="1" wrap="square" lIns="94213" tIns="94213" rIns="94213" bIns="94213" anchor="t" anchorCtr="0">
            <a:noAutofit/>
          </a:bodyPr>
          <a:lstStyle/>
          <a:p>
            <a:pPr marL="163592" indent="0">
              <a:buNone/>
            </a:pPr>
            <a:r>
              <a:rPr lang="en-US" dirty="0">
                <a:latin typeface="Times New Roman" panose="02020603050405020304" pitchFamily="18" charset="0"/>
                <a:ea typeface="Times New Roman" panose="02020603050405020304" pitchFamily="18" charset="0"/>
              </a:rPr>
              <a:t>The primary ethical framework is a deontological one, although there is a secondary consequential framework. </a:t>
            </a:r>
          </a:p>
          <a:p>
            <a:pPr marL="163592" indent="0">
              <a:buNone/>
            </a:pPr>
            <a:endParaRPr lang="en-US" dirty="0">
              <a:latin typeface="Times New Roman" panose="02020603050405020304" pitchFamily="18" charset="0"/>
              <a:ea typeface="Times New Roman" panose="02020603050405020304" pitchFamily="18" charset="0"/>
            </a:endParaRPr>
          </a:p>
          <a:p>
            <a:pPr marL="163592" indent="0">
              <a:buNone/>
            </a:pPr>
            <a:r>
              <a:rPr lang="en-US" dirty="0">
                <a:latin typeface="Times New Roman" panose="02020603050405020304" pitchFamily="18" charset="0"/>
                <a:ea typeface="Times New Roman" panose="02020603050405020304" pitchFamily="18" charset="0"/>
              </a:rPr>
              <a:t>In terms of inherent duties that are involved, the Family Educational Rights and Privacy Act (FERPA) makes it the duty of educational institutions to protect all students information, including integrity determinations. Additionally, using any tool that could require students’ work to be processed through an outside third party, may be a violation of the FERPA rules. Secondarily, there are consequences, both legal and monetary, that may result in the use of AI detectors.</a:t>
            </a:r>
          </a:p>
          <a:p>
            <a:pPr marL="163592" indent="0">
              <a:buNone/>
            </a:pPr>
            <a:r>
              <a:rPr lang="en-US" dirty="0">
                <a:latin typeface="Times New Roman" panose="02020603050405020304" pitchFamily="18" charset="0"/>
                <a:ea typeface="Times New Roman" panose="02020603050405020304" pitchFamily="18" charset="0"/>
              </a:rPr>
              <a:t>This is important to me, because I was trained as an educator (elementary education) and my spouse teaches English as a second language. I hope that a policy such as this will prevent much of the misuse of AI I have seen over the years.</a:t>
            </a:r>
          </a:p>
          <a:p>
            <a:pPr marL="163592" indent="0">
              <a:buNone/>
            </a:pPr>
            <a:endParaRPr lang="en-US" b="1" u="sng" dirty="0">
              <a:latin typeface="Times New Roman" panose="02020603050405020304" pitchFamily="18" charset="0"/>
              <a:ea typeface="Times New Roman" panose="02020603050405020304" pitchFamily="18" charset="0"/>
            </a:endParaRPr>
          </a:p>
          <a:p>
            <a:pPr marL="163592" indent="0">
              <a:buNone/>
            </a:pPr>
            <a:r>
              <a:rPr lang="en-US" b="1" u="sng" dirty="0">
                <a:latin typeface="Times New Roman" panose="02020603050405020304" pitchFamily="18" charset="0"/>
                <a:ea typeface="Times New Roman" panose="02020603050405020304" pitchFamily="18" charset="0"/>
              </a:rPr>
              <a:t>LOGICAL ARGUMENT AGAINST USING AI-DETECTORS</a:t>
            </a:r>
          </a:p>
          <a:p>
            <a:pPr marL="163592" indent="0" defTabSz="942289">
              <a:buNone/>
              <a:defRPr/>
            </a:pPr>
            <a:r>
              <a:rPr lang="en-US" sz="1100" b="0" i="0" u="none" strike="noStrike" cap="none" dirty="0">
                <a:solidFill>
                  <a:srgbClr val="000000"/>
                </a:solidFill>
                <a:latin typeface="Times New Roman" panose="02020603050405020304" pitchFamily="18" charset="0"/>
                <a:cs typeface="Arial"/>
                <a:sym typeface="Arial"/>
              </a:rPr>
              <a:t>FERPA makes it incumbent on any institution that receives federal money to be sure that its records are accurate and fairly administered; this would include “integrity” determinations. Any policy that relies solely on a tool that systematically disadvantages a protected group violates that duty.</a:t>
            </a:r>
            <a:endParaRPr lang="en-US" sz="1100" b="0" i="0" u="none" strike="noStrike" cap="none" dirty="0">
              <a:solidFill>
                <a:srgbClr val="000000"/>
              </a:solidFill>
              <a:latin typeface="Times New Roman" panose="02020603050405020304" pitchFamily="18" charset="0"/>
              <a:ea typeface="Times New Roman" panose="02020603050405020304" pitchFamily="18" charset="0"/>
              <a:cs typeface="Arial"/>
              <a:sym typeface="Arial"/>
            </a:endParaRPr>
          </a:p>
          <a:p>
            <a:pPr marL="163592" indent="0">
              <a:buNone/>
            </a:pPr>
            <a:r>
              <a:rPr lang="en-US" sz="1100" b="0" i="0" u="none" strike="noStrike" cap="none" dirty="0">
                <a:solidFill>
                  <a:srgbClr val="000000"/>
                </a:solidFill>
                <a:latin typeface="Times New Roman" panose="02020603050405020304" pitchFamily="18" charset="0"/>
                <a:ea typeface="Times New Roman" panose="02020603050405020304" pitchFamily="18" charset="0"/>
                <a:cs typeface="Arial"/>
                <a:sym typeface="Arial"/>
              </a:rPr>
              <a:t>If we suppose that the ultimate purpose of using AI detectors (Aristotle, Tavani) </a:t>
            </a:r>
            <a:r>
              <a:rPr lang="en-US" dirty="0">
                <a:latin typeface="Times New Roman" panose="02020603050405020304" pitchFamily="18" charset="0"/>
                <a:ea typeface="Times New Roman" panose="02020603050405020304" pitchFamily="18" charset="0"/>
              </a:rPr>
              <a:t>is to </a:t>
            </a:r>
            <a:r>
              <a:rPr lang="en-US" b="1" i="1" dirty="0">
                <a:latin typeface="Times New Roman" panose="02020603050405020304" pitchFamily="18" charset="0"/>
                <a:ea typeface="Times New Roman" panose="02020603050405020304" pitchFamily="18" charset="0"/>
              </a:rPr>
              <a:t>ensure the integrity of any written work and to help students achieve their best possible work</a:t>
            </a:r>
            <a:r>
              <a:rPr lang="en-US" dirty="0">
                <a:latin typeface="Times New Roman" panose="02020603050405020304" pitchFamily="18" charset="0"/>
                <a:ea typeface="Times New Roman" panose="02020603050405020304" pitchFamily="18" charset="0"/>
              </a:rPr>
              <a:t>, then one could turn that around and say that the same reason is why one should not use AI detectors. When using these detectors, users are more likely to misidentify ELL-generated human text as AI-generated (a false positive). The results of such a false-positive could be disastrous to the student. The student will, in turn, not be doing their best possible work, but instead defending work they have already done. Therefore, in a pure ethical/logical sense, one should not use AI-detectors alone when evaluating ELL students’ writing </a:t>
            </a:r>
            <a:endParaRPr lang="en-US" dirty="0">
              <a:latin typeface="Times New Roman" panose="02020603050405020304" pitchFamily="18" charset="0"/>
            </a:endParaRPr>
          </a:p>
          <a:p>
            <a:pPr marL="163592" indent="0">
              <a:buNone/>
            </a:pPr>
            <a:r>
              <a:rPr lang="en-US" b="1" i="1" dirty="0">
                <a:latin typeface="Times New Roman" panose="02020603050405020304" pitchFamily="18" charset="0"/>
              </a:rPr>
              <a:t>FERPA – </a:t>
            </a:r>
            <a:r>
              <a:rPr lang="en-US" b="1" i="1" dirty="0">
                <a:effectLst/>
                <a:latin typeface="fkGroteskNeue"/>
              </a:rPr>
              <a:t>Family Educational Rights and Privacy Act</a:t>
            </a:r>
            <a:endParaRPr lang="en-US" b="1" i="1" dirty="0"/>
          </a:p>
          <a:p>
            <a:pPr marL="0" indent="0">
              <a:buNone/>
            </a:pPr>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22275" y="704850"/>
            <a:ext cx="6257925" cy="3519488"/>
          </a:xfrm>
        </p:spPr>
      </p:sp>
      <p:sp>
        <p:nvSpPr>
          <p:cNvPr id="3" name="Notes Placeholder 2"/>
          <p:cNvSpPr>
            <a:spLocks noGrp="1"/>
          </p:cNvSpPr>
          <p:nvPr>
            <p:ph type="body" idx="1"/>
          </p:nvPr>
        </p:nvSpPr>
        <p:spPr/>
        <p:txBody>
          <a:bodyPr/>
          <a:lstStyle/>
          <a:p>
            <a:pPr marL="163592" indent="0" defTabSz="942289">
              <a:buNone/>
              <a:defRPr/>
            </a:pPr>
            <a:r>
              <a:rPr lang="en-US" dirty="0">
                <a:latin typeface="Times New Roman" panose="02020603050405020304" pitchFamily="18" charset="0"/>
                <a:ea typeface="Calibri" panose="020F0502020204030204" pitchFamily="34" charset="0"/>
              </a:rPr>
              <a:t>Civil rights issues are specifically addressed because if a false positive disproportionately affects ELLs, then Title IV of the Civil Rights Act concerning “disparate treatment," “disparate impact," or a “hostile learning environment” could be invoked. This could have more serious implications than initially expected. It is our moral and ethical duty to make equal treatment under the law a reality.</a:t>
            </a:r>
            <a:endParaRPr lang="en-US" dirty="0"/>
          </a:p>
        </p:txBody>
      </p:sp>
    </p:spTree>
    <p:extLst>
      <p:ext uri="{BB962C8B-B14F-4D97-AF65-F5344CB8AC3E}">
        <p14:creationId xmlns:p14="http://schemas.microsoft.com/office/powerpoint/2010/main" val="284927227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g3737bdc3c25_0_5:notes"/>
          <p:cNvSpPr>
            <a:spLocks noGrp="1" noRot="1" noChangeAspect="1"/>
          </p:cNvSpPr>
          <p:nvPr>
            <p:ph type="sldImg" idx="2"/>
          </p:nvPr>
        </p:nvSpPr>
        <p:spPr>
          <a:xfrm>
            <a:off x="422275" y="704850"/>
            <a:ext cx="6257925" cy="3519488"/>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 name="Google Shape;70;g3737bdc3c25_0_5:notes"/>
          <p:cNvSpPr txBox="1">
            <a:spLocks noGrp="1"/>
          </p:cNvSpPr>
          <p:nvPr>
            <p:ph type="body" idx="1"/>
          </p:nvPr>
        </p:nvSpPr>
        <p:spPr>
          <a:xfrm>
            <a:off x="710248" y="4459526"/>
            <a:ext cx="5681980" cy="4224814"/>
          </a:xfrm>
          <a:prstGeom prst="rect">
            <a:avLst/>
          </a:prstGeom>
        </p:spPr>
        <p:txBody>
          <a:bodyPr spcFirstLastPara="1" wrap="square" lIns="94213" tIns="94213" rIns="94213" bIns="94213" anchor="t" anchorCtr="0">
            <a:noAutofit/>
          </a:bodyPr>
          <a:lstStyle/>
          <a:p>
            <a:pPr marL="0" indent="0" defTabSz="942289">
              <a:buNone/>
              <a:defRPr/>
            </a:pPr>
            <a:r>
              <a:rPr lang="en-US" dirty="0"/>
              <a:t>This is a power-interest grid with a list all the stakeholders, the influence they may have or “power”, the probable interest they have in the policy (“Interest”), and the quadrant that the combination of these factors places them in. There are some suggested actions. This table separates most stakeholder categories. </a:t>
            </a:r>
          </a:p>
          <a:p>
            <a:pPr marL="0" indent="0" defTabSz="942289">
              <a:buNone/>
              <a:defRPr/>
            </a:pPr>
            <a:endParaRPr lang="en-US" dirty="0"/>
          </a:p>
          <a:p>
            <a:pPr marL="0" indent="0" defTabSz="942289">
              <a:buNone/>
              <a:defRPr/>
            </a:pPr>
            <a:r>
              <a:rPr lang="en-US" dirty="0"/>
              <a:t>------</a:t>
            </a:r>
          </a:p>
          <a:p>
            <a:pPr marL="0" indent="0" defTabSz="942289">
              <a:buNone/>
              <a:defRPr/>
            </a:pPr>
            <a:endParaRPr lang="en-US" dirty="0"/>
          </a:p>
          <a:p>
            <a:pPr marL="0" indent="0" defTabSz="942289">
              <a:buNone/>
              <a:defRPr/>
            </a:pPr>
            <a:endParaRPr lang="en-US" dirty="0"/>
          </a:p>
          <a:p>
            <a:pPr marL="0" indent="0" defTabSz="942289">
              <a:buNone/>
              <a:defRPr/>
            </a:pPr>
            <a:r>
              <a:rPr lang="en-US" dirty="0"/>
              <a:t>AI-Detector Vendors, although they are in the fourth quadrant, Monitor, may be the least likely to help in the adoption of this policy. It is incumbent upon the rest of the stakeholders to make the right decision in support of the least powerful students rather than the more powerful AI vendors. To make this policy a reality, we will need to reach out to and involve </a:t>
            </a:r>
            <a:r>
              <a:rPr lang="en-US" b="1" dirty="0"/>
              <a:t>all</a:t>
            </a:r>
            <a:r>
              <a:rPr lang="en-US" dirty="0"/>
              <a:t> stakeholders.</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a:extLst>
            <a:ext uri="{FF2B5EF4-FFF2-40B4-BE49-F238E27FC236}">
              <a16:creationId xmlns:a16="http://schemas.microsoft.com/office/drawing/2014/main" id="{5D65E787-361E-C5E9-4354-C06768C6B2C5}"/>
            </a:ext>
          </a:extLst>
        </p:cNvPr>
        <p:cNvGrpSpPr/>
        <p:nvPr/>
      </p:nvGrpSpPr>
      <p:grpSpPr>
        <a:xfrm>
          <a:off x="0" y="0"/>
          <a:ext cx="0" cy="0"/>
          <a:chOff x="0" y="0"/>
          <a:chExt cx="0" cy="0"/>
        </a:xfrm>
      </p:grpSpPr>
      <p:sp>
        <p:nvSpPr>
          <p:cNvPr id="69" name="Google Shape;69;g3737bdc3c25_0_5:notes">
            <a:extLst>
              <a:ext uri="{FF2B5EF4-FFF2-40B4-BE49-F238E27FC236}">
                <a16:creationId xmlns:a16="http://schemas.microsoft.com/office/drawing/2014/main" id="{14A552CF-36C1-DBCB-79D9-44967E70764C}"/>
              </a:ext>
            </a:extLst>
          </p:cNvPr>
          <p:cNvSpPr>
            <a:spLocks noGrp="1" noRot="1" noChangeAspect="1"/>
          </p:cNvSpPr>
          <p:nvPr>
            <p:ph type="sldImg" idx="2"/>
          </p:nvPr>
        </p:nvSpPr>
        <p:spPr>
          <a:xfrm>
            <a:off x="422275" y="704850"/>
            <a:ext cx="6257925" cy="3519488"/>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 name="Google Shape;70;g3737bdc3c25_0_5:notes">
            <a:extLst>
              <a:ext uri="{FF2B5EF4-FFF2-40B4-BE49-F238E27FC236}">
                <a16:creationId xmlns:a16="http://schemas.microsoft.com/office/drawing/2014/main" id="{318193AC-7C74-6265-EEA6-0D374C21D0D0}"/>
              </a:ext>
            </a:extLst>
          </p:cNvPr>
          <p:cNvSpPr txBox="1">
            <a:spLocks noGrp="1"/>
          </p:cNvSpPr>
          <p:nvPr>
            <p:ph type="body" idx="1"/>
          </p:nvPr>
        </p:nvSpPr>
        <p:spPr>
          <a:xfrm>
            <a:off x="710248" y="4459526"/>
            <a:ext cx="5681980" cy="4224814"/>
          </a:xfrm>
          <a:prstGeom prst="rect">
            <a:avLst/>
          </a:prstGeom>
        </p:spPr>
        <p:txBody>
          <a:bodyPr spcFirstLastPara="1" wrap="square" lIns="94213" tIns="94213" rIns="94213" bIns="94213" anchor="t" anchorCtr="0">
            <a:noAutofit/>
          </a:bodyPr>
          <a:lstStyle/>
          <a:p>
            <a:pPr marL="0" indent="0" defTabSz="942289">
              <a:buNone/>
              <a:defRPr/>
            </a:pPr>
            <a:r>
              <a:rPr lang="en-US" dirty="0"/>
              <a:t>In this table, we see the same list of stakeholders, but this time the other columns indicate what their needs are and how this policy addresses that need.</a:t>
            </a:r>
          </a:p>
        </p:txBody>
      </p:sp>
    </p:spTree>
    <p:extLst>
      <p:ext uri="{BB962C8B-B14F-4D97-AF65-F5344CB8AC3E}">
        <p14:creationId xmlns:p14="http://schemas.microsoft.com/office/powerpoint/2010/main" val="136917245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22275" y="704850"/>
            <a:ext cx="6257925" cy="3519488"/>
          </a:xfrm>
        </p:spPr>
      </p:sp>
      <p:sp>
        <p:nvSpPr>
          <p:cNvPr id="3" name="Notes Placeholder 2"/>
          <p:cNvSpPr>
            <a:spLocks noGrp="1"/>
          </p:cNvSpPr>
          <p:nvPr>
            <p:ph type="body" idx="1"/>
          </p:nvPr>
        </p:nvSpPr>
        <p:spPr/>
        <p:txBody>
          <a:bodyPr/>
          <a:lstStyle/>
          <a:p>
            <a:pPr marL="0" indent="0">
              <a:lnSpc>
                <a:spcPct val="200000"/>
              </a:lnSpc>
              <a:buNone/>
            </a:pPr>
            <a:endParaRPr lang="en-US" dirty="0">
              <a:latin typeface="Times New Roman" panose="02020603050405020304" pitchFamily="18" charset="0"/>
              <a:ea typeface="Times New Roman" panose="02020603050405020304" pitchFamily="18" charset="0"/>
            </a:endParaRPr>
          </a:p>
          <a:p>
            <a:pPr marL="163592" indent="0">
              <a:buNone/>
            </a:pPr>
            <a:endParaRPr lang="en-US" dirty="0"/>
          </a:p>
        </p:txBody>
      </p:sp>
    </p:spTree>
    <p:extLst>
      <p:ext uri="{BB962C8B-B14F-4D97-AF65-F5344CB8AC3E}">
        <p14:creationId xmlns:p14="http://schemas.microsoft.com/office/powerpoint/2010/main" val="93622202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58750" indent="0">
              <a:buNone/>
            </a:pPr>
            <a:r>
              <a:rPr lang="en-US" dirty="0"/>
              <a:t>The policy is designed to rollout in 7 iterative phases over 1 academic year.</a:t>
            </a:r>
          </a:p>
          <a:p>
            <a:pPr marL="158750" indent="0">
              <a:buNone/>
            </a:pPr>
            <a:r>
              <a:rPr lang="en-US" dirty="0"/>
              <a:t>Each phase is iterative to allow each stakeholder involved to feel as comfortable as possible before proceeding to the next phase.</a:t>
            </a:r>
          </a:p>
          <a:p>
            <a:pPr marL="158750" indent="0">
              <a:buNone/>
            </a:pPr>
            <a:r>
              <a:rPr lang="en-US" dirty="0"/>
              <a:t>For each phase, there is a suggested “Owner” who is responsible for that phase and guiding it to the next phase</a:t>
            </a:r>
          </a:p>
          <a:p>
            <a:pPr marL="158750" indent="0">
              <a:buNone/>
            </a:pPr>
            <a:r>
              <a:rPr lang="en-US" dirty="0"/>
              <a:t>During each phase a goal is stated and a deliverable is suggested.</a:t>
            </a:r>
          </a:p>
          <a:p>
            <a:pPr marL="158750" indent="0">
              <a:buNone/>
            </a:pPr>
            <a:r>
              <a:rPr lang="en-US" dirty="0"/>
              <a:t>At the point that the deliverable has been created, a decision on whether to proceed to the next phase is made.</a:t>
            </a:r>
          </a:p>
          <a:p>
            <a:pPr marL="0" indent="0" defTabSz="942289">
              <a:buNone/>
              <a:defRPr/>
            </a:pPr>
            <a:endParaRPr lang="en-US" dirty="0">
              <a:ea typeface="Times New Roman" panose="02020603050405020304" pitchFamily="18" charset="0"/>
            </a:endParaRPr>
          </a:p>
          <a:p>
            <a:pPr marL="0" indent="0" defTabSz="942289">
              <a:buNone/>
              <a:defRPr/>
            </a:pPr>
            <a:endParaRPr lang="en-US" dirty="0">
              <a:ea typeface="Times New Roman" panose="02020603050405020304" pitchFamily="18" charset="0"/>
            </a:endParaRPr>
          </a:p>
          <a:p>
            <a:pPr marL="0" indent="0" defTabSz="942289">
              <a:buNone/>
              <a:defRPr/>
            </a:pPr>
            <a:r>
              <a:rPr lang="en-US" dirty="0">
                <a:ea typeface="Times New Roman" panose="02020603050405020304" pitchFamily="18" charset="0"/>
              </a:rPr>
              <a:t>Each phase of the timeline is iterative</a:t>
            </a:r>
          </a:p>
          <a:p>
            <a:pPr marL="0" indent="0" defTabSz="942289">
              <a:buNone/>
              <a:defRPr/>
            </a:pPr>
            <a:r>
              <a:rPr lang="en-US" dirty="0">
                <a:ea typeface="Times New Roman" panose="02020603050405020304" pitchFamily="18" charset="0"/>
              </a:rPr>
              <a:t>The duration is a suggestion (although the total time should be 1 academic year - preferably started at the beginning of the year)</a:t>
            </a:r>
          </a:p>
          <a:p>
            <a:pPr marL="0" indent="0" defTabSz="942289">
              <a:buNone/>
              <a:defRPr/>
            </a:pPr>
            <a:r>
              <a:rPr lang="en-US" dirty="0">
                <a:ea typeface="Times New Roman" panose="02020603050405020304" pitchFamily="18" charset="0"/>
              </a:rPr>
              <a:t>The main goal describes the desired outcomes</a:t>
            </a:r>
          </a:p>
          <a:p>
            <a:pPr marL="0" indent="0" defTabSz="942289">
              <a:buNone/>
              <a:defRPr/>
            </a:pPr>
            <a:r>
              <a:rPr lang="en-US" dirty="0">
                <a:ea typeface="Times New Roman" panose="02020603050405020304" pitchFamily="18" charset="0"/>
              </a:rPr>
              <a:t>The deliverable contains suggested items that should be a result of the particular phase</a:t>
            </a:r>
          </a:p>
          <a:p>
            <a:pPr marL="0" indent="0" defTabSz="942289">
              <a:buNone/>
              <a:defRPr/>
            </a:pPr>
            <a:r>
              <a:rPr lang="en-US" dirty="0">
                <a:ea typeface="Times New Roman" panose="02020603050405020304" pitchFamily="18" charset="0"/>
              </a:rPr>
              <a:t>The decision point section indicates both a decision that needs to be made in order to continue to the next point, and an action that needs to be taken before moving to the next phase.</a:t>
            </a:r>
          </a:p>
          <a:p>
            <a:pPr marL="158750" indent="0">
              <a:buNone/>
            </a:pPr>
            <a:endParaRPr lang="en-US" dirty="0"/>
          </a:p>
        </p:txBody>
      </p:sp>
    </p:spTree>
    <p:extLst>
      <p:ext uri="{BB962C8B-B14F-4D97-AF65-F5344CB8AC3E}">
        <p14:creationId xmlns:p14="http://schemas.microsoft.com/office/powerpoint/2010/main" val="367849520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g3737bdc3c25_0_15:notes"/>
          <p:cNvSpPr>
            <a:spLocks noGrp="1" noRot="1" noChangeAspect="1"/>
          </p:cNvSpPr>
          <p:nvPr>
            <p:ph type="sldImg" idx="2"/>
          </p:nvPr>
        </p:nvSpPr>
        <p:spPr>
          <a:xfrm>
            <a:off x="422275" y="704850"/>
            <a:ext cx="6257925" cy="3519488"/>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 name="Google Shape;76;g3737bdc3c25_0_15:notes"/>
          <p:cNvSpPr txBox="1">
            <a:spLocks noGrp="1"/>
          </p:cNvSpPr>
          <p:nvPr>
            <p:ph type="body" idx="1"/>
          </p:nvPr>
        </p:nvSpPr>
        <p:spPr>
          <a:xfrm>
            <a:off x="710248" y="4459526"/>
            <a:ext cx="5681980" cy="4224814"/>
          </a:xfrm>
          <a:prstGeom prst="rect">
            <a:avLst/>
          </a:prstGeom>
        </p:spPr>
        <p:txBody>
          <a:bodyPr spcFirstLastPara="1" wrap="square" lIns="94213" tIns="94213" rIns="94213" bIns="94213" anchor="t" anchorCtr="0">
            <a:noAutofit/>
          </a:bodyPr>
          <a:lstStyle/>
          <a:p>
            <a:pPr marL="171450" indent="-171450" defTabSz="942289">
              <a:buClrTx/>
              <a:buSzTx/>
              <a:defRPr/>
            </a:pPr>
            <a:r>
              <a:rPr lang="en-US" dirty="0">
                <a:latin typeface="Times New Roman" panose="02020603050405020304" pitchFamily="18" charset="0"/>
                <a:ea typeface="Times New Roman" panose="02020603050405020304" pitchFamily="18" charset="0"/>
              </a:rPr>
              <a:t>Schools and universities must avoid relying </a:t>
            </a:r>
            <a:r>
              <a:rPr lang="en-US" b="1" dirty="0">
                <a:latin typeface="Times New Roman" panose="02020603050405020304" pitchFamily="18" charset="0"/>
                <a:ea typeface="Times New Roman" panose="02020603050405020304" pitchFamily="18" charset="0"/>
              </a:rPr>
              <a:t>solely</a:t>
            </a:r>
            <a:r>
              <a:rPr lang="en-US" dirty="0">
                <a:latin typeface="Times New Roman" panose="02020603050405020304" pitchFamily="18" charset="0"/>
                <a:ea typeface="Times New Roman" panose="02020603050405020304" pitchFamily="18" charset="0"/>
              </a:rPr>
              <a:t> on AI detection tools for high-stakes decisions involving ELLs, such as academic integrity violations, admissions, or grading.</a:t>
            </a:r>
          </a:p>
          <a:p>
            <a:pPr marL="171450" indent="-171450" defTabSz="942289">
              <a:buClrTx/>
              <a:buSzTx/>
              <a:defRPr/>
            </a:pPr>
            <a:endParaRPr lang="en-US" b="1" u="sng" dirty="0">
              <a:latin typeface="Times New Roman" panose="02020603050405020304" pitchFamily="18" charset="0"/>
              <a:ea typeface="Times New Roman" panose="02020603050405020304" pitchFamily="18" charset="0"/>
            </a:endParaRPr>
          </a:p>
          <a:p>
            <a:pPr marL="171450" indent="-171450" defTabSz="942289">
              <a:buClrTx/>
              <a:buSzTx/>
              <a:defRPr/>
            </a:pPr>
            <a:r>
              <a:rPr lang="en-US" b="1" dirty="0">
                <a:latin typeface="Times New Roman" panose="02020603050405020304" pitchFamily="18" charset="0"/>
                <a:ea typeface="Times New Roman" panose="02020603050405020304" pitchFamily="18" charset="0"/>
              </a:rPr>
              <a:t>There need to be clear guidelines, </a:t>
            </a:r>
            <a:r>
              <a:rPr lang="en-US" dirty="0">
                <a:latin typeface="Times New Roman" panose="02020603050405020304" pitchFamily="18" charset="0"/>
                <a:ea typeface="Times New Roman" panose="02020603050405020304" pitchFamily="18" charset="0"/>
              </a:rPr>
              <a:t>including mandatory human review and appeal processes, especially when ELLs are involved.</a:t>
            </a:r>
          </a:p>
          <a:p>
            <a:pPr marL="171450" indent="-171450" defTabSz="942289">
              <a:buClrTx/>
              <a:buSzTx/>
              <a:defRPr/>
            </a:pPr>
            <a:endParaRPr lang="en-US" b="1" dirty="0">
              <a:latin typeface="Times New Roman" panose="02020603050405020304" pitchFamily="18" charset="0"/>
              <a:ea typeface="Times New Roman" panose="02020603050405020304" pitchFamily="18" charset="0"/>
            </a:endParaRPr>
          </a:p>
          <a:p>
            <a:pPr marL="171450" indent="-171450" defTabSz="942289">
              <a:buClrTx/>
              <a:buSzTx/>
              <a:defRPr/>
            </a:pPr>
            <a:r>
              <a:rPr lang="en-US" b="1" dirty="0">
                <a:latin typeface="Times New Roman" panose="02020603050405020304" pitchFamily="18" charset="0"/>
                <a:ea typeface="Times New Roman" panose="02020603050405020304" pitchFamily="18" charset="0"/>
              </a:rPr>
              <a:t>All schools and universities need to enact basic transparency practices, such as </a:t>
            </a:r>
            <a:r>
              <a:rPr lang="en-US" dirty="0">
                <a:latin typeface="Times New Roman" panose="02020603050405020304" pitchFamily="18" charset="0"/>
                <a:ea typeface="Times New Roman" panose="02020603050405020304" pitchFamily="18" charset="0"/>
              </a:rPr>
              <a:t>informing students when AI detection is used and providing information about error rates and known biases.</a:t>
            </a:r>
          </a:p>
          <a:p>
            <a:pPr marL="171450" indent="-171450" defTabSz="942289">
              <a:buClrTx/>
              <a:buSzTx/>
              <a:defRPr/>
            </a:pPr>
            <a:endParaRPr lang="en-US" dirty="0">
              <a:latin typeface="Times New Roman" panose="02020603050405020304" pitchFamily="18" charset="0"/>
              <a:ea typeface="Times New Roman" panose="02020603050405020304" pitchFamily="18" charset="0"/>
            </a:endParaRPr>
          </a:p>
          <a:p>
            <a:pPr marL="171450" indent="-171450" defTabSz="942289">
              <a:buClrTx/>
              <a:buSzTx/>
              <a:defRPr/>
            </a:pPr>
            <a:r>
              <a:rPr lang="en-US" dirty="0">
                <a:latin typeface="Times New Roman" panose="02020603050405020304" pitchFamily="18" charset="0"/>
                <a:ea typeface="Times New Roman" panose="02020603050405020304" pitchFamily="18" charset="0"/>
              </a:rPr>
              <a:t>This policy calls for </a:t>
            </a:r>
            <a:r>
              <a:rPr lang="en-US" b="1" dirty="0">
                <a:latin typeface="Times New Roman" panose="02020603050405020304" pitchFamily="18" charset="0"/>
                <a:ea typeface="Times New Roman" panose="02020603050405020304" pitchFamily="18" charset="0"/>
              </a:rPr>
              <a:t>civil rights protections for ELLs</a:t>
            </a:r>
            <a:r>
              <a:rPr lang="en-US" dirty="0">
                <a:latin typeface="Times New Roman" panose="02020603050405020304" pitchFamily="18" charset="0"/>
                <a:ea typeface="Times New Roman" panose="02020603050405020304" pitchFamily="18" charset="0"/>
              </a:rPr>
              <a:t>, such as prohibiting denial of enrollment, visa revocations, or punitive measures based solely on AI detector results. </a:t>
            </a:r>
          </a:p>
          <a:p>
            <a:pPr marL="0" indent="0" defTabSz="942289">
              <a:buClrTx/>
              <a:buSzTx/>
              <a:buNone/>
              <a:defRPr/>
            </a:pPr>
            <a:endParaRPr lang="en-US" dirty="0">
              <a:latin typeface="Times New Roman" panose="02020603050405020304" pitchFamily="18" charset="0"/>
              <a:ea typeface="Times New Roman" panose="02020603050405020304" pitchFamily="18" charset="0"/>
            </a:endParaRPr>
          </a:p>
          <a:p>
            <a:pPr marL="0" indent="0" defTabSz="942289">
              <a:buClrTx/>
              <a:buSzTx/>
              <a:buNone/>
              <a:defRPr/>
            </a:pPr>
            <a:endParaRPr lang="en-US" dirty="0">
              <a:latin typeface="Times New Roman" panose="02020603050405020304" pitchFamily="18" charset="0"/>
              <a:ea typeface="Times New Roman" panose="02020603050405020304" pitchFamily="18" charset="0"/>
            </a:endParaRPr>
          </a:p>
          <a:p>
            <a:pPr marL="0" indent="0" defTabSz="942289">
              <a:buClrTx/>
              <a:buSzTx/>
              <a:buNone/>
              <a:defRPr/>
            </a:pPr>
            <a:endParaRPr lang="en-US" dirty="0">
              <a:latin typeface="Times New Roman" panose="02020603050405020304" pitchFamily="18" charset="0"/>
              <a:ea typeface="Times New Roman" panose="02020603050405020304" pitchFamily="18" charset="0"/>
            </a:endParaRPr>
          </a:p>
          <a:p>
            <a:pPr marL="0" indent="0" defTabSz="942289">
              <a:buClrTx/>
              <a:buSzTx/>
              <a:buNone/>
              <a:defRPr/>
            </a:pPr>
            <a:endParaRPr lang="en-US" dirty="0">
              <a:latin typeface="Times New Roman" panose="02020603050405020304" pitchFamily="18" charset="0"/>
              <a:ea typeface="Times New Roman" panose="02020603050405020304" pitchFamily="18" charset="0"/>
            </a:endParaRPr>
          </a:p>
          <a:p>
            <a:pPr marL="0" indent="0" defTabSz="942289">
              <a:buClrTx/>
              <a:buSzTx/>
              <a:buNone/>
              <a:defRPr/>
            </a:pPr>
            <a:r>
              <a:rPr lang="en-US" dirty="0">
                <a:latin typeface="Times New Roman" panose="02020603050405020304" pitchFamily="18" charset="0"/>
                <a:ea typeface="Times New Roman" panose="02020603050405020304" pitchFamily="18" charset="0"/>
              </a:rPr>
              <a:t>Schools and universities must avoid relying </a:t>
            </a:r>
            <a:r>
              <a:rPr lang="en-US" b="1" dirty="0">
                <a:latin typeface="Times New Roman" panose="02020603050405020304" pitchFamily="18" charset="0"/>
                <a:ea typeface="Times New Roman" panose="02020603050405020304" pitchFamily="18" charset="0"/>
              </a:rPr>
              <a:t>solely</a:t>
            </a:r>
            <a:r>
              <a:rPr lang="en-US" dirty="0">
                <a:latin typeface="Times New Roman" panose="02020603050405020304" pitchFamily="18" charset="0"/>
                <a:ea typeface="Times New Roman" panose="02020603050405020304" pitchFamily="18" charset="0"/>
              </a:rPr>
              <a:t> on AI detection tools for high-stakes decisions involving ELLs, such as academic integrity violations, admissions, or grading. To prevent confusion about AI detector use, institutions will implement </a:t>
            </a:r>
            <a:r>
              <a:rPr lang="en-US" b="1" dirty="0">
                <a:latin typeface="Times New Roman" panose="02020603050405020304" pitchFamily="18" charset="0"/>
                <a:ea typeface="Times New Roman" panose="02020603050405020304" pitchFamily="18" charset="0"/>
              </a:rPr>
              <a:t>clear guidelines</a:t>
            </a:r>
            <a:r>
              <a:rPr lang="en-US" dirty="0">
                <a:latin typeface="Times New Roman" panose="02020603050405020304" pitchFamily="18" charset="0"/>
                <a:ea typeface="Times New Roman" panose="02020603050405020304" pitchFamily="18" charset="0"/>
              </a:rPr>
              <a:t>, including mandatory human review and appeal processes, especially when ELLs are involved. Additionally, basic </a:t>
            </a:r>
            <a:r>
              <a:rPr lang="en-US" b="1" dirty="0">
                <a:latin typeface="Times New Roman" panose="02020603050405020304" pitchFamily="18" charset="0"/>
                <a:ea typeface="Times New Roman" panose="02020603050405020304" pitchFamily="18" charset="0"/>
              </a:rPr>
              <a:t>transparency</a:t>
            </a:r>
            <a:r>
              <a:rPr lang="en-US" dirty="0">
                <a:latin typeface="Times New Roman" panose="02020603050405020304" pitchFamily="18" charset="0"/>
                <a:ea typeface="Times New Roman" panose="02020603050405020304" pitchFamily="18" charset="0"/>
              </a:rPr>
              <a:t> practices will be required, such as informing students when AI detection is used and providing information about error rates and known biases. This policy calls for </a:t>
            </a:r>
            <a:r>
              <a:rPr lang="en-US" b="1" dirty="0">
                <a:latin typeface="Times New Roman" panose="02020603050405020304" pitchFamily="18" charset="0"/>
                <a:ea typeface="Times New Roman" panose="02020603050405020304" pitchFamily="18" charset="0"/>
              </a:rPr>
              <a:t>civil rights protections for ELLs</a:t>
            </a:r>
            <a:r>
              <a:rPr lang="en-US" dirty="0">
                <a:latin typeface="Times New Roman" panose="02020603050405020304" pitchFamily="18" charset="0"/>
                <a:ea typeface="Times New Roman" panose="02020603050405020304" pitchFamily="18" charset="0"/>
              </a:rPr>
              <a:t>, such as prohibiting denial of enrollment, visa revocations, or punitive measures based solely on AI detector results. All educators involved will be encouraged to evaluate student work holistically and offer culturally and linguistically responsive support rather than punitive measures when suspicious of AI use.  </a:t>
            </a:r>
          </a:p>
          <a:p>
            <a:pPr marL="0" indent="0" defTabSz="942289">
              <a:buClrTx/>
              <a:buSzTx/>
              <a:buNone/>
              <a:defRPr/>
            </a:pPr>
            <a:endParaRPr lang="en-US" b="1" u="sng" dirty="0">
              <a:latin typeface="Times New Roman" panose="02020603050405020304" pitchFamily="18" charset="0"/>
              <a:ea typeface="Times New Roman" panose="02020603050405020304" pitchFamily="18" charset="0"/>
            </a:endParaRPr>
          </a:p>
          <a:p>
            <a:pPr marL="0" indent="0" defTabSz="942289">
              <a:buClrTx/>
              <a:buSzTx/>
              <a:buNone/>
              <a:defRPr/>
            </a:pPr>
            <a:r>
              <a:rPr lang="en-US" b="1" u="sng" dirty="0">
                <a:latin typeface="Times New Roman" panose="02020603050405020304" pitchFamily="18" charset="0"/>
                <a:ea typeface="Times New Roman" panose="02020603050405020304" pitchFamily="18" charset="0"/>
              </a:rPr>
              <a:t>Level</a:t>
            </a:r>
            <a:r>
              <a:rPr lang="en-US" dirty="0">
                <a:latin typeface="Times New Roman" panose="02020603050405020304" pitchFamily="18" charset="0"/>
                <a:ea typeface="Times New Roman" panose="02020603050405020304" pitchFamily="18" charset="0"/>
              </a:rPr>
              <a:t>:</a:t>
            </a:r>
          </a:p>
          <a:p>
            <a:r>
              <a:rPr lang="en-US" dirty="0"/>
              <a:t>To be the most flexible, engage all stakeholders, and give the policy the best chance at adoption, it is best to implement this policy separately at each institution. Only in this way can each separate institution mold the policy to best fit themselves. This would also allow each institution to define whichever ethical issues are involved at the institution, but also to address any possible legal issues.</a:t>
            </a:r>
          </a:p>
          <a:p>
            <a:r>
              <a:rPr lang="en-US" dirty="0"/>
              <a:t>Any issues regarding Civil Rights would be the same across institutions, but they may be implemented slightly differently.</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g3737bdc3c25_0_20:notes"/>
          <p:cNvSpPr>
            <a:spLocks noGrp="1" noRot="1" noChangeAspect="1"/>
          </p:cNvSpPr>
          <p:nvPr>
            <p:ph type="sldImg" idx="2"/>
          </p:nvPr>
        </p:nvSpPr>
        <p:spPr>
          <a:xfrm>
            <a:off x="422275" y="704850"/>
            <a:ext cx="6257925" cy="3519488"/>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 name="Google Shape;82;g3737bdc3c25_0_20:notes"/>
          <p:cNvSpPr txBox="1">
            <a:spLocks noGrp="1"/>
          </p:cNvSpPr>
          <p:nvPr>
            <p:ph type="body" idx="1"/>
          </p:nvPr>
        </p:nvSpPr>
        <p:spPr>
          <a:xfrm>
            <a:off x="710248" y="4459526"/>
            <a:ext cx="5681980" cy="4224814"/>
          </a:xfrm>
          <a:prstGeom prst="rect">
            <a:avLst/>
          </a:prstGeom>
        </p:spPr>
        <p:txBody>
          <a:bodyPr spcFirstLastPara="1" wrap="square" lIns="94213" tIns="94213" rIns="94213" bIns="94213" anchor="t" anchorCtr="0">
            <a:noAutofit/>
          </a:bodyPr>
          <a:lstStyle/>
          <a:p>
            <a:pPr marL="0" indent="0">
              <a:buNone/>
            </a:pPr>
            <a:endParaRPr lang="en-US" b="0" u="none" dirty="0">
              <a:effectLst/>
            </a:endParaRPr>
          </a:p>
          <a:p>
            <a:pPr marL="0" indent="0">
              <a:buNone/>
            </a:pPr>
            <a:r>
              <a:rPr lang="en-US" b="0" u="none" dirty="0">
                <a:effectLst/>
              </a:rPr>
              <a:t>Potential Critiques and responses</a:t>
            </a:r>
          </a:p>
          <a:p>
            <a:pPr marL="0" indent="0">
              <a:buNone/>
            </a:pPr>
            <a:endParaRPr lang="en-US" b="0" u="none" dirty="0">
              <a:effectLst/>
            </a:endParaRPr>
          </a:p>
          <a:p>
            <a:pPr marL="0" indent="0">
              <a:buNone/>
            </a:pPr>
            <a:r>
              <a:rPr lang="en-US" b="0" u="none" dirty="0">
                <a:effectLst/>
              </a:rPr>
              <a:t>An initial increase in faculty workload may be addressed by establishing a pilot for human review, providing training modules, and making compensation available where possible. If there is a reintroduction of bias, one way to alleviate some of this is by required bias training and the use of standardized rubrics. The impact on visa-status for international students may not change. This will be mitigated by having a transparent appeals process and having legal counsel involved. Although there may be a question as to whether this is better than purchasing a technical solution, a cost benefit analysis should assuage any fears. There may be a risk of over reliance on these detectors, one needs to keep in mind that these detector scores are just one of many indicators.</a:t>
            </a:r>
          </a:p>
          <a:p>
            <a:pPr marL="0" indent="0">
              <a:buNone/>
            </a:pPr>
            <a:endParaRPr lang="en-US" b="0" u="none" dirty="0">
              <a:effectLst/>
            </a:endParaRPr>
          </a:p>
          <a:p>
            <a:pPr marL="0" indent="0">
              <a:buNone/>
            </a:pPr>
            <a:endParaRPr lang="en-US" b="0" u="none" dirty="0">
              <a:effectLst/>
            </a:endParaRPr>
          </a:p>
          <a:p>
            <a:pPr marL="0" indent="0">
              <a:buNone/>
            </a:pPr>
            <a:endParaRPr lang="en-US" b="1" u="sng" dirty="0">
              <a:effectLst/>
            </a:endParaRPr>
          </a:p>
          <a:p>
            <a:pPr marL="0" indent="0">
              <a:buNone/>
            </a:pPr>
            <a:r>
              <a:rPr lang="en-US" b="1" u="sng" dirty="0">
                <a:effectLst/>
              </a:rPr>
              <a:t>Potential Objection/critique			Response</a:t>
            </a:r>
          </a:p>
          <a:p>
            <a:pPr marL="0" indent="0">
              <a:buNone/>
            </a:pPr>
            <a:r>
              <a:rPr lang="en-US" b="1" dirty="0">
                <a:effectLst/>
              </a:rPr>
              <a:t>Increased faculty workload			</a:t>
            </a:r>
            <a:r>
              <a:rPr lang="en-US" dirty="0">
                <a:effectLst/>
              </a:rPr>
              <a:t>Pilot a </a:t>
            </a:r>
            <a:r>
              <a:rPr lang="en-US" b="1" dirty="0">
                <a:effectLst/>
              </a:rPr>
              <a:t>human‑review workflow</a:t>
            </a:r>
            <a:r>
              <a:rPr lang="en-US" dirty="0">
                <a:effectLst/>
              </a:rPr>
              <a:t> that limits reviews to flagged cases; provide </a:t>
            </a:r>
            <a:r>
              <a:rPr lang="en-US" b="1" dirty="0">
                <a:effectLst/>
              </a:rPr>
              <a:t>training modules</a:t>
            </a:r>
            <a:r>
              <a:rPr lang="en-US" dirty="0">
                <a:effectLst/>
              </a:rPr>
              <a:t> and </a:t>
            </a:r>
            <a:r>
              <a:rPr lang="en-US" b="1" dirty="0">
                <a:effectLst/>
              </a:rPr>
              <a:t>compensation</a:t>
            </a:r>
            <a:r>
              <a:rPr lang="en-US" dirty="0">
                <a:effectLst/>
              </a:rPr>
              <a:t> where appropriate.</a:t>
            </a:r>
          </a:p>
          <a:p>
            <a:pPr marL="0" indent="0">
              <a:buNone/>
            </a:pPr>
            <a:r>
              <a:rPr lang="en-US" b="1" dirty="0">
                <a:effectLst/>
              </a:rPr>
              <a:t>Potential re‑introduction of bias via human reviewers	</a:t>
            </a:r>
            <a:r>
              <a:rPr lang="en-US" dirty="0">
                <a:effectLst/>
              </a:rPr>
              <a:t>Implement </a:t>
            </a:r>
            <a:r>
              <a:rPr lang="en-US" b="1" dirty="0">
                <a:effectLst/>
              </a:rPr>
              <a:t>bias‑training</a:t>
            </a:r>
            <a:r>
              <a:rPr lang="en-US" dirty="0">
                <a:effectLst/>
              </a:rPr>
              <a:t> for reviewers; use </a:t>
            </a:r>
            <a:r>
              <a:rPr lang="en-US" b="1" dirty="0">
                <a:effectLst/>
              </a:rPr>
              <a:t>standardized rubrics</a:t>
            </a:r>
            <a:r>
              <a:rPr lang="en-US" dirty="0">
                <a:effectLst/>
              </a:rPr>
              <a:t> to guide decisions.</a:t>
            </a:r>
          </a:p>
          <a:p>
            <a:pPr marL="0" indent="0">
              <a:buNone/>
            </a:pPr>
            <a:r>
              <a:rPr lang="en-US" b="1" dirty="0">
                <a:effectLst/>
              </a:rPr>
              <a:t>Technical feasibility / cost			</a:t>
            </a:r>
            <a:r>
              <a:rPr lang="en-US" dirty="0">
                <a:effectLst/>
              </a:rPr>
              <a:t>Conduct a </a:t>
            </a:r>
            <a:r>
              <a:rPr lang="en-US" b="1" dirty="0">
                <a:effectLst/>
              </a:rPr>
              <a:t>cost‑benefit analysis</a:t>
            </a:r>
            <a:r>
              <a:rPr lang="en-US" dirty="0">
                <a:effectLst/>
              </a:rPr>
              <a:t> (e.g., Pangram Labs $5 /student/</a:t>
            </a:r>
            <a:r>
              <a:rPr lang="en-US" dirty="0" err="1">
                <a:effectLst/>
              </a:rPr>
              <a:t>yr</a:t>
            </a:r>
            <a:r>
              <a:rPr lang="en-US" dirty="0">
                <a:effectLst/>
              </a:rPr>
              <a:t> vs. potential legal exposure).</a:t>
            </a:r>
          </a:p>
          <a:p>
            <a:pPr marL="0" indent="0">
              <a:buNone/>
            </a:pPr>
            <a:r>
              <a:rPr lang="en-US" b="1" dirty="0">
                <a:effectLst/>
              </a:rPr>
              <a:t>Impact on visa status for international students	</a:t>
            </a:r>
            <a:r>
              <a:rPr lang="en-US" dirty="0">
                <a:effectLst/>
              </a:rPr>
              <a:t>Ensure </a:t>
            </a:r>
            <a:r>
              <a:rPr lang="en-US" b="1" dirty="0">
                <a:effectLst/>
              </a:rPr>
              <a:t>transparent appeals</a:t>
            </a:r>
            <a:r>
              <a:rPr lang="en-US" dirty="0">
                <a:effectLst/>
              </a:rPr>
              <a:t> and </a:t>
            </a:r>
            <a:r>
              <a:rPr lang="en-US" b="1" dirty="0">
                <a:effectLst/>
              </a:rPr>
              <a:t>legal counsel</a:t>
            </a:r>
            <a:r>
              <a:rPr lang="en-US" dirty="0">
                <a:effectLst/>
              </a:rPr>
              <a:t> involvement before any sanction that could affect immigration status.</a:t>
            </a:r>
          </a:p>
          <a:p>
            <a:pPr marL="0" indent="0">
              <a:buNone/>
            </a:pPr>
            <a:r>
              <a:rPr lang="en-US" b="1" dirty="0">
                <a:effectLst/>
              </a:rPr>
              <a:t>Risk of over‑reliance on detectors			</a:t>
            </a:r>
            <a:r>
              <a:rPr lang="en-US" dirty="0">
                <a:effectLst/>
              </a:rPr>
              <a:t>Position detectors as </a:t>
            </a:r>
            <a:r>
              <a:rPr lang="en-US" b="1" dirty="0">
                <a:effectLst/>
              </a:rPr>
              <a:t>one indicator</a:t>
            </a:r>
            <a:r>
              <a:rPr lang="en-US" dirty="0">
                <a:effectLst/>
              </a:rPr>
              <a:t> among many (writing samples, drafts, oral defenses).</a:t>
            </a:r>
          </a:p>
          <a:p>
            <a:pPr marL="0" indent="0">
              <a:buNone/>
            </a:pPr>
            <a:endParaRPr lang="en-US" dirty="0">
              <a:effectLst/>
            </a:endParaRPr>
          </a:p>
          <a:p>
            <a:pPr marL="0" indent="0">
              <a:buNone/>
            </a:pPr>
            <a:endParaRPr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sv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2.sv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2.sv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2.sv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2.sv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2.sv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2.sv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2.sv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3.xml"/><Relationship Id="rId4" Type="http://schemas.openxmlformats.org/officeDocument/2006/relationships/image" Target="../media/image2.sv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3.xml"/><Relationship Id="rId4" Type="http://schemas.openxmlformats.org/officeDocument/2006/relationships/image" Target="../media/image2.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a:spLocks noGrp="1"/>
          </p:cNvSpPr>
          <p:nvPr>
            <p:ph type="ctrTitle"/>
          </p:nvPr>
        </p:nvSpPr>
        <p:spPr>
          <a:xfrm>
            <a:off x="311700" y="436536"/>
            <a:ext cx="85206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r>
              <a:rPr lang="en-US" dirty="0"/>
              <a:t>AI Detectors use with English Language Learners</a:t>
            </a:r>
            <a:endParaRPr dirty="0"/>
          </a:p>
        </p:txBody>
      </p:sp>
      <p:sp>
        <p:nvSpPr>
          <p:cNvPr id="55" name="Google Shape;55;p13"/>
          <p:cNvSpPr txBox="1">
            <a:spLocks noGrp="1"/>
          </p:cNvSpPr>
          <p:nvPr>
            <p:ph type="subTitle" idx="1"/>
          </p:nvPr>
        </p:nvSpPr>
        <p:spPr>
          <a:xfrm>
            <a:off x="3249093" y="3860381"/>
            <a:ext cx="2645813" cy="792600"/>
          </a:xfrm>
          <a:prstGeom prst="rect">
            <a:avLst/>
          </a:prstGeom>
        </p:spPr>
        <p:txBody>
          <a:bodyPr spcFirstLastPara="1" wrap="square" lIns="91425" tIns="91425" rIns="91425" bIns="91425" anchor="t" anchorCtr="0">
            <a:normAutofit fontScale="55000" lnSpcReduction="20000"/>
          </a:bodyPr>
          <a:lstStyle/>
          <a:p>
            <a:pPr marL="0" lvl="0" indent="0" algn="ctr" rtl="0">
              <a:spcBef>
                <a:spcPts val="0"/>
              </a:spcBef>
              <a:spcAft>
                <a:spcPts val="0"/>
              </a:spcAft>
              <a:buNone/>
            </a:pPr>
            <a:r>
              <a:rPr lang="en-US" dirty="0"/>
              <a:t>Thomas Zucker-Scharff</a:t>
            </a:r>
            <a:endParaRPr dirty="0"/>
          </a:p>
          <a:p>
            <a:pPr marL="0" lvl="0" indent="0" algn="ctr" rtl="0">
              <a:spcBef>
                <a:spcPts val="0"/>
              </a:spcBef>
              <a:spcAft>
                <a:spcPts val="0"/>
              </a:spcAft>
              <a:buNone/>
            </a:pPr>
            <a:r>
              <a:rPr lang="en" dirty="0"/>
              <a:t>OMDS</a:t>
            </a:r>
            <a:endParaRPr dirty="0"/>
          </a:p>
          <a:p>
            <a:pPr marL="0" lvl="0" indent="0" algn="ctr" rtl="0">
              <a:spcBef>
                <a:spcPts val="0"/>
              </a:spcBef>
              <a:spcAft>
                <a:spcPts val="0"/>
              </a:spcAft>
              <a:buNone/>
            </a:pPr>
            <a:r>
              <a:rPr lang="en" dirty="0"/>
              <a:t>Module 5 / CDSDX 701</a:t>
            </a:r>
            <a:endParaRPr dirty="0"/>
          </a:p>
        </p:txBody>
      </p:sp>
      <p:sp>
        <p:nvSpPr>
          <p:cNvPr id="3" name="TextBox 2">
            <a:extLst>
              <a:ext uri="{FF2B5EF4-FFF2-40B4-BE49-F238E27FC236}">
                <a16:creationId xmlns:a16="http://schemas.microsoft.com/office/drawing/2014/main" id="{9200C5CD-F0A7-34A0-F762-0B0CC5981E7B}"/>
              </a:ext>
            </a:extLst>
          </p:cNvPr>
          <p:cNvSpPr txBox="1"/>
          <p:nvPr/>
        </p:nvSpPr>
        <p:spPr>
          <a:xfrm>
            <a:off x="725434" y="2824255"/>
            <a:ext cx="7693132" cy="461665"/>
          </a:xfrm>
          <a:prstGeom prst="rect">
            <a:avLst/>
          </a:prstGeom>
          <a:noFill/>
        </p:spPr>
        <p:txBody>
          <a:bodyPr wrap="none" rtlCol="0">
            <a:spAutoFit/>
          </a:bodyPr>
          <a:lstStyle/>
          <a:p>
            <a:r>
              <a:rPr lang="en-US" sz="2400" b="1" dirty="0"/>
              <a:t>The General AI-Detector Assistance (GAIDA) Policy</a:t>
            </a:r>
          </a:p>
        </p:txBody>
      </p:sp>
      <p:pic>
        <p:nvPicPr>
          <p:cNvPr id="32" name="Camera 31">
            <a:extLst>
              <a:ext uri="{FF2B5EF4-FFF2-40B4-BE49-F238E27FC236}">
                <a16:creationId xmlns:a16="http://schemas.microsoft.com/office/drawing/2014/main" id="{F0FF0236-FD9A-DC91-CABD-24D416CCA7B6}"/>
              </a:ext>
            </a:extLst>
          </p:cNvPr>
          <p:cNvPicPr>
            <a:picLocks noChangeAspect="1"/>
            <a:extLst>
              <a:ext uri="{51228E76-BA90-4043-B771-695A4F85340A}">
                <alf:liveFeedProps xmlns:alf="http://schemas.microsoft.com/office/drawing/2021/livefeed"/>
              </a:ext>
            </a:extLst>
          </p:cNvPicPr>
          <p:nvPr/>
        </p:nvPicPr>
        <p:blipFill>
          <a:blip r:embed="rId3">
            <a:extLst>
              <a:ext uri="{96DAC541-7B7A-43D3-8B79-37D633B846F1}">
                <asvg:svgBlip xmlns:asvg="http://schemas.microsoft.com/office/drawing/2016/SVG/main" r:embed="rId4"/>
              </a:ext>
            </a:extLst>
          </a:blip>
          <a:stretch>
            <a:fillRect/>
          </a:stretch>
        </p:blipFill>
        <p:spPr>
          <a:xfrm>
            <a:off x="7792926" y="3792426"/>
            <a:ext cx="1289351" cy="1289351"/>
          </a:xfrm>
          <a:prstGeom prst="ellipse">
            <a:avLst/>
          </a:prstGeom>
          <a:ln>
            <a:noFill/>
          </a:ln>
          <a:effectLst>
            <a:softEdge rad="127000"/>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Google Shape;60;p1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t>What is the problem?</a:t>
            </a:r>
            <a:endParaRPr dirty="0"/>
          </a:p>
        </p:txBody>
      </p:sp>
      <p:sp>
        <p:nvSpPr>
          <p:cNvPr id="61" name="Google Shape;61;p14"/>
          <p:cNvSpPr txBox="1">
            <a:spLocks noGrp="1"/>
          </p:cNvSpPr>
          <p:nvPr>
            <p:ph type="body" idx="1"/>
          </p:nvPr>
        </p:nvSpPr>
        <p:spPr>
          <a:xfrm>
            <a:off x="311700" y="1759671"/>
            <a:ext cx="8520600" cy="3151232"/>
          </a:xfrm>
          <a:prstGeom prst="rect">
            <a:avLst/>
          </a:prstGeom>
        </p:spPr>
        <p:txBody>
          <a:bodyPr spcFirstLastPara="1" wrap="square" lIns="91425" tIns="91425" rIns="91425" bIns="91425" anchor="t" anchorCtr="0">
            <a:normAutofit/>
          </a:bodyPr>
          <a:lstStyle/>
          <a:p>
            <a:r>
              <a:rPr lang="en" dirty="0"/>
              <a:t>Currently, this is preventing equal treatment for ELL unless schools completely prohibit the use of AI-detectors. In turn, Title IV of the civil rights act has been increasingly put into play.</a:t>
            </a:r>
          </a:p>
          <a:p>
            <a:r>
              <a:rPr lang="en-US" dirty="0"/>
              <a:t>This policy will affect those students, their instructors, the administrators who oversee them, education agencies, and the vendors who create the detectors.</a:t>
            </a:r>
            <a:endParaRPr dirty="0"/>
          </a:p>
          <a:p>
            <a:pPr marL="457200" lvl="0" indent="-342900" algn="l" rtl="0">
              <a:spcBef>
                <a:spcPts val="0"/>
              </a:spcBef>
              <a:spcAft>
                <a:spcPts val="0"/>
              </a:spcAft>
              <a:buSzPts val="1800"/>
              <a:buChar char="●"/>
            </a:pPr>
            <a:endParaRPr lang="en" i="1" dirty="0"/>
          </a:p>
          <a:p>
            <a:pPr marL="114300" lvl="0" indent="0" algn="l" rtl="0">
              <a:spcBef>
                <a:spcPts val="0"/>
              </a:spcBef>
              <a:spcAft>
                <a:spcPts val="0"/>
              </a:spcAft>
              <a:buSzPts val="1800"/>
              <a:buNone/>
            </a:pPr>
            <a:endParaRPr lang="en" i="1" dirty="0"/>
          </a:p>
        </p:txBody>
      </p:sp>
      <p:sp>
        <p:nvSpPr>
          <p:cNvPr id="3" name="Google Shape;61;p14">
            <a:extLst>
              <a:ext uri="{FF2B5EF4-FFF2-40B4-BE49-F238E27FC236}">
                <a16:creationId xmlns:a16="http://schemas.microsoft.com/office/drawing/2014/main" id="{0FDC0E32-0E40-9E37-B351-B3D3205B5ECF}"/>
              </a:ext>
            </a:extLst>
          </p:cNvPr>
          <p:cNvSpPr txBox="1">
            <a:spLocks/>
          </p:cNvSpPr>
          <p:nvPr/>
        </p:nvSpPr>
        <p:spPr>
          <a:xfrm>
            <a:off x="311700" y="1017725"/>
            <a:ext cx="7043257" cy="790489"/>
          </a:xfrm>
          <a:prstGeom prst="rect">
            <a:avLst/>
          </a:prstGeom>
          <a:noFill/>
          <a:ln>
            <a:noFill/>
          </a:ln>
        </p:spPr>
        <p:txBody>
          <a:bodyPr spcFirstLastPara="1" wrap="square" lIns="91425" tIns="91425" rIns="91425" bIns="91425" anchor="t" anchorCtr="0">
            <a:normAutofit fontScale="92500" lnSpcReduction="20000"/>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pPr marL="114300" indent="0">
              <a:buNone/>
            </a:pPr>
            <a:r>
              <a:rPr lang="en-US" sz="2200" b="1" dirty="0">
                <a:solidFill>
                  <a:srgbClr val="C00000"/>
                </a:solidFill>
              </a:rPr>
              <a:t>AI detectors exhibit a significant bias when used with English Language Learners’ (ELL) writing.</a:t>
            </a:r>
          </a:p>
          <a:p>
            <a:endParaRPr lang="en-US" b="1" dirty="0"/>
          </a:p>
        </p:txBody>
      </p:sp>
      <p:pic>
        <p:nvPicPr>
          <p:cNvPr id="13" name="Camera 12">
            <a:extLst>
              <a:ext uri="{FF2B5EF4-FFF2-40B4-BE49-F238E27FC236}">
                <a16:creationId xmlns:a16="http://schemas.microsoft.com/office/drawing/2014/main" id="{4C8957F4-2755-192D-66AD-6DDFE8A5887C}"/>
              </a:ext>
            </a:extLst>
          </p:cNvPr>
          <p:cNvPicPr>
            <a:picLocks noChangeAspect="1"/>
            <a:extLst>
              <a:ext uri="{51228E76-BA90-4043-B771-695A4F85340A}">
                <alf:liveFeedProps xmlns:alf="http://schemas.microsoft.com/office/drawing/2021/livefeed"/>
              </a:ext>
            </a:extLst>
          </p:cNvPicPr>
          <p:nvPr/>
        </p:nvPicPr>
        <p:blipFill>
          <a:blip r:embed="rId3">
            <a:extLst>
              <a:ext uri="{96DAC541-7B7A-43D3-8B79-37D633B846F1}">
                <asvg:svgBlip xmlns:asvg="http://schemas.microsoft.com/office/drawing/2016/SVG/main" r:embed="rId4"/>
              </a:ext>
            </a:extLst>
          </a:blip>
          <a:stretch>
            <a:fillRect/>
          </a:stretch>
        </p:blipFill>
        <p:spPr>
          <a:xfrm>
            <a:off x="7792926" y="3792426"/>
            <a:ext cx="1289351" cy="1289351"/>
          </a:xfrm>
          <a:prstGeom prst="ellipse">
            <a:avLst/>
          </a:prstGeom>
          <a:ln>
            <a:noFill/>
          </a:ln>
          <a:effectLst>
            <a:softEdge rad="127000"/>
          </a:effec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sp>
        <p:nvSpPr>
          <p:cNvPr id="66" name="Google Shape;66;p15"/>
          <p:cNvSpPr txBox="1">
            <a:spLocks noGrp="1"/>
          </p:cNvSpPr>
          <p:nvPr>
            <p:ph type="title"/>
          </p:nvPr>
        </p:nvSpPr>
        <p:spPr>
          <a:xfrm>
            <a:off x="311700" y="10826"/>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t>What is your ethical framework?</a:t>
            </a:r>
            <a:endParaRPr dirty="0"/>
          </a:p>
        </p:txBody>
      </p:sp>
      <p:sp>
        <p:nvSpPr>
          <p:cNvPr id="67" name="Google Shape;67;p15"/>
          <p:cNvSpPr txBox="1">
            <a:spLocks noGrp="1"/>
          </p:cNvSpPr>
          <p:nvPr>
            <p:ph type="body" idx="1"/>
          </p:nvPr>
        </p:nvSpPr>
        <p:spPr>
          <a:xfrm>
            <a:off x="189780" y="465760"/>
            <a:ext cx="8791660" cy="4206240"/>
          </a:xfrm>
          <a:prstGeom prst="rect">
            <a:avLst/>
          </a:prstGeom>
        </p:spPr>
        <p:txBody>
          <a:bodyPr spcFirstLastPara="1" wrap="square" lIns="91425" tIns="91425" rIns="91425" bIns="91425" anchor="t" anchorCtr="0">
            <a:normAutofit fontScale="92500" lnSpcReduction="10000"/>
          </a:bodyPr>
          <a:lstStyle/>
          <a:p>
            <a:pPr marL="457200" lvl="0" indent="-342900" algn="l" rtl="0">
              <a:spcBef>
                <a:spcPts val="0"/>
              </a:spcBef>
              <a:spcAft>
                <a:spcPts val="0"/>
              </a:spcAft>
              <a:buSzPts val="1800"/>
              <a:buChar char="●"/>
            </a:pPr>
            <a:r>
              <a:rPr lang="en-US" sz="2000" dirty="0"/>
              <a:t>The primary ethical framework is </a:t>
            </a:r>
            <a:r>
              <a:rPr lang="en-US" sz="2000" b="1" dirty="0"/>
              <a:t>DEONTOLOGICAL</a:t>
            </a:r>
            <a:r>
              <a:rPr lang="en-US" sz="2000" dirty="0"/>
              <a:t>. </a:t>
            </a:r>
          </a:p>
          <a:p>
            <a:pPr lvl="1" indent="-342900">
              <a:buSzPts val="1800"/>
              <a:buChar char="●"/>
            </a:pPr>
            <a:r>
              <a:rPr lang="en-US" sz="1800" dirty="0"/>
              <a:t>Any policy that relies solely on a tool that systematically disadvantages a protected group violates the duties that FERPA has enacted.</a:t>
            </a:r>
          </a:p>
          <a:p>
            <a:pPr lvl="1" indent="-342900">
              <a:buSzPts val="1800"/>
              <a:buChar char="●"/>
            </a:pPr>
            <a:r>
              <a:rPr lang="en-US" sz="1800" dirty="0"/>
              <a:t>Use of AI-detectors may violate FERPA</a:t>
            </a:r>
          </a:p>
          <a:p>
            <a:r>
              <a:rPr lang="en-US" sz="2000" dirty="0"/>
              <a:t>A secondary framework is the </a:t>
            </a:r>
            <a:r>
              <a:rPr lang="en-US" sz="2000" b="1" dirty="0"/>
              <a:t>CONSEQUENTIAL</a:t>
            </a:r>
            <a:r>
              <a:rPr lang="en-US" sz="2000" dirty="0"/>
              <a:t> one</a:t>
            </a:r>
          </a:p>
          <a:p>
            <a:pPr lvl="2" indent="-342900">
              <a:buSzPts val="1800"/>
              <a:buChar char="●"/>
            </a:pPr>
            <a:r>
              <a:rPr lang="en-US" sz="1800" dirty="0"/>
              <a:t>Not using AI detectors has also been shown to demonstrate bias </a:t>
            </a:r>
            <a:r>
              <a:rPr lang="en-US" sz="1800" b="1" dirty="0"/>
              <a:t>towards</a:t>
            </a:r>
            <a:r>
              <a:rPr lang="en-US" sz="1800" dirty="0"/>
              <a:t> privileged students with access to AI and computers; therefore, we are morally obligated (equal treatment/protection) to find another method to determine whether AI has been used in a given piece of written work. </a:t>
            </a:r>
          </a:p>
          <a:p>
            <a:pPr marL="457200" lvl="0" indent="-342900" algn="l" rtl="0">
              <a:spcBef>
                <a:spcPts val="0"/>
              </a:spcBef>
              <a:spcAft>
                <a:spcPts val="0"/>
              </a:spcAft>
              <a:buSzPts val="1800"/>
              <a:buChar char="●"/>
            </a:pPr>
            <a:r>
              <a:rPr lang="en-US" sz="2000" dirty="0"/>
              <a:t>We must find a way to make the best possible educational use of AI </a:t>
            </a:r>
          </a:p>
          <a:p>
            <a:pPr marL="457200" lvl="0" indent="-342900" algn="l" rtl="0">
              <a:spcBef>
                <a:spcPts val="0"/>
              </a:spcBef>
              <a:spcAft>
                <a:spcPts val="0"/>
              </a:spcAft>
              <a:buSzPts val="1800"/>
              <a:buChar char="●"/>
            </a:pPr>
            <a:r>
              <a:rPr lang="en-US" sz="2000" dirty="0"/>
              <a:t>I was trained as an educator. My spouse teaches ESL students. I have seen many ELL misuse AI, and a policy such as this will help them to use this tool more effectively without stopping them from achieving their best. </a:t>
            </a:r>
            <a:endParaRPr sz="2000" dirty="0"/>
          </a:p>
          <a:p>
            <a:pPr marL="0" lvl="0" indent="0" algn="l" rtl="0">
              <a:spcBef>
                <a:spcPts val="1200"/>
              </a:spcBef>
              <a:spcAft>
                <a:spcPts val="1200"/>
              </a:spcAft>
              <a:buNone/>
            </a:pPr>
            <a:endParaRPr dirty="0"/>
          </a:p>
        </p:txBody>
      </p:sp>
      <p:sp>
        <p:nvSpPr>
          <p:cNvPr id="2" name="TextBox 1">
            <a:extLst>
              <a:ext uri="{FF2B5EF4-FFF2-40B4-BE49-F238E27FC236}">
                <a16:creationId xmlns:a16="http://schemas.microsoft.com/office/drawing/2014/main" id="{75582234-DACD-008D-2DE6-998A2423B4D6}"/>
              </a:ext>
            </a:extLst>
          </p:cNvPr>
          <p:cNvSpPr txBox="1"/>
          <p:nvPr/>
        </p:nvSpPr>
        <p:spPr>
          <a:xfrm>
            <a:off x="172557" y="4371626"/>
            <a:ext cx="7246815" cy="677108"/>
          </a:xfrm>
          <a:prstGeom prst="rect">
            <a:avLst/>
          </a:prstGeom>
          <a:noFill/>
        </p:spPr>
        <p:txBody>
          <a:bodyPr wrap="square" rtlCol="0">
            <a:spAutoFit/>
          </a:bodyPr>
          <a:lstStyle/>
          <a:p>
            <a:r>
              <a:rPr lang="en-US" sz="2000" b="1" u="sng" dirty="0">
                <a:solidFill>
                  <a:schemeClr val="tx1"/>
                </a:solidFill>
                <a:latin typeface="Times New Roman" panose="02020603050405020304" pitchFamily="18" charset="0"/>
                <a:ea typeface="Times New Roman" panose="02020603050405020304" pitchFamily="18" charset="0"/>
              </a:rPr>
              <a:t>ULTIMATE PURPOSE: </a:t>
            </a:r>
            <a:r>
              <a:rPr lang="en-US" sz="1800" b="1" i="1" dirty="0">
                <a:solidFill>
                  <a:srgbClr val="C00000"/>
                </a:solidFill>
                <a:latin typeface="Times New Roman" panose="02020603050405020304" pitchFamily="18" charset="0"/>
                <a:ea typeface="Times New Roman" panose="02020603050405020304" pitchFamily="18" charset="0"/>
              </a:rPr>
              <a:t>To ensure the integrity of any written work and to help students achieve their best possible work</a:t>
            </a:r>
            <a:endParaRPr lang="en-US" i="1" dirty="0">
              <a:solidFill>
                <a:srgbClr val="C00000"/>
              </a:solidFill>
            </a:endParaRPr>
          </a:p>
        </p:txBody>
      </p:sp>
      <p:pic>
        <p:nvPicPr>
          <p:cNvPr id="11" name="Camera 10">
            <a:extLst>
              <a:ext uri="{FF2B5EF4-FFF2-40B4-BE49-F238E27FC236}">
                <a16:creationId xmlns:a16="http://schemas.microsoft.com/office/drawing/2014/main" id="{7991011D-0E1F-DAAD-C2C4-E4517C2B26BB}"/>
              </a:ext>
            </a:extLst>
          </p:cNvPr>
          <p:cNvPicPr>
            <a:picLocks noChangeAspect="1"/>
            <a:extLst>
              <a:ext uri="{51228E76-BA90-4043-B771-695A4F85340A}">
                <alf:liveFeedProps xmlns:alf="http://schemas.microsoft.com/office/drawing/2021/livefeed"/>
              </a:ext>
            </a:extLst>
          </p:cNvPicPr>
          <p:nvPr/>
        </p:nvPicPr>
        <p:blipFill>
          <a:blip r:embed="rId3">
            <a:extLst>
              <a:ext uri="{96DAC541-7B7A-43D3-8B79-37D633B846F1}">
                <asvg:svgBlip xmlns:asvg="http://schemas.microsoft.com/office/drawing/2016/SVG/main" r:embed="rId4"/>
              </a:ext>
            </a:extLst>
          </a:blip>
          <a:stretch>
            <a:fillRect/>
          </a:stretch>
        </p:blipFill>
        <p:spPr>
          <a:xfrm>
            <a:off x="7796658" y="3941716"/>
            <a:ext cx="1289351" cy="1289351"/>
          </a:xfrm>
          <a:prstGeom prst="ellipse">
            <a:avLst/>
          </a:prstGeom>
          <a:ln>
            <a:noFill/>
          </a:ln>
          <a:effectLst>
            <a:softEdge rad="127000"/>
          </a:effec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1CBA51-7B2E-1217-B11C-9A887E2C9EC1}"/>
              </a:ext>
            </a:extLst>
          </p:cNvPr>
          <p:cNvSpPr>
            <a:spLocks noGrp="1"/>
          </p:cNvSpPr>
          <p:nvPr>
            <p:ph type="title"/>
          </p:nvPr>
        </p:nvSpPr>
        <p:spPr/>
        <p:txBody>
          <a:bodyPr>
            <a:normAutofit fontScale="90000"/>
          </a:bodyPr>
          <a:lstStyle/>
          <a:p>
            <a:r>
              <a:rPr lang="en-US" dirty="0"/>
              <a:t>Ethical principles in play</a:t>
            </a:r>
          </a:p>
        </p:txBody>
      </p:sp>
      <p:sp>
        <p:nvSpPr>
          <p:cNvPr id="3" name="Text Placeholder 2">
            <a:extLst>
              <a:ext uri="{FF2B5EF4-FFF2-40B4-BE49-F238E27FC236}">
                <a16:creationId xmlns:a16="http://schemas.microsoft.com/office/drawing/2014/main" id="{F9053DD2-B8F1-DEC2-55C0-BB17CC8A54E7}"/>
              </a:ext>
            </a:extLst>
          </p:cNvPr>
          <p:cNvSpPr>
            <a:spLocks noGrp="1"/>
          </p:cNvSpPr>
          <p:nvPr>
            <p:ph type="body" idx="1"/>
          </p:nvPr>
        </p:nvSpPr>
        <p:spPr/>
        <p:txBody>
          <a:bodyPr/>
          <a:lstStyle/>
          <a:p>
            <a:r>
              <a:rPr lang="en-US" sz="3200" dirty="0"/>
              <a:t>Civil Rights – Title IV</a:t>
            </a:r>
          </a:p>
          <a:p>
            <a:pPr lvl="1"/>
            <a:r>
              <a:rPr lang="en-US" sz="2400" kern="0" dirty="0">
                <a:effectLst/>
                <a:latin typeface="Times New Roman" panose="02020603050405020304" pitchFamily="18" charset="0"/>
                <a:ea typeface="Calibri" panose="020F0502020204030204" pitchFamily="34" charset="0"/>
              </a:rPr>
              <a:t>“disparate treatment" </a:t>
            </a:r>
          </a:p>
          <a:p>
            <a:pPr lvl="1"/>
            <a:r>
              <a:rPr lang="en-US" sz="2400" kern="0" dirty="0">
                <a:effectLst/>
                <a:latin typeface="Times New Roman" panose="02020603050405020304" pitchFamily="18" charset="0"/>
                <a:ea typeface="Calibri" panose="020F0502020204030204" pitchFamily="34" charset="0"/>
              </a:rPr>
              <a:t>“disparate impact”</a:t>
            </a:r>
          </a:p>
          <a:p>
            <a:pPr lvl="1"/>
            <a:r>
              <a:rPr lang="en-US" sz="2400" kern="0" dirty="0">
                <a:effectLst/>
                <a:latin typeface="Times New Roman" panose="02020603050405020304" pitchFamily="18" charset="0"/>
                <a:ea typeface="Calibri" panose="020F0502020204030204" pitchFamily="34" charset="0"/>
              </a:rPr>
              <a:t>“hostile learning environment”</a:t>
            </a:r>
          </a:p>
          <a:p>
            <a:r>
              <a:rPr lang="en-US" sz="3200" kern="0" dirty="0">
                <a:latin typeface="Times New Roman" panose="02020603050405020304" pitchFamily="18" charset="0"/>
              </a:rPr>
              <a:t>Equal treatment</a:t>
            </a:r>
          </a:p>
        </p:txBody>
      </p:sp>
      <p:pic>
        <p:nvPicPr>
          <p:cNvPr id="12" name="Camera 11">
            <a:extLst>
              <a:ext uri="{FF2B5EF4-FFF2-40B4-BE49-F238E27FC236}">
                <a16:creationId xmlns:a16="http://schemas.microsoft.com/office/drawing/2014/main" id="{B699F171-3446-D76B-31BE-8A6B4031675C}"/>
              </a:ext>
            </a:extLst>
          </p:cNvPr>
          <p:cNvPicPr>
            <a:picLocks noChangeAspect="1"/>
            <a:extLst>
              <a:ext uri="{51228E76-BA90-4043-B771-695A4F85340A}">
                <alf:liveFeedProps xmlns:alf="http://schemas.microsoft.com/office/drawing/2021/livefeed"/>
              </a:ext>
            </a:extLst>
          </p:cNvPicPr>
          <p:nvPr/>
        </p:nvPicPr>
        <p:blipFill>
          <a:blip r:embed="rId3">
            <a:extLst>
              <a:ext uri="{96DAC541-7B7A-43D3-8B79-37D633B846F1}">
                <asvg:svgBlip xmlns:asvg="http://schemas.microsoft.com/office/drawing/2016/SVG/main" r:embed="rId4"/>
              </a:ext>
            </a:extLst>
          </a:blip>
          <a:stretch>
            <a:fillRect/>
          </a:stretch>
        </p:blipFill>
        <p:spPr>
          <a:xfrm>
            <a:off x="7792926" y="3792426"/>
            <a:ext cx="1289351" cy="1289351"/>
          </a:xfrm>
          <a:prstGeom prst="ellipse">
            <a:avLst/>
          </a:prstGeom>
          <a:ln>
            <a:noFill/>
          </a:ln>
          <a:effectLst>
            <a:softEdge rad="127000"/>
          </a:effectLst>
        </p:spPr>
      </p:pic>
    </p:spTree>
    <p:extLst>
      <p:ext uri="{BB962C8B-B14F-4D97-AF65-F5344CB8AC3E}">
        <p14:creationId xmlns:p14="http://schemas.microsoft.com/office/powerpoint/2010/main" val="25861660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
        <p:nvSpPr>
          <p:cNvPr id="72" name="Google Shape;72;p1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t>Stakeholders</a:t>
            </a:r>
            <a:endParaRPr dirty="0"/>
          </a:p>
        </p:txBody>
      </p:sp>
      <p:graphicFrame>
        <p:nvGraphicFramePr>
          <p:cNvPr id="3" name="Table 2">
            <a:extLst>
              <a:ext uri="{FF2B5EF4-FFF2-40B4-BE49-F238E27FC236}">
                <a16:creationId xmlns:a16="http://schemas.microsoft.com/office/drawing/2014/main" id="{4FBE8A60-99D9-1BB8-9902-58E0A831C4A2}"/>
              </a:ext>
            </a:extLst>
          </p:cNvPr>
          <p:cNvGraphicFramePr>
            <a:graphicFrameLocks noGrp="1"/>
          </p:cNvGraphicFramePr>
          <p:nvPr>
            <p:extLst>
              <p:ext uri="{D42A27DB-BD31-4B8C-83A1-F6EECF244321}">
                <p14:modId xmlns:p14="http://schemas.microsoft.com/office/powerpoint/2010/main" val="339948059"/>
              </p:ext>
            </p:extLst>
          </p:nvPr>
        </p:nvGraphicFramePr>
        <p:xfrm>
          <a:off x="74196" y="563410"/>
          <a:ext cx="7627084" cy="3974448"/>
        </p:xfrm>
        <a:graphic>
          <a:graphicData uri="http://schemas.openxmlformats.org/drawingml/2006/table">
            <a:tbl>
              <a:tblPr firstRow="1" bandRow="1">
                <a:tableStyleId>{5C22544A-7EE6-4342-B048-85BDC9FD1C3A}</a:tableStyleId>
              </a:tblPr>
              <a:tblGrid>
                <a:gridCol w="1602308">
                  <a:extLst>
                    <a:ext uri="{9D8B030D-6E8A-4147-A177-3AD203B41FA5}">
                      <a16:colId xmlns:a16="http://schemas.microsoft.com/office/drawing/2014/main" val="2326593050"/>
                    </a:ext>
                  </a:extLst>
                </a:gridCol>
                <a:gridCol w="943441">
                  <a:extLst>
                    <a:ext uri="{9D8B030D-6E8A-4147-A177-3AD203B41FA5}">
                      <a16:colId xmlns:a16="http://schemas.microsoft.com/office/drawing/2014/main" val="1473608676"/>
                    </a:ext>
                  </a:extLst>
                </a:gridCol>
                <a:gridCol w="1059301">
                  <a:extLst>
                    <a:ext uri="{9D8B030D-6E8A-4147-A177-3AD203B41FA5}">
                      <a16:colId xmlns:a16="http://schemas.microsoft.com/office/drawing/2014/main" val="3100850239"/>
                    </a:ext>
                  </a:extLst>
                </a:gridCol>
                <a:gridCol w="1307574">
                  <a:extLst>
                    <a:ext uri="{9D8B030D-6E8A-4147-A177-3AD203B41FA5}">
                      <a16:colId xmlns:a16="http://schemas.microsoft.com/office/drawing/2014/main" val="1416136628"/>
                    </a:ext>
                  </a:extLst>
                </a:gridCol>
                <a:gridCol w="2714460">
                  <a:extLst>
                    <a:ext uri="{9D8B030D-6E8A-4147-A177-3AD203B41FA5}">
                      <a16:colId xmlns:a16="http://schemas.microsoft.com/office/drawing/2014/main" val="1036428492"/>
                    </a:ext>
                  </a:extLst>
                </a:gridCol>
              </a:tblGrid>
              <a:tr h="396538">
                <a:tc>
                  <a:txBody>
                    <a:bodyPr/>
                    <a:lstStyle/>
                    <a:p>
                      <a:pPr marL="0" marR="0" algn="ctr">
                        <a:spcBef>
                          <a:spcPts val="0"/>
                        </a:spcBef>
                        <a:spcAft>
                          <a:spcPts val="0"/>
                        </a:spcAft>
                      </a:pPr>
                      <a:r>
                        <a:rPr lang="en-US" sz="1800" b="1" dirty="0">
                          <a:solidFill>
                            <a:srgbClr val="FFFFFF"/>
                          </a:solidFill>
                          <a:effectLst/>
                          <a:latin typeface="Times New Roman" panose="02020603050405020304" pitchFamily="18" charset="0"/>
                          <a:ea typeface="Calibri" panose="020F0502020204030204" pitchFamily="34" charset="0"/>
                        </a:rPr>
                        <a:t>Stakeholder</a:t>
                      </a:r>
                      <a:endParaRPr lang="en-US" sz="1800"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1800" b="1" dirty="0">
                          <a:solidFill>
                            <a:srgbClr val="FFFFFF"/>
                          </a:solidFill>
                          <a:effectLst/>
                          <a:latin typeface="Times New Roman" panose="02020603050405020304" pitchFamily="18" charset="0"/>
                          <a:ea typeface="Calibri" panose="020F0502020204030204" pitchFamily="34" charset="0"/>
                        </a:rPr>
                        <a:t>Power</a:t>
                      </a:r>
                      <a:endParaRPr lang="en-US" sz="1800"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1800" b="1" dirty="0">
                          <a:solidFill>
                            <a:srgbClr val="FFFFFF"/>
                          </a:solidFill>
                          <a:effectLst/>
                          <a:latin typeface="Times New Roman" panose="02020603050405020304" pitchFamily="18" charset="0"/>
                          <a:ea typeface="Calibri" panose="020F0502020204030204" pitchFamily="34" charset="0"/>
                        </a:rPr>
                        <a:t>Interest</a:t>
                      </a:r>
                      <a:endParaRPr lang="en-US" sz="1800"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1800" b="1" dirty="0">
                          <a:solidFill>
                            <a:srgbClr val="FFFFFF"/>
                          </a:solidFill>
                          <a:effectLst/>
                          <a:latin typeface="Times New Roman" panose="02020603050405020304" pitchFamily="18" charset="0"/>
                          <a:ea typeface="Calibri" panose="020F0502020204030204" pitchFamily="34" charset="0"/>
                        </a:rPr>
                        <a:t>Quadrant</a:t>
                      </a:r>
                      <a:endParaRPr lang="en-US" sz="1800"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1800" b="1" dirty="0">
                          <a:solidFill>
                            <a:srgbClr val="FFFFFF"/>
                          </a:solidFill>
                          <a:effectLst/>
                          <a:latin typeface="Times New Roman" panose="02020603050405020304" pitchFamily="18" charset="0"/>
                          <a:ea typeface="Calibri" panose="020F0502020204030204" pitchFamily="34" charset="0"/>
                        </a:rPr>
                        <a:t>Action Items</a:t>
                      </a:r>
                      <a:endParaRPr lang="en-US" sz="1800" dirty="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3542094753"/>
                  </a:ext>
                </a:extLst>
              </a:tr>
              <a:tr h="396538">
                <a:tc>
                  <a:txBody>
                    <a:bodyPr/>
                    <a:lstStyle/>
                    <a:p>
                      <a:pPr marL="0" marR="0">
                        <a:spcBef>
                          <a:spcPts val="0"/>
                        </a:spcBef>
                        <a:spcAft>
                          <a:spcPts val="0"/>
                        </a:spcAft>
                      </a:pPr>
                      <a:r>
                        <a:rPr lang="en-US" sz="1200" b="1" dirty="0">
                          <a:solidFill>
                            <a:srgbClr val="000000"/>
                          </a:solidFill>
                          <a:effectLst/>
                          <a:latin typeface="Times New Roman" panose="02020603050405020304" pitchFamily="18" charset="0"/>
                          <a:ea typeface="Calibri" panose="020F0502020204030204" pitchFamily="34" charset="0"/>
                        </a:rPr>
                        <a:t>Provost / Academic Integrity Office</a:t>
                      </a:r>
                      <a:endParaRPr lang="en-US" sz="1200"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spcBef>
                          <a:spcPts val="0"/>
                        </a:spcBef>
                        <a:spcAft>
                          <a:spcPts val="0"/>
                        </a:spcAft>
                      </a:pPr>
                      <a:r>
                        <a:rPr lang="en-US" sz="1200">
                          <a:solidFill>
                            <a:srgbClr val="000000"/>
                          </a:solidFill>
                          <a:effectLst/>
                          <a:latin typeface="Times New Roman" panose="02020603050405020304" pitchFamily="18" charset="0"/>
                          <a:ea typeface="Calibri" panose="020F0502020204030204" pitchFamily="34" charset="0"/>
                        </a:rPr>
                        <a:t>High</a:t>
                      </a:r>
                      <a:endParaRPr lang="en-US" sz="120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spcBef>
                          <a:spcPts val="0"/>
                        </a:spcBef>
                        <a:spcAft>
                          <a:spcPts val="0"/>
                        </a:spcAft>
                      </a:pPr>
                      <a:r>
                        <a:rPr lang="en-US" sz="1200">
                          <a:solidFill>
                            <a:srgbClr val="000000"/>
                          </a:solidFill>
                          <a:effectLst/>
                          <a:latin typeface="Times New Roman" panose="02020603050405020304" pitchFamily="18" charset="0"/>
                          <a:ea typeface="Calibri" panose="020F0502020204030204" pitchFamily="34" charset="0"/>
                        </a:rPr>
                        <a:t>High</a:t>
                      </a:r>
                      <a:endParaRPr lang="en-US" sz="120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spcBef>
                          <a:spcPts val="0"/>
                        </a:spcBef>
                        <a:spcAft>
                          <a:spcPts val="0"/>
                        </a:spcAft>
                      </a:pPr>
                      <a:r>
                        <a:rPr lang="en-US" sz="1200" dirty="0">
                          <a:solidFill>
                            <a:srgbClr val="000000"/>
                          </a:solidFill>
                          <a:effectLst/>
                          <a:latin typeface="Times New Roman" panose="02020603050405020304" pitchFamily="18" charset="0"/>
                          <a:ea typeface="Calibri" panose="020F0502020204030204" pitchFamily="34" charset="0"/>
                        </a:rPr>
                        <a:t>Manage Closely</a:t>
                      </a:r>
                      <a:endParaRPr lang="en-US" sz="1200"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lvl="0" indent="0">
                        <a:spcBef>
                          <a:spcPts val="0"/>
                        </a:spcBef>
                        <a:spcAft>
                          <a:spcPts val="0"/>
                        </a:spcAft>
                        <a:buFont typeface="Symbol" pitchFamily="2" charset="2"/>
                        <a:buNone/>
                      </a:pPr>
                      <a:r>
                        <a:rPr lang="en-US" sz="1200" dirty="0">
                          <a:solidFill>
                            <a:srgbClr val="000000"/>
                          </a:solidFill>
                          <a:effectLst/>
                          <a:latin typeface="Times New Roman" panose="02020603050405020304" pitchFamily="18" charset="0"/>
                          <a:ea typeface="Calibri" panose="020F0502020204030204" pitchFamily="34" charset="0"/>
                        </a:rPr>
                        <a:t>Sponsor steering committee</a:t>
                      </a:r>
                      <a:endParaRPr lang="en-US" sz="1200" dirty="0">
                        <a:effectLst/>
                        <a:latin typeface="Times New Roman" panose="02020603050405020304" pitchFamily="18" charset="0"/>
                        <a:ea typeface="Times New Roman" panose="02020603050405020304" pitchFamily="18" charset="0"/>
                      </a:endParaRPr>
                    </a:p>
                    <a:p>
                      <a:pPr marL="0" marR="0" lvl="0" indent="0">
                        <a:spcBef>
                          <a:spcPts val="0"/>
                        </a:spcBef>
                        <a:spcAft>
                          <a:spcPts val="0"/>
                        </a:spcAft>
                        <a:buFont typeface="Symbol" pitchFamily="2" charset="2"/>
                        <a:buNone/>
                      </a:pPr>
                      <a:r>
                        <a:rPr lang="en-US" sz="1200" dirty="0">
                          <a:solidFill>
                            <a:srgbClr val="000000"/>
                          </a:solidFill>
                          <a:effectLst/>
                          <a:latin typeface="Times New Roman" panose="02020603050405020304" pitchFamily="18" charset="0"/>
                          <a:ea typeface="Calibri" panose="020F0502020204030204" pitchFamily="34" charset="0"/>
                        </a:rPr>
                        <a:t>Approve budget</a:t>
                      </a:r>
                      <a:endParaRPr lang="en-US" sz="1200" dirty="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121160112"/>
                  </a:ext>
                </a:extLst>
              </a:tr>
              <a:tr h="396538">
                <a:tc>
                  <a:txBody>
                    <a:bodyPr/>
                    <a:lstStyle/>
                    <a:p>
                      <a:pPr marL="0" marR="0">
                        <a:spcBef>
                          <a:spcPts val="0"/>
                        </a:spcBef>
                        <a:spcAft>
                          <a:spcPts val="0"/>
                        </a:spcAft>
                      </a:pPr>
                      <a:r>
                        <a:rPr lang="en-US" sz="1200" b="1" dirty="0">
                          <a:effectLst/>
                          <a:latin typeface="Times New Roman" panose="02020603050405020304" pitchFamily="18" charset="0"/>
                          <a:ea typeface="Calibri" panose="020F0502020204030204" pitchFamily="34" charset="0"/>
                        </a:rPr>
                        <a:t>Legal / Compliance Office</a:t>
                      </a:r>
                      <a:endParaRPr lang="en-US" sz="1200"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spcBef>
                          <a:spcPts val="0"/>
                        </a:spcBef>
                        <a:spcAft>
                          <a:spcPts val="0"/>
                        </a:spcAft>
                      </a:pPr>
                      <a:r>
                        <a:rPr lang="en-US" sz="1200">
                          <a:effectLst/>
                          <a:latin typeface="Times New Roman" panose="02020603050405020304" pitchFamily="18" charset="0"/>
                          <a:ea typeface="Calibri" panose="020F0502020204030204" pitchFamily="34" charset="0"/>
                        </a:rPr>
                        <a:t>High</a:t>
                      </a:r>
                      <a:endParaRPr lang="en-US" sz="120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spcBef>
                          <a:spcPts val="0"/>
                        </a:spcBef>
                        <a:spcAft>
                          <a:spcPts val="0"/>
                        </a:spcAft>
                      </a:pPr>
                      <a:r>
                        <a:rPr lang="en-US" sz="1200">
                          <a:effectLst/>
                          <a:latin typeface="Times New Roman" panose="02020603050405020304" pitchFamily="18" charset="0"/>
                          <a:ea typeface="Calibri" panose="020F0502020204030204" pitchFamily="34" charset="0"/>
                        </a:rPr>
                        <a:t>Medium High</a:t>
                      </a:r>
                      <a:endParaRPr lang="en-US" sz="120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spcBef>
                          <a:spcPts val="0"/>
                        </a:spcBef>
                        <a:spcAft>
                          <a:spcPts val="0"/>
                        </a:spcAft>
                      </a:pPr>
                      <a:r>
                        <a:rPr lang="en-US" sz="1200">
                          <a:effectLst/>
                          <a:latin typeface="Times New Roman" panose="02020603050405020304" pitchFamily="18" charset="0"/>
                          <a:ea typeface="Calibri" panose="020F0502020204030204" pitchFamily="34" charset="0"/>
                        </a:rPr>
                        <a:t>Manage Closely</a:t>
                      </a:r>
                      <a:endParaRPr lang="en-US" sz="120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lvl="0" indent="0">
                        <a:spcBef>
                          <a:spcPts val="0"/>
                        </a:spcBef>
                        <a:spcAft>
                          <a:spcPts val="0"/>
                        </a:spcAft>
                        <a:buFont typeface="Symbol" pitchFamily="2" charset="2"/>
                        <a:buNone/>
                      </a:pPr>
                      <a:r>
                        <a:rPr lang="en-US" sz="1200" dirty="0">
                          <a:effectLst/>
                          <a:latin typeface="Times New Roman" panose="02020603050405020304" pitchFamily="18" charset="0"/>
                          <a:ea typeface="Calibri" panose="020F0502020204030204" pitchFamily="34" charset="0"/>
                        </a:rPr>
                        <a:t>Review policy language for Title IV compliance</a:t>
                      </a:r>
                      <a:endParaRPr lang="en-US" sz="1200" dirty="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3818967019"/>
                  </a:ext>
                </a:extLst>
              </a:tr>
              <a:tr h="264359">
                <a:tc>
                  <a:txBody>
                    <a:bodyPr/>
                    <a:lstStyle/>
                    <a:p>
                      <a:pPr marL="0" marR="0">
                        <a:spcBef>
                          <a:spcPts val="0"/>
                        </a:spcBef>
                        <a:spcAft>
                          <a:spcPts val="0"/>
                        </a:spcAft>
                      </a:pPr>
                      <a:r>
                        <a:rPr lang="en-US" sz="1200" b="1" dirty="0">
                          <a:solidFill>
                            <a:srgbClr val="000000"/>
                          </a:solidFill>
                          <a:effectLst/>
                          <a:latin typeface="Times New Roman" panose="02020603050405020304" pitchFamily="18" charset="0"/>
                          <a:ea typeface="Calibri" panose="020F0502020204030204" pitchFamily="34" charset="0"/>
                        </a:rPr>
                        <a:t>IT Services</a:t>
                      </a:r>
                      <a:endParaRPr lang="en-US" sz="1200"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spcBef>
                          <a:spcPts val="0"/>
                        </a:spcBef>
                        <a:spcAft>
                          <a:spcPts val="0"/>
                        </a:spcAft>
                      </a:pPr>
                      <a:r>
                        <a:rPr lang="en-US" sz="1200">
                          <a:solidFill>
                            <a:srgbClr val="000000"/>
                          </a:solidFill>
                          <a:effectLst/>
                          <a:latin typeface="Times New Roman" panose="02020603050405020304" pitchFamily="18" charset="0"/>
                          <a:ea typeface="Calibri" panose="020F0502020204030204" pitchFamily="34" charset="0"/>
                        </a:rPr>
                        <a:t>High</a:t>
                      </a:r>
                      <a:endParaRPr lang="en-US" sz="120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spcBef>
                          <a:spcPts val="0"/>
                        </a:spcBef>
                        <a:spcAft>
                          <a:spcPts val="0"/>
                        </a:spcAft>
                      </a:pPr>
                      <a:r>
                        <a:rPr lang="en-US" sz="1200">
                          <a:solidFill>
                            <a:srgbClr val="000000"/>
                          </a:solidFill>
                          <a:effectLst/>
                          <a:latin typeface="Times New Roman" panose="02020603050405020304" pitchFamily="18" charset="0"/>
                          <a:ea typeface="Calibri" panose="020F0502020204030204" pitchFamily="34" charset="0"/>
                        </a:rPr>
                        <a:t>Medium</a:t>
                      </a:r>
                      <a:endParaRPr lang="en-US" sz="120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spcBef>
                          <a:spcPts val="0"/>
                        </a:spcBef>
                        <a:spcAft>
                          <a:spcPts val="0"/>
                        </a:spcAft>
                      </a:pPr>
                      <a:r>
                        <a:rPr lang="en-US" sz="1200">
                          <a:solidFill>
                            <a:srgbClr val="000000"/>
                          </a:solidFill>
                          <a:effectLst/>
                          <a:latin typeface="Times New Roman" panose="02020603050405020304" pitchFamily="18" charset="0"/>
                          <a:ea typeface="Calibri" panose="020F0502020204030204" pitchFamily="34" charset="0"/>
                        </a:rPr>
                        <a:t>Keep Satisfied</a:t>
                      </a:r>
                      <a:endParaRPr lang="en-US" sz="120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lvl="0" indent="0">
                        <a:spcBef>
                          <a:spcPts val="0"/>
                        </a:spcBef>
                        <a:spcAft>
                          <a:spcPts val="0"/>
                        </a:spcAft>
                        <a:buFont typeface="Symbol" pitchFamily="2" charset="2"/>
                        <a:buNone/>
                      </a:pPr>
                      <a:r>
                        <a:rPr lang="en-US" sz="1200">
                          <a:solidFill>
                            <a:srgbClr val="000000"/>
                          </a:solidFill>
                          <a:effectLst/>
                          <a:latin typeface="Times New Roman" panose="02020603050405020304" pitchFamily="18" charset="0"/>
                          <a:ea typeface="Calibri" panose="020F0502020204030204" pitchFamily="34" charset="0"/>
                        </a:rPr>
                        <a:t>Provide integration timeline</a:t>
                      </a:r>
                      <a:endParaRPr lang="en-US" sz="1200">
                        <a:effectLst/>
                        <a:latin typeface="Times New Roman" panose="02020603050405020304" pitchFamily="18" charset="0"/>
                        <a:ea typeface="Times New Roman" panose="02020603050405020304" pitchFamily="18" charset="0"/>
                      </a:endParaRPr>
                    </a:p>
                    <a:p>
                      <a:pPr marL="0" marR="0" lvl="0" indent="0">
                        <a:spcBef>
                          <a:spcPts val="0"/>
                        </a:spcBef>
                        <a:spcAft>
                          <a:spcPts val="0"/>
                        </a:spcAft>
                        <a:buFont typeface="Symbol" pitchFamily="2" charset="2"/>
                        <a:buNone/>
                      </a:pPr>
                      <a:r>
                        <a:rPr lang="en-US" sz="1200">
                          <a:solidFill>
                            <a:srgbClr val="000000"/>
                          </a:solidFill>
                          <a:effectLst/>
                          <a:latin typeface="Times New Roman" panose="02020603050405020304" pitchFamily="18" charset="0"/>
                          <a:ea typeface="Calibri" panose="020F0502020204030204" pitchFamily="34" charset="0"/>
                        </a:rPr>
                        <a:t>Allocate API support</a:t>
                      </a:r>
                      <a:endParaRPr lang="en-US" sz="120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1529212792"/>
                  </a:ext>
                </a:extLst>
              </a:tr>
              <a:tr h="264359">
                <a:tc>
                  <a:txBody>
                    <a:bodyPr/>
                    <a:lstStyle/>
                    <a:p>
                      <a:pPr marL="0" marR="0">
                        <a:spcBef>
                          <a:spcPts val="0"/>
                        </a:spcBef>
                        <a:spcAft>
                          <a:spcPts val="0"/>
                        </a:spcAft>
                      </a:pPr>
                      <a:r>
                        <a:rPr lang="en-US" sz="1200" b="1" dirty="0">
                          <a:effectLst/>
                          <a:latin typeface="Times New Roman" panose="02020603050405020304" pitchFamily="18" charset="0"/>
                          <a:ea typeface="Calibri" panose="020F0502020204030204" pitchFamily="34" charset="0"/>
                        </a:rPr>
                        <a:t>Faculty Senate / Dept. Chairs</a:t>
                      </a:r>
                      <a:endParaRPr lang="en-US" sz="1200"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spcBef>
                          <a:spcPts val="0"/>
                        </a:spcBef>
                        <a:spcAft>
                          <a:spcPts val="0"/>
                        </a:spcAft>
                      </a:pPr>
                      <a:r>
                        <a:rPr lang="en-US" sz="1200">
                          <a:effectLst/>
                          <a:latin typeface="Times New Roman" panose="02020603050405020304" pitchFamily="18" charset="0"/>
                          <a:ea typeface="Calibri" panose="020F0502020204030204" pitchFamily="34" charset="0"/>
                        </a:rPr>
                        <a:t>Medium</a:t>
                      </a:r>
                      <a:endParaRPr lang="en-US" sz="120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spcBef>
                          <a:spcPts val="0"/>
                        </a:spcBef>
                        <a:spcAft>
                          <a:spcPts val="0"/>
                        </a:spcAft>
                      </a:pPr>
                      <a:r>
                        <a:rPr lang="en-US" sz="1200">
                          <a:effectLst/>
                          <a:latin typeface="Times New Roman" panose="02020603050405020304" pitchFamily="18" charset="0"/>
                          <a:ea typeface="Calibri" panose="020F0502020204030204" pitchFamily="34" charset="0"/>
                        </a:rPr>
                        <a:t>High</a:t>
                      </a:r>
                      <a:endParaRPr lang="en-US" sz="120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spcBef>
                          <a:spcPts val="0"/>
                        </a:spcBef>
                        <a:spcAft>
                          <a:spcPts val="0"/>
                        </a:spcAft>
                      </a:pPr>
                      <a:r>
                        <a:rPr lang="en-US" sz="1200">
                          <a:effectLst/>
                          <a:latin typeface="Times New Roman" panose="02020603050405020304" pitchFamily="18" charset="0"/>
                          <a:ea typeface="Calibri" panose="020F0502020204030204" pitchFamily="34" charset="0"/>
                        </a:rPr>
                        <a:t>Manage Closely</a:t>
                      </a:r>
                      <a:endParaRPr lang="en-US" sz="120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lvl="0" indent="0">
                        <a:spcBef>
                          <a:spcPts val="0"/>
                        </a:spcBef>
                        <a:spcAft>
                          <a:spcPts val="0"/>
                        </a:spcAft>
                        <a:buFont typeface="Symbol" pitchFamily="2" charset="2"/>
                        <a:buNone/>
                      </a:pPr>
                      <a:r>
                        <a:rPr lang="en-US" sz="1200">
                          <a:effectLst/>
                          <a:latin typeface="Times New Roman" panose="02020603050405020304" pitchFamily="18" charset="0"/>
                          <a:ea typeface="Calibri" panose="020F0502020204030204" pitchFamily="34" charset="0"/>
                        </a:rPr>
                        <a:t>Draft department‑level addenda</a:t>
                      </a:r>
                      <a:endParaRPr lang="en-US" sz="1200">
                        <a:effectLst/>
                        <a:latin typeface="Times New Roman" panose="02020603050405020304" pitchFamily="18" charset="0"/>
                        <a:ea typeface="Times New Roman" panose="02020603050405020304" pitchFamily="18" charset="0"/>
                      </a:endParaRPr>
                    </a:p>
                    <a:p>
                      <a:pPr marL="0" marR="0" lvl="0" indent="0">
                        <a:spcBef>
                          <a:spcPts val="0"/>
                        </a:spcBef>
                        <a:spcAft>
                          <a:spcPts val="0"/>
                        </a:spcAft>
                        <a:buFont typeface="Symbol" pitchFamily="2" charset="2"/>
                        <a:buNone/>
                      </a:pPr>
                      <a:r>
                        <a:rPr lang="en-US" sz="1200">
                          <a:effectLst/>
                          <a:latin typeface="Times New Roman" panose="02020603050405020304" pitchFamily="18" charset="0"/>
                          <a:ea typeface="Calibri" panose="020F0502020204030204" pitchFamily="34" charset="0"/>
                        </a:rPr>
                        <a:t>Host workshops</a:t>
                      </a:r>
                      <a:endParaRPr lang="en-US" sz="120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352003389"/>
                  </a:ext>
                </a:extLst>
              </a:tr>
              <a:tr h="264359">
                <a:tc>
                  <a:txBody>
                    <a:bodyPr/>
                    <a:lstStyle/>
                    <a:p>
                      <a:pPr marL="0" marR="0">
                        <a:spcBef>
                          <a:spcPts val="0"/>
                        </a:spcBef>
                        <a:spcAft>
                          <a:spcPts val="0"/>
                        </a:spcAft>
                      </a:pPr>
                      <a:r>
                        <a:rPr lang="en-US" sz="1200" b="1" dirty="0">
                          <a:solidFill>
                            <a:srgbClr val="000000"/>
                          </a:solidFill>
                          <a:effectLst/>
                          <a:latin typeface="Times New Roman" panose="02020603050405020304" pitchFamily="18" charset="0"/>
                          <a:ea typeface="Calibri" panose="020F0502020204030204" pitchFamily="34" charset="0"/>
                        </a:rPr>
                        <a:t>Individual Instructors</a:t>
                      </a:r>
                      <a:endParaRPr lang="en-US" sz="1200"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spcBef>
                          <a:spcPts val="0"/>
                        </a:spcBef>
                        <a:spcAft>
                          <a:spcPts val="0"/>
                        </a:spcAft>
                      </a:pPr>
                      <a:r>
                        <a:rPr lang="en-US" sz="1200">
                          <a:solidFill>
                            <a:srgbClr val="000000"/>
                          </a:solidFill>
                          <a:effectLst/>
                          <a:latin typeface="Times New Roman" panose="02020603050405020304" pitchFamily="18" charset="0"/>
                          <a:ea typeface="Calibri" panose="020F0502020204030204" pitchFamily="34" charset="0"/>
                        </a:rPr>
                        <a:t>Low</a:t>
                      </a:r>
                      <a:endParaRPr lang="en-US" sz="120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spcBef>
                          <a:spcPts val="0"/>
                        </a:spcBef>
                        <a:spcAft>
                          <a:spcPts val="0"/>
                        </a:spcAft>
                      </a:pPr>
                      <a:r>
                        <a:rPr lang="en-US" sz="1200">
                          <a:solidFill>
                            <a:srgbClr val="000000"/>
                          </a:solidFill>
                          <a:effectLst/>
                          <a:latin typeface="Times New Roman" panose="02020603050405020304" pitchFamily="18" charset="0"/>
                          <a:ea typeface="Calibri" panose="020F0502020204030204" pitchFamily="34" charset="0"/>
                        </a:rPr>
                        <a:t>High</a:t>
                      </a:r>
                      <a:endParaRPr lang="en-US" sz="120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spcBef>
                          <a:spcPts val="0"/>
                        </a:spcBef>
                        <a:spcAft>
                          <a:spcPts val="0"/>
                        </a:spcAft>
                      </a:pPr>
                      <a:r>
                        <a:rPr lang="en-US" sz="1200">
                          <a:solidFill>
                            <a:srgbClr val="000000"/>
                          </a:solidFill>
                          <a:effectLst/>
                          <a:latin typeface="Times New Roman" panose="02020603050405020304" pitchFamily="18" charset="0"/>
                          <a:ea typeface="Calibri" panose="020F0502020204030204" pitchFamily="34" charset="0"/>
                        </a:rPr>
                        <a:t>Keep Informed</a:t>
                      </a:r>
                      <a:endParaRPr lang="en-US" sz="120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lvl="0" indent="0">
                        <a:spcBef>
                          <a:spcPts val="0"/>
                        </a:spcBef>
                        <a:spcAft>
                          <a:spcPts val="0"/>
                        </a:spcAft>
                        <a:buFont typeface="Symbol" pitchFamily="2" charset="2"/>
                        <a:buNone/>
                      </a:pPr>
                      <a:r>
                        <a:rPr lang="en-US" sz="1200">
                          <a:solidFill>
                            <a:srgbClr val="000000"/>
                          </a:solidFill>
                          <a:effectLst/>
                          <a:latin typeface="Times New Roman" panose="02020603050405020304" pitchFamily="18" charset="0"/>
                          <a:ea typeface="Calibri" panose="020F0502020204030204" pitchFamily="34" charset="0"/>
                        </a:rPr>
                        <a:t>Distribute quick‑start guide</a:t>
                      </a:r>
                      <a:endParaRPr lang="en-US" sz="1200">
                        <a:effectLst/>
                        <a:latin typeface="Times New Roman" panose="02020603050405020304" pitchFamily="18" charset="0"/>
                        <a:ea typeface="Times New Roman" panose="02020603050405020304" pitchFamily="18" charset="0"/>
                      </a:endParaRPr>
                    </a:p>
                    <a:p>
                      <a:pPr marL="0" marR="0" lvl="0" indent="0">
                        <a:spcBef>
                          <a:spcPts val="0"/>
                        </a:spcBef>
                        <a:spcAft>
                          <a:spcPts val="0"/>
                        </a:spcAft>
                        <a:buFont typeface="Symbol" pitchFamily="2" charset="2"/>
                        <a:buNone/>
                      </a:pPr>
                      <a:r>
                        <a:rPr lang="en-US" sz="1200">
                          <a:solidFill>
                            <a:srgbClr val="000000"/>
                          </a:solidFill>
                          <a:effectLst/>
                          <a:latin typeface="Times New Roman" panose="02020603050405020304" pitchFamily="18" charset="0"/>
                          <a:ea typeface="Calibri" panose="020F0502020204030204" pitchFamily="34" charset="0"/>
                        </a:rPr>
                        <a:t>Collect usability feedback</a:t>
                      </a:r>
                      <a:endParaRPr lang="en-US" sz="120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2678477241"/>
                  </a:ext>
                </a:extLst>
              </a:tr>
              <a:tr h="396538">
                <a:tc>
                  <a:txBody>
                    <a:bodyPr/>
                    <a:lstStyle/>
                    <a:p>
                      <a:pPr marL="0" marR="0">
                        <a:spcBef>
                          <a:spcPts val="0"/>
                        </a:spcBef>
                        <a:spcAft>
                          <a:spcPts val="0"/>
                        </a:spcAft>
                      </a:pPr>
                      <a:r>
                        <a:rPr lang="en-US" sz="1200" b="1" dirty="0">
                          <a:effectLst/>
                          <a:latin typeface="Times New Roman" panose="02020603050405020304" pitchFamily="18" charset="0"/>
                          <a:ea typeface="Calibri" panose="020F0502020204030204" pitchFamily="34" charset="0"/>
                        </a:rPr>
                        <a:t>ELL / International Students</a:t>
                      </a:r>
                      <a:endParaRPr lang="en-US" sz="1200"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spcBef>
                          <a:spcPts val="0"/>
                        </a:spcBef>
                        <a:spcAft>
                          <a:spcPts val="0"/>
                        </a:spcAft>
                      </a:pPr>
                      <a:r>
                        <a:rPr lang="en-US" sz="1200">
                          <a:effectLst/>
                          <a:latin typeface="Times New Roman" panose="02020603050405020304" pitchFamily="18" charset="0"/>
                          <a:ea typeface="Calibri" panose="020F0502020204030204" pitchFamily="34" charset="0"/>
                        </a:rPr>
                        <a:t>Low</a:t>
                      </a:r>
                      <a:endParaRPr lang="en-US" sz="120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spcBef>
                          <a:spcPts val="0"/>
                        </a:spcBef>
                        <a:spcAft>
                          <a:spcPts val="0"/>
                        </a:spcAft>
                      </a:pPr>
                      <a:r>
                        <a:rPr lang="en-US" sz="1200">
                          <a:effectLst/>
                          <a:latin typeface="Times New Roman" panose="02020603050405020304" pitchFamily="18" charset="0"/>
                          <a:ea typeface="Calibri" panose="020F0502020204030204" pitchFamily="34" charset="0"/>
                        </a:rPr>
                        <a:t>High</a:t>
                      </a:r>
                      <a:endParaRPr lang="en-US" sz="120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spcBef>
                          <a:spcPts val="0"/>
                        </a:spcBef>
                        <a:spcAft>
                          <a:spcPts val="0"/>
                        </a:spcAft>
                      </a:pPr>
                      <a:r>
                        <a:rPr lang="en-US" sz="1200">
                          <a:effectLst/>
                          <a:latin typeface="Times New Roman" panose="02020603050405020304" pitchFamily="18" charset="0"/>
                          <a:ea typeface="Calibri" panose="020F0502020204030204" pitchFamily="34" charset="0"/>
                        </a:rPr>
                        <a:t>Keep Informed</a:t>
                      </a:r>
                      <a:endParaRPr lang="en-US" sz="120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lvl="0" indent="0">
                        <a:spcBef>
                          <a:spcPts val="0"/>
                        </a:spcBef>
                        <a:spcAft>
                          <a:spcPts val="0"/>
                        </a:spcAft>
                        <a:buFont typeface="Symbol" pitchFamily="2" charset="2"/>
                        <a:buNone/>
                      </a:pPr>
                      <a:r>
                        <a:rPr lang="en-US" sz="1200" dirty="0">
                          <a:effectLst/>
                          <a:latin typeface="Times New Roman" panose="02020603050405020304" pitchFamily="18" charset="0"/>
                          <a:ea typeface="Calibri" panose="020F0502020204030204" pitchFamily="34" charset="0"/>
                        </a:rPr>
                        <a:t>Conduct focus groups</a:t>
                      </a:r>
                      <a:endParaRPr lang="en-US" sz="1200" dirty="0">
                        <a:effectLst/>
                        <a:latin typeface="Times New Roman" panose="02020603050405020304" pitchFamily="18" charset="0"/>
                        <a:ea typeface="Times New Roman" panose="02020603050405020304" pitchFamily="18" charset="0"/>
                      </a:endParaRPr>
                    </a:p>
                    <a:p>
                      <a:pPr marL="0" marR="0" lvl="0" indent="0">
                        <a:spcBef>
                          <a:spcPts val="0"/>
                        </a:spcBef>
                        <a:spcAft>
                          <a:spcPts val="0"/>
                        </a:spcAft>
                        <a:buFont typeface="Symbol" pitchFamily="2" charset="2"/>
                        <a:buNone/>
                      </a:pPr>
                      <a:r>
                        <a:rPr lang="en-US" sz="1200" dirty="0">
                          <a:effectLst/>
                          <a:latin typeface="Times New Roman" panose="02020603050405020304" pitchFamily="18" charset="0"/>
                          <a:ea typeface="Calibri" panose="020F0502020204030204" pitchFamily="34" charset="0"/>
                        </a:rPr>
                        <a:t>Publish plain‑language policy</a:t>
                      </a:r>
                      <a:endParaRPr lang="en-US" sz="1200" dirty="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987502975"/>
                  </a:ext>
                </a:extLst>
              </a:tr>
              <a:tr h="264359">
                <a:tc>
                  <a:txBody>
                    <a:bodyPr/>
                    <a:lstStyle/>
                    <a:p>
                      <a:pPr marL="0" marR="0">
                        <a:spcBef>
                          <a:spcPts val="0"/>
                        </a:spcBef>
                        <a:spcAft>
                          <a:spcPts val="0"/>
                        </a:spcAft>
                      </a:pPr>
                      <a:r>
                        <a:rPr lang="en-US" sz="1200" b="1" dirty="0">
                          <a:solidFill>
                            <a:srgbClr val="FF0000"/>
                          </a:solidFill>
                          <a:effectLst/>
                          <a:latin typeface="Times New Roman" panose="02020603050405020304" pitchFamily="18" charset="0"/>
                          <a:ea typeface="Calibri" panose="020F0502020204030204" pitchFamily="34" charset="0"/>
                        </a:rPr>
                        <a:t>AI‑Detector Vendors</a:t>
                      </a:r>
                      <a:endParaRPr lang="en-US" sz="1200" b="1" dirty="0">
                        <a:solidFill>
                          <a:srgbClr val="FF000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spcBef>
                          <a:spcPts val="0"/>
                        </a:spcBef>
                        <a:spcAft>
                          <a:spcPts val="0"/>
                        </a:spcAft>
                      </a:pPr>
                      <a:r>
                        <a:rPr lang="en-US" sz="1200" b="1" dirty="0">
                          <a:solidFill>
                            <a:srgbClr val="FF0000"/>
                          </a:solidFill>
                          <a:effectLst/>
                          <a:latin typeface="Times New Roman" panose="02020603050405020304" pitchFamily="18" charset="0"/>
                          <a:ea typeface="Calibri" panose="020F0502020204030204" pitchFamily="34" charset="0"/>
                        </a:rPr>
                        <a:t>Medium</a:t>
                      </a:r>
                      <a:endParaRPr lang="en-US" sz="1200" b="1" dirty="0">
                        <a:solidFill>
                          <a:srgbClr val="FF000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spcBef>
                          <a:spcPts val="0"/>
                        </a:spcBef>
                        <a:spcAft>
                          <a:spcPts val="0"/>
                        </a:spcAft>
                      </a:pPr>
                      <a:r>
                        <a:rPr lang="en-US" sz="1200" b="1" dirty="0">
                          <a:solidFill>
                            <a:srgbClr val="FF0000"/>
                          </a:solidFill>
                          <a:effectLst/>
                          <a:latin typeface="Times New Roman" panose="02020603050405020304" pitchFamily="18" charset="0"/>
                          <a:ea typeface="Calibri" panose="020F0502020204030204" pitchFamily="34" charset="0"/>
                        </a:rPr>
                        <a:t>Low‑Medium</a:t>
                      </a:r>
                      <a:endParaRPr lang="en-US" sz="1200" b="1" dirty="0">
                        <a:solidFill>
                          <a:srgbClr val="FF000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spcBef>
                          <a:spcPts val="0"/>
                        </a:spcBef>
                        <a:spcAft>
                          <a:spcPts val="0"/>
                        </a:spcAft>
                      </a:pPr>
                      <a:r>
                        <a:rPr lang="en-US" sz="1200" b="1" dirty="0">
                          <a:solidFill>
                            <a:srgbClr val="FF0000"/>
                          </a:solidFill>
                          <a:effectLst/>
                          <a:latin typeface="Times New Roman" panose="02020603050405020304" pitchFamily="18" charset="0"/>
                          <a:ea typeface="Calibri" panose="020F0502020204030204" pitchFamily="34" charset="0"/>
                        </a:rPr>
                        <a:t>Monitor</a:t>
                      </a:r>
                      <a:endParaRPr lang="en-US" sz="1200" b="1" dirty="0">
                        <a:solidFill>
                          <a:srgbClr val="FF0000"/>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lvl="0" indent="0">
                        <a:spcBef>
                          <a:spcPts val="0"/>
                        </a:spcBef>
                        <a:spcAft>
                          <a:spcPts val="0"/>
                        </a:spcAft>
                        <a:buFont typeface="Symbol" pitchFamily="2" charset="2"/>
                        <a:buNone/>
                      </a:pPr>
                      <a:r>
                        <a:rPr lang="en-US" sz="1200" b="1" dirty="0">
                          <a:solidFill>
                            <a:srgbClr val="FF0000"/>
                          </a:solidFill>
                          <a:effectLst/>
                          <a:latin typeface="Times New Roman" panose="02020603050405020304" pitchFamily="18" charset="0"/>
                          <a:ea typeface="Calibri" panose="020F0502020204030204" pitchFamily="34" charset="0"/>
                        </a:rPr>
                        <a:t>Request bias‑mitigation documentation</a:t>
                      </a:r>
                      <a:endParaRPr lang="en-US" sz="1200" b="1" dirty="0">
                        <a:solidFill>
                          <a:srgbClr val="FF0000"/>
                        </a:solidFill>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2698978278"/>
                  </a:ext>
                </a:extLst>
              </a:tr>
              <a:tr h="264359">
                <a:tc>
                  <a:txBody>
                    <a:bodyPr/>
                    <a:lstStyle/>
                    <a:p>
                      <a:pPr marL="0" marR="0">
                        <a:spcBef>
                          <a:spcPts val="0"/>
                        </a:spcBef>
                        <a:spcAft>
                          <a:spcPts val="0"/>
                        </a:spcAft>
                      </a:pPr>
                      <a:r>
                        <a:rPr lang="en-US" sz="1200" b="1" dirty="0">
                          <a:effectLst/>
                          <a:latin typeface="Times New Roman" panose="02020603050405020304" pitchFamily="18" charset="0"/>
                          <a:ea typeface="Calibri" panose="020F0502020204030204" pitchFamily="34" charset="0"/>
                        </a:rPr>
                        <a:t>Education Agencies</a:t>
                      </a:r>
                      <a:endParaRPr lang="en-US" sz="1200"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spcBef>
                          <a:spcPts val="0"/>
                        </a:spcBef>
                        <a:spcAft>
                          <a:spcPts val="0"/>
                        </a:spcAft>
                      </a:pPr>
                      <a:r>
                        <a:rPr lang="en-US" sz="1200">
                          <a:effectLst/>
                          <a:latin typeface="Times New Roman" panose="02020603050405020304" pitchFamily="18" charset="0"/>
                          <a:ea typeface="Calibri" panose="020F0502020204030204" pitchFamily="34" charset="0"/>
                        </a:rPr>
                        <a:t>High</a:t>
                      </a:r>
                      <a:endParaRPr lang="en-US" sz="120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spcBef>
                          <a:spcPts val="0"/>
                        </a:spcBef>
                        <a:spcAft>
                          <a:spcPts val="0"/>
                        </a:spcAft>
                      </a:pPr>
                      <a:r>
                        <a:rPr lang="en-US" sz="1200">
                          <a:effectLst/>
                          <a:latin typeface="Times New Roman" panose="02020603050405020304" pitchFamily="18" charset="0"/>
                          <a:ea typeface="Calibri" panose="020F0502020204030204" pitchFamily="34" charset="0"/>
                        </a:rPr>
                        <a:t>Low‑Medium</a:t>
                      </a:r>
                      <a:endParaRPr lang="en-US" sz="120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spcBef>
                          <a:spcPts val="0"/>
                        </a:spcBef>
                        <a:spcAft>
                          <a:spcPts val="0"/>
                        </a:spcAft>
                      </a:pPr>
                      <a:r>
                        <a:rPr lang="en-US" sz="1200">
                          <a:effectLst/>
                          <a:latin typeface="Times New Roman" panose="02020603050405020304" pitchFamily="18" charset="0"/>
                          <a:ea typeface="Calibri" panose="020F0502020204030204" pitchFamily="34" charset="0"/>
                        </a:rPr>
                        <a:t>Keep Satisfied</a:t>
                      </a:r>
                      <a:endParaRPr lang="en-US" sz="120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lvl="0" indent="0">
                        <a:spcBef>
                          <a:spcPts val="0"/>
                        </a:spcBef>
                        <a:spcAft>
                          <a:spcPts val="0"/>
                        </a:spcAft>
                        <a:buFont typeface="Symbol" pitchFamily="2" charset="2"/>
                        <a:buNone/>
                      </a:pPr>
                      <a:r>
                        <a:rPr lang="en-US" sz="1200" dirty="0">
                          <a:effectLst/>
                          <a:latin typeface="Times New Roman" panose="02020603050405020304" pitchFamily="18" charset="0"/>
                          <a:ea typeface="Calibri" panose="020F0502020204030204" pitchFamily="34" charset="0"/>
                        </a:rPr>
                        <a:t>Submit compliance summary</a:t>
                      </a:r>
                      <a:endParaRPr lang="en-US" sz="1200" dirty="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2359945620"/>
                  </a:ext>
                </a:extLst>
              </a:tr>
              <a:tr h="396538">
                <a:tc>
                  <a:txBody>
                    <a:bodyPr/>
                    <a:lstStyle/>
                    <a:p>
                      <a:pPr marL="0" marR="0">
                        <a:spcBef>
                          <a:spcPts val="0"/>
                        </a:spcBef>
                        <a:spcAft>
                          <a:spcPts val="0"/>
                        </a:spcAft>
                      </a:pPr>
                      <a:r>
                        <a:rPr lang="en-US" sz="1200" b="1" dirty="0">
                          <a:solidFill>
                            <a:srgbClr val="000000"/>
                          </a:solidFill>
                          <a:effectLst/>
                          <a:latin typeface="Times New Roman" panose="02020603050405020304" pitchFamily="18" charset="0"/>
                          <a:ea typeface="Calibri" panose="020F0502020204030204" pitchFamily="34" charset="0"/>
                        </a:rPr>
                        <a:t>Student Government</a:t>
                      </a:r>
                      <a:endParaRPr lang="en-US" sz="1200"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spcBef>
                          <a:spcPts val="0"/>
                        </a:spcBef>
                        <a:spcAft>
                          <a:spcPts val="0"/>
                        </a:spcAft>
                      </a:pPr>
                      <a:r>
                        <a:rPr lang="en-US" sz="1200" dirty="0">
                          <a:solidFill>
                            <a:srgbClr val="000000"/>
                          </a:solidFill>
                          <a:effectLst/>
                          <a:latin typeface="Times New Roman" panose="02020603050405020304" pitchFamily="18" charset="0"/>
                          <a:ea typeface="Calibri" panose="020F0502020204030204" pitchFamily="34" charset="0"/>
                        </a:rPr>
                        <a:t>Low‑Medium</a:t>
                      </a:r>
                      <a:endParaRPr lang="en-US" sz="1200"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spcBef>
                          <a:spcPts val="0"/>
                        </a:spcBef>
                        <a:spcAft>
                          <a:spcPts val="0"/>
                        </a:spcAft>
                      </a:pPr>
                      <a:r>
                        <a:rPr lang="en-US" sz="1200" dirty="0">
                          <a:solidFill>
                            <a:srgbClr val="000000"/>
                          </a:solidFill>
                          <a:effectLst/>
                          <a:latin typeface="Times New Roman" panose="02020603050405020304" pitchFamily="18" charset="0"/>
                          <a:ea typeface="Calibri" panose="020F0502020204030204" pitchFamily="34" charset="0"/>
                        </a:rPr>
                        <a:t>High</a:t>
                      </a:r>
                      <a:endParaRPr lang="en-US" sz="1200"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spcBef>
                          <a:spcPts val="0"/>
                        </a:spcBef>
                        <a:spcAft>
                          <a:spcPts val="0"/>
                        </a:spcAft>
                      </a:pPr>
                      <a:r>
                        <a:rPr lang="en-US" sz="1200" dirty="0">
                          <a:solidFill>
                            <a:srgbClr val="000000"/>
                          </a:solidFill>
                          <a:effectLst/>
                          <a:latin typeface="Times New Roman" panose="02020603050405020304" pitchFamily="18" charset="0"/>
                          <a:ea typeface="Calibri" panose="020F0502020204030204" pitchFamily="34" charset="0"/>
                        </a:rPr>
                        <a:t>Keep Informed</a:t>
                      </a:r>
                      <a:endParaRPr lang="en-US" sz="1200"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lvl="0" indent="0">
                        <a:spcBef>
                          <a:spcPts val="0"/>
                        </a:spcBef>
                        <a:spcAft>
                          <a:spcPts val="0"/>
                        </a:spcAft>
                        <a:buFont typeface="Symbol" pitchFamily="2" charset="2"/>
                        <a:buNone/>
                      </a:pPr>
                      <a:r>
                        <a:rPr lang="en-US" sz="1200" dirty="0">
                          <a:solidFill>
                            <a:srgbClr val="000000"/>
                          </a:solidFill>
                          <a:effectLst/>
                          <a:latin typeface="Times New Roman" panose="02020603050405020304" pitchFamily="18" charset="0"/>
                          <a:ea typeface="Calibri" panose="020F0502020204030204" pitchFamily="34" charset="0"/>
                        </a:rPr>
                        <a:t>Invite to review meetings</a:t>
                      </a:r>
                      <a:endParaRPr lang="en-US" sz="1200" dirty="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2916522031"/>
                  </a:ext>
                </a:extLst>
              </a:tr>
              <a:tr h="264359">
                <a:tc>
                  <a:txBody>
                    <a:bodyPr/>
                    <a:lstStyle/>
                    <a:p>
                      <a:pPr marL="0" marR="0">
                        <a:spcBef>
                          <a:spcPts val="0"/>
                        </a:spcBef>
                        <a:spcAft>
                          <a:spcPts val="0"/>
                        </a:spcAft>
                      </a:pPr>
                      <a:r>
                        <a:rPr lang="en-US" sz="1200" b="1" dirty="0">
                          <a:effectLst/>
                          <a:latin typeface="Times New Roman" panose="02020603050405020304" pitchFamily="18" charset="0"/>
                          <a:ea typeface="Calibri" panose="020F0502020204030204" pitchFamily="34" charset="0"/>
                        </a:rPr>
                        <a:t>General Public / Media</a:t>
                      </a:r>
                      <a:endParaRPr lang="en-US" sz="1200"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spcBef>
                          <a:spcPts val="0"/>
                        </a:spcBef>
                        <a:spcAft>
                          <a:spcPts val="0"/>
                        </a:spcAft>
                      </a:pPr>
                      <a:r>
                        <a:rPr lang="en-US" sz="1200" dirty="0">
                          <a:effectLst/>
                          <a:latin typeface="Times New Roman" panose="02020603050405020304" pitchFamily="18" charset="0"/>
                          <a:ea typeface="Calibri" panose="020F0502020204030204" pitchFamily="34" charset="0"/>
                        </a:rPr>
                        <a:t>Low</a:t>
                      </a:r>
                      <a:endParaRPr lang="en-US" sz="1200"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spcBef>
                          <a:spcPts val="0"/>
                        </a:spcBef>
                        <a:spcAft>
                          <a:spcPts val="0"/>
                        </a:spcAft>
                      </a:pPr>
                      <a:r>
                        <a:rPr lang="en-US" sz="1200" dirty="0">
                          <a:effectLst/>
                          <a:latin typeface="Times New Roman" panose="02020603050405020304" pitchFamily="18" charset="0"/>
                          <a:ea typeface="Calibri" panose="020F0502020204030204" pitchFamily="34" charset="0"/>
                        </a:rPr>
                        <a:t>Low</a:t>
                      </a:r>
                      <a:endParaRPr lang="en-US" sz="1200"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spcBef>
                          <a:spcPts val="0"/>
                        </a:spcBef>
                        <a:spcAft>
                          <a:spcPts val="0"/>
                        </a:spcAft>
                      </a:pPr>
                      <a:r>
                        <a:rPr lang="en-US" sz="1200" dirty="0">
                          <a:effectLst/>
                          <a:latin typeface="Times New Roman" panose="02020603050405020304" pitchFamily="18" charset="0"/>
                          <a:ea typeface="Calibri" panose="020F0502020204030204" pitchFamily="34" charset="0"/>
                        </a:rPr>
                        <a:t>Monitor</a:t>
                      </a:r>
                      <a:endParaRPr lang="en-US" sz="1200"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lvl="0" indent="0">
                        <a:spcBef>
                          <a:spcPts val="0"/>
                        </a:spcBef>
                        <a:spcAft>
                          <a:spcPts val="0"/>
                        </a:spcAft>
                        <a:buFont typeface="Symbol" pitchFamily="2" charset="2"/>
                        <a:buNone/>
                      </a:pPr>
                      <a:r>
                        <a:rPr lang="en-US" sz="1200" dirty="0">
                          <a:effectLst/>
                          <a:latin typeface="Times New Roman" panose="02020603050405020304" pitchFamily="18" charset="0"/>
                          <a:ea typeface="Calibri" panose="020F0502020204030204" pitchFamily="34" charset="0"/>
                        </a:rPr>
                        <a:t>Prepare press kit (on‑demand)</a:t>
                      </a:r>
                      <a:endParaRPr lang="en-US" sz="1200" dirty="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1490010176"/>
                  </a:ext>
                </a:extLst>
              </a:tr>
            </a:tbl>
          </a:graphicData>
        </a:graphic>
      </p:graphicFrame>
      <p:sp>
        <p:nvSpPr>
          <p:cNvPr id="9" name="TextBox 8">
            <a:extLst>
              <a:ext uri="{FF2B5EF4-FFF2-40B4-BE49-F238E27FC236}">
                <a16:creationId xmlns:a16="http://schemas.microsoft.com/office/drawing/2014/main" id="{AD14FC9A-638C-5470-70AD-84BB27A93E9D}"/>
              </a:ext>
            </a:extLst>
          </p:cNvPr>
          <p:cNvSpPr txBox="1"/>
          <p:nvPr/>
        </p:nvSpPr>
        <p:spPr>
          <a:xfrm>
            <a:off x="4084003" y="4609757"/>
            <a:ext cx="2053767" cy="477054"/>
          </a:xfrm>
          <a:prstGeom prst="rect">
            <a:avLst/>
          </a:prstGeom>
          <a:noFill/>
        </p:spPr>
        <p:txBody>
          <a:bodyPr wrap="none" rtlCol="0">
            <a:spAutoFit/>
          </a:bodyPr>
          <a:lstStyle/>
          <a:p>
            <a:r>
              <a:rPr lang="en-US" sz="2500" dirty="0"/>
              <a:t>Stakeholders</a:t>
            </a:r>
          </a:p>
        </p:txBody>
      </p:sp>
      <p:pic>
        <p:nvPicPr>
          <p:cNvPr id="12" name="Camera 11">
            <a:extLst>
              <a:ext uri="{FF2B5EF4-FFF2-40B4-BE49-F238E27FC236}">
                <a16:creationId xmlns:a16="http://schemas.microsoft.com/office/drawing/2014/main" id="{624758E3-44C3-D8D2-C126-5AF5B81D1C9F}"/>
              </a:ext>
            </a:extLst>
          </p:cNvPr>
          <p:cNvPicPr>
            <a:picLocks noChangeAspect="1"/>
            <a:extLst>
              <a:ext uri="{51228E76-BA90-4043-B771-695A4F85340A}">
                <alf:liveFeedProps xmlns:alf="http://schemas.microsoft.com/office/drawing/2021/livefeed"/>
              </a:ext>
            </a:extLst>
          </p:cNvPicPr>
          <p:nvPr/>
        </p:nvPicPr>
        <p:blipFill>
          <a:blip r:embed="rId3">
            <a:extLst>
              <a:ext uri="{96DAC541-7B7A-43D3-8B79-37D633B846F1}">
                <asvg:svgBlip xmlns:asvg="http://schemas.microsoft.com/office/drawing/2016/SVG/main" r:embed="rId4"/>
              </a:ext>
            </a:extLst>
          </a:blip>
          <a:stretch>
            <a:fillRect/>
          </a:stretch>
        </p:blipFill>
        <p:spPr>
          <a:xfrm>
            <a:off x="7792926" y="3792426"/>
            <a:ext cx="1289351" cy="1289351"/>
          </a:xfrm>
          <a:prstGeom prst="ellipse">
            <a:avLst/>
          </a:prstGeom>
          <a:ln>
            <a:noFill/>
          </a:ln>
          <a:effectLst>
            <a:softEdge rad="127000"/>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1">
          <a:extLst>
            <a:ext uri="{FF2B5EF4-FFF2-40B4-BE49-F238E27FC236}">
              <a16:creationId xmlns:a16="http://schemas.microsoft.com/office/drawing/2014/main" id="{CBD9F0EF-B673-695F-A2DB-A63092F45D88}"/>
            </a:ext>
          </a:extLst>
        </p:cNvPr>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9DE9F0BB-22FE-0995-D7C3-5F69CB6EA916}"/>
              </a:ext>
            </a:extLst>
          </p:cNvPr>
          <p:cNvGraphicFramePr>
            <a:graphicFrameLocks noGrp="1"/>
          </p:cNvGraphicFramePr>
          <p:nvPr>
            <p:extLst>
              <p:ext uri="{D42A27DB-BD31-4B8C-83A1-F6EECF244321}">
                <p14:modId xmlns:p14="http://schemas.microsoft.com/office/powerpoint/2010/main" val="1769039057"/>
              </p:ext>
            </p:extLst>
          </p:nvPr>
        </p:nvGraphicFramePr>
        <p:xfrm>
          <a:off x="212006" y="446727"/>
          <a:ext cx="7703270" cy="3496626"/>
        </p:xfrm>
        <a:graphic>
          <a:graphicData uri="http://schemas.openxmlformats.org/drawingml/2006/table">
            <a:tbl>
              <a:tblPr firstRow="1" bandRow="1">
                <a:tableStyleId>{5C22544A-7EE6-4342-B048-85BDC9FD1C3A}</a:tableStyleId>
              </a:tblPr>
              <a:tblGrid>
                <a:gridCol w="1630947">
                  <a:extLst>
                    <a:ext uri="{9D8B030D-6E8A-4147-A177-3AD203B41FA5}">
                      <a16:colId xmlns:a16="http://schemas.microsoft.com/office/drawing/2014/main" val="2326593050"/>
                    </a:ext>
                  </a:extLst>
                </a:gridCol>
                <a:gridCol w="2840701">
                  <a:extLst>
                    <a:ext uri="{9D8B030D-6E8A-4147-A177-3AD203B41FA5}">
                      <a16:colId xmlns:a16="http://schemas.microsoft.com/office/drawing/2014/main" val="3025345546"/>
                    </a:ext>
                  </a:extLst>
                </a:gridCol>
                <a:gridCol w="3231622">
                  <a:extLst>
                    <a:ext uri="{9D8B030D-6E8A-4147-A177-3AD203B41FA5}">
                      <a16:colId xmlns:a16="http://schemas.microsoft.com/office/drawing/2014/main" val="1036428492"/>
                    </a:ext>
                  </a:extLst>
                </a:gridCol>
              </a:tblGrid>
              <a:tr h="542673">
                <a:tc>
                  <a:txBody>
                    <a:bodyPr/>
                    <a:lstStyle/>
                    <a:p>
                      <a:pPr marL="0" marR="0" algn="ctr">
                        <a:spcBef>
                          <a:spcPts val="0"/>
                        </a:spcBef>
                        <a:spcAft>
                          <a:spcPts val="0"/>
                        </a:spcAft>
                      </a:pPr>
                      <a:r>
                        <a:rPr lang="en-US" sz="1800" b="1" dirty="0">
                          <a:solidFill>
                            <a:srgbClr val="FFFFFF"/>
                          </a:solidFill>
                          <a:effectLst/>
                          <a:latin typeface="Times New Roman" panose="02020603050405020304" pitchFamily="18" charset="0"/>
                          <a:ea typeface="Calibri" panose="020F0502020204030204" pitchFamily="34" charset="0"/>
                        </a:rPr>
                        <a:t>Stakeholder</a:t>
                      </a:r>
                      <a:endParaRPr lang="en-US" sz="1800"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1800" dirty="0">
                          <a:effectLst/>
                          <a:latin typeface="Times New Roman" panose="02020603050405020304" pitchFamily="18" charset="0"/>
                          <a:ea typeface="Times New Roman" panose="02020603050405020304" pitchFamily="18" charset="0"/>
                        </a:rPr>
                        <a:t>Need(s)</a:t>
                      </a:r>
                    </a:p>
                  </a:txBody>
                  <a:tcPr marL="68580" marR="68580" marT="0" marB="0"/>
                </a:tc>
                <a:tc>
                  <a:txBody>
                    <a:bodyPr/>
                    <a:lstStyle/>
                    <a:p>
                      <a:pPr marL="0" marR="0" algn="ctr">
                        <a:spcBef>
                          <a:spcPts val="0"/>
                        </a:spcBef>
                        <a:spcAft>
                          <a:spcPts val="0"/>
                        </a:spcAft>
                      </a:pPr>
                      <a:r>
                        <a:rPr lang="en-US" sz="1800" b="1" dirty="0">
                          <a:solidFill>
                            <a:srgbClr val="FFFFFF"/>
                          </a:solidFill>
                          <a:effectLst/>
                          <a:latin typeface="Times New Roman" panose="02020603050405020304" pitchFamily="18" charset="0"/>
                          <a:ea typeface="Calibri" panose="020F0502020204030204" pitchFamily="34" charset="0"/>
                        </a:rPr>
                        <a:t>How GAIDA Policy responds to the stated Need</a:t>
                      </a:r>
                      <a:endParaRPr lang="en-US" sz="1800" dirty="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3542094753"/>
                  </a:ext>
                </a:extLst>
              </a:tr>
              <a:tr h="391291">
                <a:tc>
                  <a:txBody>
                    <a:bodyPr/>
                    <a:lstStyle/>
                    <a:p>
                      <a:pPr marL="0" marR="0">
                        <a:spcBef>
                          <a:spcPts val="0"/>
                        </a:spcBef>
                        <a:spcAft>
                          <a:spcPts val="0"/>
                        </a:spcAft>
                      </a:pPr>
                      <a:r>
                        <a:rPr lang="en-US" sz="1000" b="1" dirty="0">
                          <a:solidFill>
                            <a:srgbClr val="000000"/>
                          </a:solidFill>
                          <a:effectLst/>
                          <a:latin typeface="Times New Roman" panose="02020603050405020304" pitchFamily="18" charset="0"/>
                          <a:ea typeface="Calibri" panose="020F0502020204030204" pitchFamily="34" charset="0"/>
                        </a:rPr>
                        <a:t>Provost / Academic Integrity Office</a:t>
                      </a:r>
                      <a:endParaRPr lang="en-US" sz="1000"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lvl="0" indent="0">
                        <a:spcBef>
                          <a:spcPts val="0"/>
                        </a:spcBef>
                        <a:spcAft>
                          <a:spcPts val="0"/>
                        </a:spcAft>
                        <a:buFont typeface="Symbol" pitchFamily="2" charset="2"/>
                        <a:buNone/>
                      </a:pPr>
                      <a:r>
                        <a:rPr lang="en-US" sz="1000" dirty="0">
                          <a:effectLst/>
                          <a:latin typeface="Times New Roman" panose="02020603050405020304" pitchFamily="18" charset="0"/>
                          <a:ea typeface="Times New Roman" panose="02020603050405020304" pitchFamily="18" charset="0"/>
                        </a:rPr>
                        <a:t>Needs a way to Enforce Academic Integrity rulings</a:t>
                      </a:r>
                    </a:p>
                  </a:txBody>
                  <a:tcPr marL="68580" marR="68580" marT="0" marB="0"/>
                </a:tc>
                <a:tc>
                  <a:txBody>
                    <a:bodyPr/>
                    <a:lstStyle/>
                    <a:p>
                      <a:pPr marL="0" marR="0" lvl="0" indent="0">
                        <a:spcBef>
                          <a:spcPts val="0"/>
                        </a:spcBef>
                        <a:spcAft>
                          <a:spcPts val="0"/>
                        </a:spcAft>
                        <a:buFont typeface="Symbol" pitchFamily="2" charset="2"/>
                        <a:buNone/>
                      </a:pPr>
                      <a:r>
                        <a:rPr lang="en-US" sz="1000" dirty="0">
                          <a:effectLst/>
                          <a:latin typeface="Times New Roman" panose="02020603050405020304" pitchFamily="18" charset="0"/>
                          <a:ea typeface="Times New Roman" panose="02020603050405020304" pitchFamily="18" charset="0"/>
                        </a:rPr>
                        <a:t>Enforce integrity, giving direct guidance about AI detection use</a:t>
                      </a:r>
                    </a:p>
                  </a:txBody>
                  <a:tcPr marL="68580" marR="68580" marT="0" marB="0"/>
                </a:tc>
                <a:extLst>
                  <a:ext uri="{0D108BD9-81ED-4DB2-BD59-A6C34878D82A}">
                    <a16:rowId xmlns:a16="http://schemas.microsoft.com/office/drawing/2014/main" val="121160112"/>
                  </a:ext>
                </a:extLst>
              </a:tr>
              <a:tr h="138498">
                <a:tc>
                  <a:txBody>
                    <a:bodyPr/>
                    <a:lstStyle/>
                    <a:p>
                      <a:pPr marL="0" marR="0">
                        <a:spcBef>
                          <a:spcPts val="0"/>
                        </a:spcBef>
                        <a:spcAft>
                          <a:spcPts val="0"/>
                        </a:spcAft>
                      </a:pPr>
                      <a:r>
                        <a:rPr lang="en-US" sz="1000" b="1" dirty="0">
                          <a:effectLst/>
                          <a:latin typeface="Times New Roman" panose="02020603050405020304" pitchFamily="18" charset="0"/>
                          <a:ea typeface="Calibri" panose="020F0502020204030204" pitchFamily="34" charset="0"/>
                        </a:rPr>
                        <a:t>Legal / Compliance Office</a:t>
                      </a:r>
                      <a:endParaRPr lang="en-US" sz="1000"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lvl="0" indent="0">
                        <a:spcBef>
                          <a:spcPts val="0"/>
                        </a:spcBef>
                        <a:spcAft>
                          <a:spcPts val="0"/>
                        </a:spcAft>
                        <a:buFont typeface="Symbol" pitchFamily="2" charset="2"/>
                        <a:buNone/>
                      </a:pPr>
                      <a:r>
                        <a:rPr lang="en-US" sz="1000" dirty="0">
                          <a:effectLst/>
                          <a:latin typeface="Times New Roman" panose="02020603050405020304" pitchFamily="18" charset="0"/>
                          <a:ea typeface="Times New Roman" panose="02020603050405020304" pitchFamily="18" charset="0"/>
                        </a:rPr>
                        <a:t>Needs a way to avoid costly lawsuits</a:t>
                      </a:r>
                    </a:p>
                  </a:txBody>
                  <a:tcPr marL="68580" marR="68580" marT="0" marB="0"/>
                </a:tc>
                <a:tc>
                  <a:txBody>
                    <a:bodyPr/>
                    <a:lstStyle/>
                    <a:p>
                      <a:pPr marL="0" marR="0" lvl="0" indent="0">
                        <a:spcBef>
                          <a:spcPts val="0"/>
                        </a:spcBef>
                        <a:spcAft>
                          <a:spcPts val="0"/>
                        </a:spcAft>
                        <a:buFont typeface="Symbol" pitchFamily="2" charset="2"/>
                        <a:buNone/>
                      </a:pPr>
                      <a:r>
                        <a:rPr lang="en-US" sz="1000" dirty="0">
                          <a:effectLst/>
                          <a:latin typeface="Times New Roman" panose="02020603050405020304" pitchFamily="18" charset="0"/>
                          <a:ea typeface="Times New Roman" panose="02020603050405020304" pitchFamily="18" charset="0"/>
                        </a:rPr>
                        <a:t>Lays grounds to preclude lawsuits</a:t>
                      </a:r>
                    </a:p>
                  </a:txBody>
                  <a:tcPr marL="68580" marR="68580" marT="0" marB="0"/>
                </a:tc>
                <a:extLst>
                  <a:ext uri="{0D108BD9-81ED-4DB2-BD59-A6C34878D82A}">
                    <a16:rowId xmlns:a16="http://schemas.microsoft.com/office/drawing/2014/main" val="3818967019"/>
                  </a:ext>
                </a:extLst>
              </a:tr>
              <a:tr h="138498">
                <a:tc>
                  <a:txBody>
                    <a:bodyPr/>
                    <a:lstStyle/>
                    <a:p>
                      <a:pPr marL="0" marR="0">
                        <a:spcBef>
                          <a:spcPts val="0"/>
                        </a:spcBef>
                        <a:spcAft>
                          <a:spcPts val="0"/>
                        </a:spcAft>
                      </a:pPr>
                      <a:r>
                        <a:rPr lang="en-US" sz="1000" b="1" dirty="0">
                          <a:solidFill>
                            <a:srgbClr val="000000"/>
                          </a:solidFill>
                          <a:effectLst/>
                          <a:latin typeface="Times New Roman" panose="02020603050405020304" pitchFamily="18" charset="0"/>
                          <a:ea typeface="Calibri" panose="020F0502020204030204" pitchFamily="34" charset="0"/>
                        </a:rPr>
                        <a:t>IT Services</a:t>
                      </a:r>
                      <a:endParaRPr lang="en-US" sz="1000"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lvl="0" indent="0">
                        <a:spcBef>
                          <a:spcPts val="0"/>
                        </a:spcBef>
                        <a:spcAft>
                          <a:spcPts val="0"/>
                        </a:spcAft>
                        <a:buFont typeface="Symbol" pitchFamily="2" charset="2"/>
                        <a:buNone/>
                      </a:pPr>
                      <a:r>
                        <a:rPr lang="en-US" sz="1000" dirty="0">
                          <a:effectLst/>
                          <a:latin typeface="Times New Roman" panose="02020603050405020304" pitchFamily="18" charset="0"/>
                          <a:ea typeface="Times New Roman" panose="02020603050405020304" pitchFamily="18" charset="0"/>
                        </a:rPr>
                        <a:t>Wishes to be part of the solution</a:t>
                      </a:r>
                    </a:p>
                  </a:txBody>
                  <a:tcPr marL="68580" marR="68580" marT="0" marB="0"/>
                </a:tc>
                <a:tc>
                  <a:txBody>
                    <a:bodyPr/>
                    <a:lstStyle/>
                    <a:p>
                      <a:pPr marL="0" marR="0" lvl="0" indent="0">
                        <a:spcBef>
                          <a:spcPts val="0"/>
                        </a:spcBef>
                        <a:spcAft>
                          <a:spcPts val="0"/>
                        </a:spcAft>
                        <a:buFont typeface="Symbol" pitchFamily="2" charset="2"/>
                        <a:buNone/>
                      </a:pPr>
                      <a:r>
                        <a:rPr lang="en-US" sz="1000" dirty="0">
                          <a:effectLst/>
                          <a:latin typeface="Times New Roman" panose="02020603050405020304" pitchFamily="18" charset="0"/>
                          <a:ea typeface="Times New Roman" panose="02020603050405020304" pitchFamily="18" charset="0"/>
                        </a:rPr>
                        <a:t>Becomes part of the solution</a:t>
                      </a:r>
                    </a:p>
                  </a:txBody>
                  <a:tcPr marL="68580" marR="68580" marT="0" marB="0"/>
                </a:tc>
                <a:extLst>
                  <a:ext uri="{0D108BD9-81ED-4DB2-BD59-A6C34878D82A}">
                    <a16:rowId xmlns:a16="http://schemas.microsoft.com/office/drawing/2014/main" val="1529212792"/>
                  </a:ext>
                </a:extLst>
              </a:tr>
              <a:tr h="276995">
                <a:tc>
                  <a:txBody>
                    <a:bodyPr/>
                    <a:lstStyle/>
                    <a:p>
                      <a:pPr marL="0" marR="0">
                        <a:spcBef>
                          <a:spcPts val="0"/>
                        </a:spcBef>
                        <a:spcAft>
                          <a:spcPts val="0"/>
                        </a:spcAft>
                      </a:pPr>
                      <a:r>
                        <a:rPr lang="en-US" sz="1000" b="1" dirty="0">
                          <a:effectLst/>
                          <a:latin typeface="Times New Roman" panose="02020603050405020304" pitchFamily="18" charset="0"/>
                          <a:ea typeface="Calibri" panose="020F0502020204030204" pitchFamily="34" charset="0"/>
                        </a:rPr>
                        <a:t>Faculty Senate / Dept. Chairs</a:t>
                      </a:r>
                      <a:endParaRPr lang="en-US" sz="1000"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lvl="0" indent="0">
                        <a:spcBef>
                          <a:spcPts val="0"/>
                        </a:spcBef>
                        <a:spcAft>
                          <a:spcPts val="0"/>
                        </a:spcAft>
                        <a:buFont typeface="Symbol" pitchFamily="2" charset="2"/>
                        <a:buNone/>
                      </a:pPr>
                      <a:r>
                        <a:rPr lang="en-US" sz="1000" dirty="0">
                          <a:effectLst/>
                          <a:latin typeface="Times New Roman" panose="02020603050405020304" pitchFamily="18" charset="0"/>
                          <a:ea typeface="Times New Roman" panose="02020603050405020304" pitchFamily="18" charset="0"/>
                        </a:rPr>
                        <a:t>Does NOT want to be responsible for Decisions that may adversely affect students</a:t>
                      </a:r>
                    </a:p>
                  </a:txBody>
                  <a:tcPr marL="68580" marR="68580" marT="0" marB="0"/>
                </a:tc>
                <a:tc>
                  <a:txBody>
                    <a:bodyPr/>
                    <a:lstStyle/>
                    <a:p>
                      <a:pPr marL="0" marR="0" lvl="0" indent="0">
                        <a:spcBef>
                          <a:spcPts val="0"/>
                        </a:spcBef>
                        <a:spcAft>
                          <a:spcPts val="0"/>
                        </a:spcAft>
                        <a:buFont typeface="Symbol" pitchFamily="2" charset="2"/>
                        <a:buNone/>
                      </a:pPr>
                      <a:r>
                        <a:rPr lang="en-US" sz="1000" dirty="0">
                          <a:effectLst/>
                          <a:latin typeface="Times New Roman" panose="02020603050405020304" pitchFamily="18" charset="0"/>
                          <a:ea typeface="Times New Roman" panose="02020603050405020304" pitchFamily="18" charset="0"/>
                        </a:rPr>
                        <a:t>Onus no longer on faculty committees</a:t>
                      </a:r>
                    </a:p>
                  </a:txBody>
                  <a:tcPr marL="68580" marR="68580" marT="0" marB="0"/>
                </a:tc>
                <a:extLst>
                  <a:ext uri="{0D108BD9-81ED-4DB2-BD59-A6C34878D82A}">
                    <a16:rowId xmlns:a16="http://schemas.microsoft.com/office/drawing/2014/main" val="352003389"/>
                  </a:ext>
                </a:extLst>
              </a:tr>
              <a:tr h="276995">
                <a:tc>
                  <a:txBody>
                    <a:bodyPr/>
                    <a:lstStyle/>
                    <a:p>
                      <a:pPr marL="0" marR="0">
                        <a:spcBef>
                          <a:spcPts val="0"/>
                        </a:spcBef>
                        <a:spcAft>
                          <a:spcPts val="0"/>
                        </a:spcAft>
                      </a:pPr>
                      <a:r>
                        <a:rPr lang="en-US" sz="1000" b="1" dirty="0">
                          <a:solidFill>
                            <a:srgbClr val="000000"/>
                          </a:solidFill>
                          <a:effectLst/>
                          <a:latin typeface="Times New Roman" panose="02020603050405020304" pitchFamily="18" charset="0"/>
                          <a:ea typeface="Calibri" panose="020F0502020204030204" pitchFamily="34" charset="0"/>
                        </a:rPr>
                        <a:t>Individual Instructors</a:t>
                      </a:r>
                      <a:endParaRPr lang="en-US" sz="1000"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lvl="0" indent="0">
                        <a:spcBef>
                          <a:spcPts val="0"/>
                        </a:spcBef>
                        <a:spcAft>
                          <a:spcPts val="0"/>
                        </a:spcAft>
                        <a:buFont typeface="Symbol" pitchFamily="2" charset="2"/>
                        <a:buNone/>
                      </a:pPr>
                      <a:r>
                        <a:rPr lang="en-US" sz="1000" dirty="0">
                          <a:effectLst/>
                          <a:latin typeface="Times New Roman" panose="02020603050405020304" pitchFamily="18" charset="0"/>
                          <a:ea typeface="Times New Roman" panose="02020603050405020304" pitchFamily="18" charset="0"/>
                        </a:rPr>
                        <a:t>Do not want to be solely responsible for deciding whether a work is AI generated</a:t>
                      </a:r>
                    </a:p>
                  </a:txBody>
                  <a:tcPr marL="68580" marR="68580" marT="0" marB="0"/>
                </a:tc>
                <a:tc>
                  <a:txBody>
                    <a:bodyPr/>
                    <a:lstStyle/>
                    <a:p>
                      <a:pPr marL="0" marR="0" lvl="0" indent="0">
                        <a:spcBef>
                          <a:spcPts val="0"/>
                        </a:spcBef>
                        <a:spcAft>
                          <a:spcPts val="0"/>
                        </a:spcAft>
                        <a:buFont typeface="Symbol" pitchFamily="2" charset="2"/>
                        <a:buNone/>
                      </a:pPr>
                      <a:r>
                        <a:rPr lang="en-US" sz="1000" dirty="0">
                          <a:effectLst/>
                          <a:latin typeface="Times New Roman" panose="02020603050405020304" pitchFamily="18" charset="0"/>
                          <a:ea typeface="Times New Roman" panose="02020603050405020304" pitchFamily="18" charset="0"/>
                        </a:rPr>
                        <a:t>Onus no longer on faculty</a:t>
                      </a:r>
                    </a:p>
                  </a:txBody>
                  <a:tcPr marL="68580" marR="68580" marT="0" marB="0"/>
                </a:tc>
                <a:extLst>
                  <a:ext uri="{0D108BD9-81ED-4DB2-BD59-A6C34878D82A}">
                    <a16:rowId xmlns:a16="http://schemas.microsoft.com/office/drawing/2014/main" val="2678477241"/>
                  </a:ext>
                </a:extLst>
              </a:tr>
              <a:tr h="276995">
                <a:tc>
                  <a:txBody>
                    <a:bodyPr/>
                    <a:lstStyle/>
                    <a:p>
                      <a:pPr marL="0" marR="0">
                        <a:spcBef>
                          <a:spcPts val="0"/>
                        </a:spcBef>
                        <a:spcAft>
                          <a:spcPts val="0"/>
                        </a:spcAft>
                      </a:pPr>
                      <a:r>
                        <a:rPr lang="en-US" sz="1000" b="1" dirty="0">
                          <a:effectLst/>
                          <a:latin typeface="Times New Roman" panose="02020603050405020304" pitchFamily="18" charset="0"/>
                          <a:ea typeface="Calibri" panose="020F0502020204030204" pitchFamily="34" charset="0"/>
                        </a:rPr>
                        <a:t>ELL / International Students</a:t>
                      </a:r>
                      <a:endParaRPr lang="en-US" sz="1000"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lvl="0" indent="0">
                        <a:spcBef>
                          <a:spcPts val="0"/>
                        </a:spcBef>
                        <a:spcAft>
                          <a:spcPts val="0"/>
                        </a:spcAft>
                        <a:buFont typeface="Symbol" pitchFamily="2" charset="2"/>
                        <a:buNone/>
                      </a:pPr>
                      <a:r>
                        <a:rPr lang="en-US" sz="1000" dirty="0">
                          <a:effectLst/>
                          <a:latin typeface="Times New Roman" panose="02020603050405020304" pitchFamily="18" charset="0"/>
                          <a:ea typeface="Times New Roman" panose="02020603050405020304" pitchFamily="18" charset="0"/>
                        </a:rPr>
                        <a:t>Needs clear guidelines on USE</a:t>
                      </a:r>
                    </a:p>
                  </a:txBody>
                  <a:tcPr marL="68580" marR="68580" marT="0" marB="0"/>
                </a:tc>
                <a:tc>
                  <a:txBody>
                    <a:bodyPr/>
                    <a:lstStyle/>
                    <a:p>
                      <a:pPr marL="0" marR="0" lvl="0" indent="0">
                        <a:spcBef>
                          <a:spcPts val="0"/>
                        </a:spcBef>
                        <a:spcAft>
                          <a:spcPts val="0"/>
                        </a:spcAft>
                        <a:buFont typeface="Symbol" pitchFamily="2" charset="2"/>
                        <a:buNone/>
                      </a:pPr>
                      <a:r>
                        <a:rPr lang="en-US" sz="1000" dirty="0">
                          <a:effectLst/>
                          <a:latin typeface="Times New Roman" panose="02020603050405020304" pitchFamily="18" charset="0"/>
                          <a:ea typeface="Times New Roman" panose="02020603050405020304" pitchFamily="18" charset="0"/>
                        </a:rPr>
                        <a:t>Clear understanding of rules governing use of AI detectors</a:t>
                      </a:r>
                    </a:p>
                  </a:txBody>
                  <a:tcPr marL="68580" marR="68580" marT="0" marB="0"/>
                </a:tc>
                <a:extLst>
                  <a:ext uri="{0D108BD9-81ED-4DB2-BD59-A6C34878D82A}">
                    <a16:rowId xmlns:a16="http://schemas.microsoft.com/office/drawing/2014/main" val="987502975"/>
                  </a:ext>
                </a:extLst>
              </a:tr>
              <a:tr h="138498">
                <a:tc>
                  <a:txBody>
                    <a:bodyPr/>
                    <a:lstStyle/>
                    <a:p>
                      <a:pPr marL="0" marR="0">
                        <a:spcBef>
                          <a:spcPts val="0"/>
                        </a:spcBef>
                        <a:spcAft>
                          <a:spcPts val="0"/>
                        </a:spcAft>
                      </a:pPr>
                      <a:r>
                        <a:rPr lang="en-US" sz="1000" b="1" dirty="0">
                          <a:solidFill>
                            <a:schemeClr val="tx1"/>
                          </a:solidFill>
                          <a:effectLst/>
                          <a:latin typeface="Times New Roman" panose="02020603050405020304" pitchFamily="18" charset="0"/>
                          <a:ea typeface="Calibri" panose="020F0502020204030204" pitchFamily="34" charset="0"/>
                        </a:rPr>
                        <a:t>AI‑Detector Vendors</a:t>
                      </a:r>
                      <a:endParaRPr lang="en-US" sz="1000" b="1" dirty="0">
                        <a:solidFill>
                          <a:schemeClr val="tx1"/>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lvl="0" indent="0">
                        <a:spcBef>
                          <a:spcPts val="0"/>
                        </a:spcBef>
                        <a:spcAft>
                          <a:spcPts val="0"/>
                        </a:spcAft>
                        <a:buFont typeface="Symbol" pitchFamily="2" charset="2"/>
                        <a:buNone/>
                      </a:pPr>
                      <a:r>
                        <a:rPr lang="en-US" sz="1000" b="0" dirty="0">
                          <a:solidFill>
                            <a:schemeClr val="tx1"/>
                          </a:solidFill>
                          <a:effectLst/>
                          <a:latin typeface="Times New Roman" panose="02020603050405020304" pitchFamily="18" charset="0"/>
                          <a:ea typeface="Times New Roman" panose="02020603050405020304" pitchFamily="18" charset="0"/>
                        </a:rPr>
                        <a:t>A better understanding of any bias and a way to fix it</a:t>
                      </a:r>
                    </a:p>
                  </a:txBody>
                  <a:tcPr marL="68580" marR="68580" marT="0" marB="0"/>
                </a:tc>
                <a:tc>
                  <a:txBody>
                    <a:bodyPr/>
                    <a:lstStyle/>
                    <a:p>
                      <a:pPr marL="0" marR="0" lvl="0" indent="0">
                        <a:spcBef>
                          <a:spcPts val="0"/>
                        </a:spcBef>
                        <a:spcAft>
                          <a:spcPts val="0"/>
                        </a:spcAft>
                        <a:buFont typeface="Symbol" pitchFamily="2" charset="2"/>
                        <a:buNone/>
                      </a:pPr>
                      <a:r>
                        <a:rPr lang="en-US" sz="1000" b="0" dirty="0">
                          <a:solidFill>
                            <a:schemeClr val="tx1"/>
                          </a:solidFill>
                          <a:effectLst/>
                          <a:latin typeface="Times New Roman" panose="02020603050405020304" pitchFamily="18" charset="0"/>
                          <a:ea typeface="Times New Roman" panose="02020603050405020304" pitchFamily="18" charset="0"/>
                        </a:rPr>
                        <a:t>New training sets</a:t>
                      </a:r>
                    </a:p>
                  </a:txBody>
                  <a:tcPr marL="68580" marR="68580" marT="0" marB="0"/>
                </a:tc>
                <a:extLst>
                  <a:ext uri="{0D108BD9-81ED-4DB2-BD59-A6C34878D82A}">
                    <a16:rowId xmlns:a16="http://schemas.microsoft.com/office/drawing/2014/main" val="2698978278"/>
                  </a:ext>
                </a:extLst>
              </a:tr>
              <a:tr h="276995">
                <a:tc>
                  <a:txBody>
                    <a:bodyPr/>
                    <a:lstStyle/>
                    <a:p>
                      <a:pPr marL="0" marR="0">
                        <a:spcBef>
                          <a:spcPts val="0"/>
                        </a:spcBef>
                        <a:spcAft>
                          <a:spcPts val="0"/>
                        </a:spcAft>
                      </a:pPr>
                      <a:r>
                        <a:rPr lang="en-US" sz="1000" b="1" dirty="0">
                          <a:effectLst/>
                          <a:latin typeface="Times New Roman" panose="02020603050405020304" pitchFamily="18" charset="0"/>
                          <a:ea typeface="Calibri" panose="020F0502020204030204" pitchFamily="34" charset="0"/>
                        </a:rPr>
                        <a:t>Education Agencies</a:t>
                      </a:r>
                      <a:endParaRPr lang="en-US" sz="1000"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lvl="0" indent="0">
                        <a:spcBef>
                          <a:spcPts val="0"/>
                        </a:spcBef>
                        <a:spcAft>
                          <a:spcPts val="0"/>
                        </a:spcAft>
                        <a:buFont typeface="Symbol" pitchFamily="2" charset="2"/>
                        <a:buNone/>
                      </a:pPr>
                      <a:r>
                        <a:rPr lang="en-US" sz="1000" dirty="0">
                          <a:effectLst/>
                          <a:latin typeface="Times New Roman" panose="02020603050405020304" pitchFamily="18" charset="0"/>
                          <a:ea typeface="Times New Roman" panose="02020603050405020304" pitchFamily="18" charset="0"/>
                        </a:rPr>
                        <a:t>Needs a clear path on which these agencies can send others</a:t>
                      </a:r>
                    </a:p>
                  </a:txBody>
                  <a:tcPr marL="68580" marR="68580" marT="0" marB="0"/>
                </a:tc>
                <a:tc>
                  <a:txBody>
                    <a:bodyPr/>
                    <a:lstStyle/>
                    <a:p>
                      <a:pPr marL="0" marR="0" lvl="0" indent="0">
                        <a:spcBef>
                          <a:spcPts val="0"/>
                        </a:spcBef>
                        <a:spcAft>
                          <a:spcPts val="0"/>
                        </a:spcAft>
                        <a:buFont typeface="Symbol" pitchFamily="2" charset="2"/>
                        <a:buNone/>
                      </a:pPr>
                      <a:r>
                        <a:rPr lang="en-US" sz="1000" dirty="0">
                          <a:effectLst/>
                          <a:latin typeface="Times New Roman" panose="02020603050405020304" pitchFamily="18" charset="0"/>
                          <a:ea typeface="Times New Roman" panose="02020603050405020304" pitchFamily="18" charset="0"/>
                        </a:rPr>
                        <a:t>Understanding of the way in which AI detectors can be used with ELL students</a:t>
                      </a:r>
                    </a:p>
                  </a:txBody>
                  <a:tcPr marL="68580" marR="68580" marT="0" marB="0"/>
                </a:tc>
                <a:extLst>
                  <a:ext uri="{0D108BD9-81ED-4DB2-BD59-A6C34878D82A}">
                    <a16:rowId xmlns:a16="http://schemas.microsoft.com/office/drawing/2014/main" val="2359945620"/>
                  </a:ext>
                </a:extLst>
              </a:tr>
              <a:tr h="276995">
                <a:tc>
                  <a:txBody>
                    <a:bodyPr/>
                    <a:lstStyle/>
                    <a:p>
                      <a:pPr marL="0" marR="0">
                        <a:spcBef>
                          <a:spcPts val="0"/>
                        </a:spcBef>
                        <a:spcAft>
                          <a:spcPts val="0"/>
                        </a:spcAft>
                      </a:pPr>
                      <a:r>
                        <a:rPr lang="en-US" sz="1000" b="1" dirty="0">
                          <a:solidFill>
                            <a:srgbClr val="000000"/>
                          </a:solidFill>
                          <a:effectLst/>
                          <a:latin typeface="Times New Roman" panose="02020603050405020304" pitchFamily="18" charset="0"/>
                          <a:ea typeface="Calibri" panose="020F0502020204030204" pitchFamily="34" charset="0"/>
                        </a:rPr>
                        <a:t>Student Government</a:t>
                      </a:r>
                      <a:endParaRPr lang="en-US" sz="1000"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lvl="0" indent="0">
                        <a:spcBef>
                          <a:spcPts val="0"/>
                        </a:spcBef>
                        <a:spcAft>
                          <a:spcPts val="0"/>
                        </a:spcAft>
                        <a:buFont typeface="Symbol" pitchFamily="2" charset="2"/>
                        <a:buNone/>
                      </a:pPr>
                      <a:r>
                        <a:rPr lang="en-US" sz="1000" dirty="0">
                          <a:effectLst/>
                          <a:latin typeface="Times New Roman" panose="02020603050405020304" pitchFamily="18" charset="0"/>
                          <a:ea typeface="Times New Roman" panose="02020603050405020304" pitchFamily="18" charset="0"/>
                        </a:rPr>
                        <a:t>Needs a very concise understanding of why a student would be accused of an integrity breach and how to combat it</a:t>
                      </a:r>
                    </a:p>
                  </a:txBody>
                  <a:tcPr marL="68580" marR="68580" marT="0" marB="0"/>
                </a:tc>
                <a:tc>
                  <a:txBody>
                    <a:bodyPr/>
                    <a:lstStyle/>
                    <a:p>
                      <a:pPr marL="0" marR="0" lvl="0" indent="0">
                        <a:spcBef>
                          <a:spcPts val="0"/>
                        </a:spcBef>
                        <a:spcAft>
                          <a:spcPts val="0"/>
                        </a:spcAft>
                        <a:buFont typeface="Symbol" pitchFamily="2" charset="2"/>
                        <a:buNone/>
                      </a:pPr>
                      <a:r>
                        <a:rPr lang="en-US" sz="1000" dirty="0">
                          <a:effectLst/>
                          <a:latin typeface="Times New Roman" panose="02020603050405020304" pitchFamily="18" charset="0"/>
                          <a:ea typeface="Times New Roman" panose="02020603050405020304" pitchFamily="18" charset="0"/>
                        </a:rPr>
                        <a:t>The policy addresses the basis on which any student can be accused of academic integrity breaches</a:t>
                      </a:r>
                    </a:p>
                  </a:txBody>
                  <a:tcPr marL="68580" marR="68580" marT="0" marB="0"/>
                </a:tc>
                <a:extLst>
                  <a:ext uri="{0D108BD9-81ED-4DB2-BD59-A6C34878D82A}">
                    <a16:rowId xmlns:a16="http://schemas.microsoft.com/office/drawing/2014/main" val="2916522031"/>
                  </a:ext>
                </a:extLst>
              </a:tr>
              <a:tr h="270695">
                <a:tc>
                  <a:txBody>
                    <a:bodyPr/>
                    <a:lstStyle/>
                    <a:p>
                      <a:pPr marL="0" marR="0">
                        <a:spcBef>
                          <a:spcPts val="0"/>
                        </a:spcBef>
                        <a:spcAft>
                          <a:spcPts val="0"/>
                        </a:spcAft>
                      </a:pPr>
                      <a:r>
                        <a:rPr lang="en-US" sz="1000" b="1" dirty="0">
                          <a:effectLst/>
                          <a:latin typeface="Times New Roman" panose="02020603050405020304" pitchFamily="18" charset="0"/>
                          <a:ea typeface="Calibri" panose="020F0502020204030204" pitchFamily="34" charset="0"/>
                        </a:rPr>
                        <a:t>General Public / Media</a:t>
                      </a:r>
                      <a:endParaRPr lang="en-US" sz="1000"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lvl="0" indent="0">
                        <a:spcBef>
                          <a:spcPts val="0"/>
                        </a:spcBef>
                        <a:spcAft>
                          <a:spcPts val="0"/>
                        </a:spcAft>
                        <a:buFont typeface="Symbol" pitchFamily="2" charset="2"/>
                        <a:buNone/>
                      </a:pPr>
                      <a:r>
                        <a:rPr lang="en-US" sz="1000" dirty="0">
                          <a:effectLst/>
                          <a:latin typeface="Times New Roman" panose="02020603050405020304" pitchFamily="18" charset="0"/>
                          <a:ea typeface="Times New Roman" panose="02020603050405020304" pitchFamily="18" charset="0"/>
                        </a:rPr>
                        <a:t>Wishes to understand what the fuss it about</a:t>
                      </a:r>
                    </a:p>
                  </a:txBody>
                  <a:tcPr marL="68580" marR="68580" marT="0" marB="0"/>
                </a:tc>
                <a:tc>
                  <a:txBody>
                    <a:bodyPr/>
                    <a:lstStyle/>
                    <a:p>
                      <a:pPr marL="0" marR="0" lvl="0" indent="0">
                        <a:spcBef>
                          <a:spcPts val="0"/>
                        </a:spcBef>
                        <a:spcAft>
                          <a:spcPts val="0"/>
                        </a:spcAft>
                        <a:buFont typeface="Symbol" pitchFamily="2" charset="2"/>
                        <a:buNone/>
                      </a:pPr>
                      <a:r>
                        <a:rPr lang="en-US" sz="1000" dirty="0">
                          <a:effectLst/>
                          <a:latin typeface="Times New Roman" panose="02020603050405020304" pitchFamily="18" charset="0"/>
                          <a:ea typeface="Times New Roman" panose="02020603050405020304" pitchFamily="18" charset="0"/>
                        </a:rPr>
                        <a:t>Transparency</a:t>
                      </a:r>
                    </a:p>
                  </a:txBody>
                  <a:tcPr marL="68580" marR="68580" marT="0" marB="0"/>
                </a:tc>
                <a:extLst>
                  <a:ext uri="{0D108BD9-81ED-4DB2-BD59-A6C34878D82A}">
                    <a16:rowId xmlns:a16="http://schemas.microsoft.com/office/drawing/2014/main" val="1490010176"/>
                  </a:ext>
                </a:extLst>
              </a:tr>
            </a:tbl>
          </a:graphicData>
        </a:graphic>
      </p:graphicFrame>
      <p:sp>
        <p:nvSpPr>
          <p:cNvPr id="9" name="TextBox 8">
            <a:extLst>
              <a:ext uri="{FF2B5EF4-FFF2-40B4-BE49-F238E27FC236}">
                <a16:creationId xmlns:a16="http://schemas.microsoft.com/office/drawing/2014/main" id="{F0DDF1CC-9490-946D-831A-020D23C352B9}"/>
              </a:ext>
            </a:extLst>
          </p:cNvPr>
          <p:cNvSpPr txBox="1"/>
          <p:nvPr/>
        </p:nvSpPr>
        <p:spPr>
          <a:xfrm>
            <a:off x="1206349" y="-30327"/>
            <a:ext cx="4528804" cy="477054"/>
          </a:xfrm>
          <a:prstGeom prst="rect">
            <a:avLst/>
          </a:prstGeom>
          <a:noFill/>
        </p:spPr>
        <p:txBody>
          <a:bodyPr wrap="none" rtlCol="0">
            <a:spAutoFit/>
          </a:bodyPr>
          <a:lstStyle/>
          <a:p>
            <a:r>
              <a:rPr lang="en-US" sz="2500" dirty="0"/>
              <a:t>Stakeholder Needs Addressed</a:t>
            </a:r>
          </a:p>
        </p:txBody>
      </p:sp>
      <p:pic>
        <p:nvPicPr>
          <p:cNvPr id="12" name="Camera 11">
            <a:extLst>
              <a:ext uri="{FF2B5EF4-FFF2-40B4-BE49-F238E27FC236}">
                <a16:creationId xmlns:a16="http://schemas.microsoft.com/office/drawing/2014/main" id="{63003C49-6915-6995-7CC6-18C5AEFB53CB}"/>
              </a:ext>
            </a:extLst>
          </p:cNvPr>
          <p:cNvPicPr>
            <a:picLocks noChangeAspect="1"/>
            <a:extLst>
              <a:ext uri="{51228E76-BA90-4043-B771-695A4F85340A}">
                <alf:liveFeedProps xmlns:alf="http://schemas.microsoft.com/office/drawing/2021/livefeed"/>
              </a:ext>
            </a:extLst>
          </p:cNvPicPr>
          <p:nvPr/>
        </p:nvPicPr>
        <p:blipFill>
          <a:blip r:embed="rId3">
            <a:extLst>
              <a:ext uri="{96DAC541-7B7A-43D3-8B79-37D633B846F1}">
                <asvg:svgBlip xmlns:asvg="http://schemas.microsoft.com/office/drawing/2016/SVG/main" r:embed="rId4"/>
              </a:ext>
            </a:extLst>
          </a:blip>
          <a:stretch>
            <a:fillRect/>
          </a:stretch>
        </p:blipFill>
        <p:spPr>
          <a:xfrm>
            <a:off x="7792926" y="3792426"/>
            <a:ext cx="1289351" cy="1289351"/>
          </a:xfrm>
          <a:prstGeom prst="ellipse">
            <a:avLst/>
          </a:prstGeom>
          <a:ln>
            <a:noFill/>
          </a:ln>
          <a:effectLst>
            <a:softEdge rad="127000"/>
          </a:effectLst>
        </p:spPr>
      </p:pic>
    </p:spTree>
    <p:extLst>
      <p:ext uri="{BB962C8B-B14F-4D97-AF65-F5344CB8AC3E}">
        <p14:creationId xmlns:p14="http://schemas.microsoft.com/office/powerpoint/2010/main" val="29904170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9E0D19-FBED-6F99-880F-02E44FC0A47E}"/>
              </a:ext>
            </a:extLst>
          </p:cNvPr>
          <p:cNvSpPr>
            <a:spLocks noGrp="1"/>
          </p:cNvSpPr>
          <p:nvPr>
            <p:ph type="title"/>
          </p:nvPr>
        </p:nvSpPr>
        <p:spPr/>
        <p:txBody>
          <a:bodyPr>
            <a:normAutofit fontScale="90000"/>
          </a:bodyPr>
          <a:lstStyle/>
          <a:p>
            <a:r>
              <a:rPr lang="en-US" dirty="0"/>
              <a:t>Timeline</a:t>
            </a:r>
          </a:p>
        </p:txBody>
      </p:sp>
      <p:sp>
        <p:nvSpPr>
          <p:cNvPr id="3" name="Text Placeholder 2">
            <a:extLst>
              <a:ext uri="{FF2B5EF4-FFF2-40B4-BE49-F238E27FC236}">
                <a16:creationId xmlns:a16="http://schemas.microsoft.com/office/drawing/2014/main" id="{221DCC89-8010-DBA6-9A01-812DD6F2F821}"/>
              </a:ext>
            </a:extLst>
          </p:cNvPr>
          <p:cNvSpPr>
            <a:spLocks noGrp="1"/>
          </p:cNvSpPr>
          <p:nvPr>
            <p:ph type="body" idx="1"/>
          </p:nvPr>
        </p:nvSpPr>
        <p:spPr>
          <a:xfrm>
            <a:off x="311700" y="1209608"/>
            <a:ext cx="8520600" cy="3002394"/>
          </a:xfrm>
        </p:spPr>
        <p:txBody>
          <a:bodyPr>
            <a:normAutofit/>
          </a:bodyPr>
          <a:lstStyle/>
          <a:p>
            <a:r>
              <a:rPr lang="en-US" dirty="0"/>
              <a:t>The policy is designed to rollout in 7 iterative phases over 1 academic year.</a:t>
            </a:r>
          </a:p>
          <a:p>
            <a:r>
              <a:rPr lang="en-US" dirty="0"/>
              <a:t>Each phase is iterative to allow each stakeholder involved to feel as comfortable as possible before proceeding to the next phase.</a:t>
            </a:r>
          </a:p>
          <a:p>
            <a:r>
              <a:rPr lang="en-US" dirty="0"/>
              <a:t>For each phase, there is a suggested “Owner” who is responsible for that phase and guiding it to the next phase</a:t>
            </a:r>
          </a:p>
          <a:p>
            <a:r>
              <a:rPr lang="en-US" dirty="0"/>
              <a:t>During each phase a goal is stated and a deliverable is suggested.</a:t>
            </a:r>
          </a:p>
          <a:p>
            <a:r>
              <a:rPr lang="en-US" dirty="0"/>
              <a:t>At the point that the deliverable has been created, a decision on whether to proceed to the next phase is made.</a:t>
            </a:r>
          </a:p>
        </p:txBody>
      </p:sp>
      <p:pic>
        <p:nvPicPr>
          <p:cNvPr id="4" name="Camera 3">
            <a:extLst>
              <a:ext uri="{FF2B5EF4-FFF2-40B4-BE49-F238E27FC236}">
                <a16:creationId xmlns:a16="http://schemas.microsoft.com/office/drawing/2014/main" id="{F48B8AFA-0F84-7517-C205-147943994D0E}"/>
              </a:ext>
            </a:extLst>
          </p:cNvPr>
          <p:cNvPicPr>
            <a:picLocks noChangeAspect="1"/>
            <a:extLst>
              <a:ext uri="{51228E76-BA90-4043-B771-695A4F85340A}">
                <alf:liveFeedProps xmlns:alf="http://schemas.microsoft.com/office/drawing/2021/livefeed"/>
              </a:ext>
            </a:extLst>
          </p:cNvPicPr>
          <p:nvPr/>
        </p:nvPicPr>
        <p:blipFill>
          <a:blip r:embed="rId3">
            <a:extLst>
              <a:ext uri="{96DAC541-7B7A-43D3-8B79-37D633B846F1}">
                <asvg:svgBlip xmlns:asvg="http://schemas.microsoft.com/office/drawing/2016/SVG/main" r:embed="rId4"/>
              </a:ext>
            </a:extLst>
          </a:blip>
          <a:stretch>
            <a:fillRect/>
          </a:stretch>
        </p:blipFill>
        <p:spPr>
          <a:xfrm>
            <a:off x="7731760" y="3737143"/>
            <a:ext cx="1402080" cy="1402080"/>
          </a:xfrm>
          <a:prstGeom prst="ellipse">
            <a:avLst/>
          </a:prstGeom>
          <a:ln>
            <a:noFill/>
          </a:ln>
          <a:effectLst>
            <a:softEdge rad="127000"/>
          </a:effectLst>
        </p:spPr>
      </p:pic>
      <p:sp>
        <p:nvSpPr>
          <p:cNvPr id="5" name="TextBox 4">
            <a:extLst>
              <a:ext uri="{FF2B5EF4-FFF2-40B4-BE49-F238E27FC236}">
                <a16:creationId xmlns:a16="http://schemas.microsoft.com/office/drawing/2014/main" id="{B92771D6-AAF4-46FB-49A9-3AC05962FEB2}"/>
              </a:ext>
            </a:extLst>
          </p:cNvPr>
          <p:cNvSpPr txBox="1"/>
          <p:nvPr/>
        </p:nvSpPr>
        <p:spPr>
          <a:xfrm>
            <a:off x="311700" y="4212002"/>
            <a:ext cx="7360772" cy="646331"/>
          </a:xfrm>
          <a:prstGeom prst="rect">
            <a:avLst/>
          </a:prstGeom>
          <a:noFill/>
        </p:spPr>
        <p:txBody>
          <a:bodyPr wrap="square" rtlCol="0">
            <a:spAutoFit/>
          </a:bodyPr>
          <a:lstStyle/>
          <a:p>
            <a:r>
              <a:rPr lang="en-US" sz="1800" b="1" dirty="0">
                <a:solidFill>
                  <a:srgbClr val="C00000"/>
                </a:solidFill>
              </a:rPr>
              <a:t>For specifics and the actual table, please see the timeline delineated in my proposal</a:t>
            </a:r>
          </a:p>
        </p:txBody>
      </p:sp>
    </p:spTree>
    <p:extLst>
      <p:ext uri="{BB962C8B-B14F-4D97-AF65-F5344CB8AC3E}">
        <p14:creationId xmlns:p14="http://schemas.microsoft.com/office/powerpoint/2010/main" val="13639771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9F73C141-8E95-9962-816E-D25155DE2D92}"/>
              </a:ext>
            </a:extLst>
          </p:cNvPr>
          <p:cNvGraphicFramePr>
            <a:graphicFrameLocks noGrp="1"/>
          </p:cNvGraphicFramePr>
          <p:nvPr>
            <p:extLst>
              <p:ext uri="{D42A27DB-BD31-4B8C-83A1-F6EECF244321}">
                <p14:modId xmlns:p14="http://schemas.microsoft.com/office/powerpoint/2010/main" val="474069054"/>
              </p:ext>
            </p:extLst>
          </p:nvPr>
        </p:nvGraphicFramePr>
        <p:xfrm>
          <a:off x="263471" y="371959"/>
          <a:ext cx="8764289" cy="4703738"/>
        </p:xfrm>
        <a:graphic>
          <a:graphicData uri="http://schemas.openxmlformats.org/drawingml/2006/table">
            <a:tbl>
              <a:tblPr firstRow="1" firstCol="1" bandRow="1">
                <a:tableStyleId>{5C22544A-7EE6-4342-B048-85BDC9FD1C3A}</a:tableStyleId>
              </a:tblPr>
              <a:tblGrid>
                <a:gridCol w="844814">
                  <a:extLst>
                    <a:ext uri="{9D8B030D-6E8A-4147-A177-3AD203B41FA5}">
                      <a16:colId xmlns:a16="http://schemas.microsoft.com/office/drawing/2014/main" val="248820329"/>
                    </a:ext>
                  </a:extLst>
                </a:gridCol>
                <a:gridCol w="517198">
                  <a:extLst>
                    <a:ext uri="{9D8B030D-6E8A-4147-A177-3AD203B41FA5}">
                      <a16:colId xmlns:a16="http://schemas.microsoft.com/office/drawing/2014/main" val="4080054168"/>
                    </a:ext>
                  </a:extLst>
                </a:gridCol>
                <a:gridCol w="1083649">
                  <a:extLst>
                    <a:ext uri="{9D8B030D-6E8A-4147-A177-3AD203B41FA5}">
                      <a16:colId xmlns:a16="http://schemas.microsoft.com/office/drawing/2014/main" val="1672349687"/>
                    </a:ext>
                  </a:extLst>
                </a:gridCol>
                <a:gridCol w="3553316">
                  <a:extLst>
                    <a:ext uri="{9D8B030D-6E8A-4147-A177-3AD203B41FA5}">
                      <a16:colId xmlns:a16="http://schemas.microsoft.com/office/drawing/2014/main" val="1113712993"/>
                    </a:ext>
                  </a:extLst>
                </a:gridCol>
                <a:gridCol w="988448">
                  <a:extLst>
                    <a:ext uri="{9D8B030D-6E8A-4147-A177-3AD203B41FA5}">
                      <a16:colId xmlns:a16="http://schemas.microsoft.com/office/drawing/2014/main" val="2347485258"/>
                    </a:ext>
                  </a:extLst>
                </a:gridCol>
                <a:gridCol w="1005815">
                  <a:extLst>
                    <a:ext uri="{9D8B030D-6E8A-4147-A177-3AD203B41FA5}">
                      <a16:colId xmlns:a16="http://schemas.microsoft.com/office/drawing/2014/main" val="566809858"/>
                    </a:ext>
                  </a:extLst>
                </a:gridCol>
                <a:gridCol w="771049">
                  <a:extLst>
                    <a:ext uri="{9D8B030D-6E8A-4147-A177-3AD203B41FA5}">
                      <a16:colId xmlns:a16="http://schemas.microsoft.com/office/drawing/2014/main" val="3675118451"/>
                    </a:ext>
                  </a:extLst>
                </a:gridCol>
              </a:tblGrid>
              <a:tr h="122817">
                <a:tc>
                  <a:txBody>
                    <a:bodyPr/>
                    <a:lstStyle/>
                    <a:p>
                      <a:pPr marL="0" marR="0">
                        <a:spcBef>
                          <a:spcPts val="0"/>
                        </a:spcBef>
                        <a:spcAft>
                          <a:spcPts val="0"/>
                        </a:spcAft>
                      </a:pPr>
                      <a:r>
                        <a:rPr lang="en-US" sz="700">
                          <a:effectLst/>
                        </a:rPr>
                        <a:t>Phase</a:t>
                      </a:r>
                      <a:endParaRPr lang="en-US" sz="700">
                        <a:effectLst/>
                        <a:latin typeface="Times New Roman" panose="02020603050405020304" pitchFamily="18" charset="0"/>
                        <a:ea typeface="Times New Roman" panose="02020603050405020304" pitchFamily="18" charset="0"/>
                      </a:endParaRPr>
                    </a:p>
                  </a:txBody>
                  <a:tcPr marL="24363" marR="24363" marT="0" marB="0"/>
                </a:tc>
                <a:tc>
                  <a:txBody>
                    <a:bodyPr/>
                    <a:lstStyle/>
                    <a:p>
                      <a:pPr marL="0" marR="0">
                        <a:spcBef>
                          <a:spcPts val="0"/>
                        </a:spcBef>
                        <a:spcAft>
                          <a:spcPts val="0"/>
                        </a:spcAft>
                      </a:pPr>
                      <a:r>
                        <a:rPr lang="en-US" sz="700">
                          <a:effectLst/>
                        </a:rPr>
                        <a:t>Duration</a:t>
                      </a:r>
                      <a:endParaRPr lang="en-US" sz="700">
                        <a:effectLst/>
                        <a:latin typeface="Times New Roman" panose="02020603050405020304" pitchFamily="18" charset="0"/>
                        <a:ea typeface="Times New Roman" panose="02020603050405020304" pitchFamily="18" charset="0"/>
                      </a:endParaRPr>
                    </a:p>
                  </a:txBody>
                  <a:tcPr marL="24363" marR="24363" marT="0" marB="0"/>
                </a:tc>
                <a:tc>
                  <a:txBody>
                    <a:bodyPr/>
                    <a:lstStyle/>
                    <a:p>
                      <a:pPr marL="0" marR="0">
                        <a:spcBef>
                          <a:spcPts val="0"/>
                        </a:spcBef>
                        <a:spcAft>
                          <a:spcPts val="0"/>
                        </a:spcAft>
                      </a:pPr>
                      <a:r>
                        <a:rPr lang="en-US" sz="700">
                          <a:effectLst/>
                        </a:rPr>
                        <a:t>Core Goal</a:t>
                      </a:r>
                      <a:endParaRPr lang="en-US" sz="700">
                        <a:effectLst/>
                        <a:latin typeface="Times New Roman" panose="02020603050405020304" pitchFamily="18" charset="0"/>
                        <a:ea typeface="Times New Roman" panose="02020603050405020304" pitchFamily="18" charset="0"/>
                      </a:endParaRPr>
                    </a:p>
                  </a:txBody>
                  <a:tcPr marL="24363" marR="24363" marT="0" marB="0"/>
                </a:tc>
                <a:tc>
                  <a:txBody>
                    <a:bodyPr/>
                    <a:lstStyle/>
                    <a:p>
                      <a:pPr marL="0" marR="0">
                        <a:spcBef>
                          <a:spcPts val="0"/>
                        </a:spcBef>
                        <a:spcAft>
                          <a:spcPts val="0"/>
                        </a:spcAft>
                      </a:pPr>
                      <a:r>
                        <a:rPr lang="en-US" sz="700">
                          <a:effectLst/>
                        </a:rPr>
                        <a:t>Key Milestones &amp; Deliverables</a:t>
                      </a:r>
                      <a:endParaRPr lang="en-US" sz="700">
                        <a:effectLst/>
                        <a:latin typeface="Times New Roman" panose="02020603050405020304" pitchFamily="18" charset="0"/>
                        <a:ea typeface="Times New Roman" panose="02020603050405020304" pitchFamily="18" charset="0"/>
                      </a:endParaRPr>
                    </a:p>
                  </a:txBody>
                  <a:tcPr marL="24363" marR="24363" marT="0" marB="0"/>
                </a:tc>
                <a:tc gridSpan="2">
                  <a:txBody>
                    <a:bodyPr/>
                    <a:lstStyle/>
                    <a:p>
                      <a:pPr marL="0" marR="0">
                        <a:spcBef>
                          <a:spcPts val="0"/>
                        </a:spcBef>
                        <a:spcAft>
                          <a:spcPts val="0"/>
                        </a:spcAft>
                      </a:pPr>
                      <a:r>
                        <a:rPr lang="en-US" sz="700">
                          <a:effectLst/>
                        </a:rPr>
                        <a:t>Owner(s)</a:t>
                      </a:r>
                      <a:endParaRPr lang="en-US" sz="700">
                        <a:effectLst/>
                        <a:latin typeface="Times New Roman" panose="02020603050405020304" pitchFamily="18" charset="0"/>
                        <a:ea typeface="Times New Roman" panose="02020603050405020304" pitchFamily="18" charset="0"/>
                      </a:endParaRPr>
                    </a:p>
                  </a:txBody>
                  <a:tcPr marL="24363" marR="24363" marT="0" marB="0"/>
                </a:tc>
                <a:tc hMerge="1">
                  <a:txBody>
                    <a:bodyPr/>
                    <a:lstStyle/>
                    <a:p>
                      <a:endParaRPr lang="en-US"/>
                    </a:p>
                  </a:txBody>
                  <a:tcPr/>
                </a:tc>
                <a:tc>
                  <a:txBody>
                    <a:bodyPr/>
                    <a:lstStyle/>
                    <a:p>
                      <a:pPr marL="0" marR="0">
                        <a:spcBef>
                          <a:spcPts val="0"/>
                        </a:spcBef>
                        <a:spcAft>
                          <a:spcPts val="0"/>
                        </a:spcAft>
                      </a:pPr>
                      <a:r>
                        <a:rPr lang="en-US" sz="700">
                          <a:effectLst/>
                        </a:rPr>
                        <a:t>Success Metric</a:t>
                      </a:r>
                      <a:endParaRPr lang="en-US" sz="700">
                        <a:effectLst/>
                        <a:latin typeface="Times New Roman" panose="02020603050405020304" pitchFamily="18" charset="0"/>
                        <a:ea typeface="Times New Roman" panose="02020603050405020304" pitchFamily="18" charset="0"/>
                      </a:endParaRPr>
                    </a:p>
                  </a:txBody>
                  <a:tcPr marL="24363" marR="24363" marT="0" marB="0"/>
                </a:tc>
                <a:extLst>
                  <a:ext uri="{0D108BD9-81ED-4DB2-BD59-A6C34878D82A}">
                    <a16:rowId xmlns:a16="http://schemas.microsoft.com/office/drawing/2014/main" val="2145521278"/>
                  </a:ext>
                </a:extLst>
              </a:tr>
              <a:tr h="491267">
                <a:tc>
                  <a:txBody>
                    <a:bodyPr/>
                    <a:lstStyle/>
                    <a:p>
                      <a:pPr marL="0" marR="0">
                        <a:spcBef>
                          <a:spcPts val="0"/>
                        </a:spcBef>
                        <a:spcAft>
                          <a:spcPts val="0"/>
                        </a:spcAft>
                      </a:pPr>
                      <a:r>
                        <a:rPr lang="en-US" sz="700" dirty="0">
                          <a:effectLst/>
                        </a:rPr>
                        <a:t>0 – Initiation &amp; Governance</a:t>
                      </a:r>
                      <a:endParaRPr lang="en-US" sz="700" dirty="0">
                        <a:effectLst/>
                        <a:latin typeface="Times New Roman" panose="02020603050405020304" pitchFamily="18" charset="0"/>
                        <a:ea typeface="Times New Roman" panose="02020603050405020304" pitchFamily="18" charset="0"/>
                      </a:endParaRPr>
                    </a:p>
                  </a:txBody>
                  <a:tcPr marL="24363" marR="24363" marT="0" marB="0"/>
                </a:tc>
                <a:tc>
                  <a:txBody>
                    <a:bodyPr/>
                    <a:lstStyle/>
                    <a:p>
                      <a:pPr marL="0" marR="0">
                        <a:spcBef>
                          <a:spcPts val="0"/>
                        </a:spcBef>
                        <a:spcAft>
                          <a:spcPts val="0"/>
                        </a:spcAft>
                      </a:pPr>
                      <a:r>
                        <a:rPr lang="en-US" sz="700">
                          <a:effectLst/>
                        </a:rPr>
                        <a:t>2 weeks</a:t>
                      </a:r>
                      <a:endParaRPr lang="en-US" sz="700">
                        <a:effectLst/>
                        <a:latin typeface="Times New Roman" panose="02020603050405020304" pitchFamily="18" charset="0"/>
                        <a:ea typeface="Times New Roman" panose="02020603050405020304" pitchFamily="18" charset="0"/>
                      </a:endParaRPr>
                    </a:p>
                  </a:txBody>
                  <a:tcPr marL="24363" marR="24363" marT="0" marB="0"/>
                </a:tc>
                <a:tc>
                  <a:txBody>
                    <a:bodyPr/>
                    <a:lstStyle/>
                    <a:p>
                      <a:pPr marL="0" marR="0">
                        <a:spcBef>
                          <a:spcPts val="0"/>
                        </a:spcBef>
                        <a:spcAft>
                          <a:spcPts val="0"/>
                        </a:spcAft>
                      </a:pPr>
                      <a:r>
                        <a:rPr lang="en-US" sz="700" dirty="0">
                          <a:effectLst/>
                        </a:rPr>
                        <a:t>Secure sponsorship, define scope, assemble steering team.</a:t>
                      </a:r>
                      <a:endParaRPr lang="en-US" sz="700" dirty="0">
                        <a:effectLst/>
                        <a:latin typeface="Times New Roman" panose="02020603050405020304" pitchFamily="18" charset="0"/>
                        <a:ea typeface="Times New Roman" panose="02020603050405020304" pitchFamily="18" charset="0"/>
                      </a:endParaRPr>
                    </a:p>
                  </a:txBody>
                  <a:tcPr marL="24363" marR="24363" marT="0" marB="0"/>
                </a:tc>
                <a:tc>
                  <a:txBody>
                    <a:bodyPr/>
                    <a:lstStyle/>
                    <a:p>
                      <a:pPr marL="171450" marR="0" lvl="0" indent="-171450">
                        <a:spcBef>
                          <a:spcPts val="0"/>
                        </a:spcBef>
                        <a:spcAft>
                          <a:spcPts val="0"/>
                        </a:spcAft>
                        <a:buFont typeface="Arial" panose="020B0604020202020204" pitchFamily="34" charset="0"/>
                        <a:buChar char="•"/>
                      </a:pPr>
                      <a:r>
                        <a:rPr lang="en-US" sz="700" dirty="0">
                          <a:effectLst/>
                        </a:rPr>
                        <a:t>Charter &amp; project charter signed</a:t>
                      </a:r>
                    </a:p>
                    <a:p>
                      <a:pPr marL="171450" marR="0" lvl="0" indent="-171450">
                        <a:spcBef>
                          <a:spcPts val="0"/>
                        </a:spcBef>
                        <a:spcAft>
                          <a:spcPts val="0"/>
                        </a:spcAft>
                        <a:buFont typeface="Arial" panose="020B0604020202020204" pitchFamily="34" charset="0"/>
                        <a:buChar char="•"/>
                      </a:pPr>
                      <a:r>
                        <a:rPr lang="en-US" sz="700" dirty="0">
                          <a:effectLst/>
                        </a:rPr>
                        <a:t>Steering committee roster (Provost, Legal, IT, Faculty Senate rep, Student‑advocate).</a:t>
                      </a:r>
                    </a:p>
                    <a:p>
                      <a:pPr marL="171450" marR="0" lvl="0" indent="-171450">
                        <a:spcBef>
                          <a:spcPts val="0"/>
                        </a:spcBef>
                        <a:spcAft>
                          <a:spcPts val="0"/>
                        </a:spcAft>
                        <a:buFont typeface="Arial" panose="020B0604020202020204" pitchFamily="34" charset="0"/>
                        <a:buChar char="•"/>
                      </a:pPr>
                      <a:r>
                        <a:rPr lang="en-US" sz="700" dirty="0">
                          <a:effectLst/>
                        </a:rPr>
                        <a:t>Project‑management workspace</a:t>
                      </a:r>
                      <a:endParaRPr lang="en-US" sz="700" dirty="0">
                        <a:effectLst/>
                        <a:latin typeface="Times New Roman" panose="02020603050405020304" pitchFamily="18" charset="0"/>
                        <a:ea typeface="Times New Roman" panose="02020603050405020304" pitchFamily="18" charset="0"/>
                      </a:endParaRPr>
                    </a:p>
                  </a:txBody>
                  <a:tcPr marL="24363" marR="24363" marT="0" marB="0"/>
                </a:tc>
                <a:tc>
                  <a:txBody>
                    <a:bodyPr/>
                    <a:lstStyle/>
                    <a:p>
                      <a:pPr marL="0" marR="0">
                        <a:spcBef>
                          <a:spcPts val="0"/>
                        </a:spcBef>
                        <a:spcAft>
                          <a:spcPts val="0"/>
                        </a:spcAft>
                      </a:pPr>
                      <a:r>
                        <a:rPr lang="en-US" sz="700">
                          <a:effectLst/>
                        </a:rPr>
                        <a:t>Provost / Academic Integrity Office</a:t>
                      </a:r>
                      <a:endParaRPr lang="en-US" sz="700">
                        <a:effectLst/>
                        <a:latin typeface="Times New Roman" panose="02020603050405020304" pitchFamily="18" charset="0"/>
                        <a:ea typeface="Times New Roman" panose="02020603050405020304" pitchFamily="18" charset="0"/>
                      </a:endParaRPr>
                    </a:p>
                  </a:txBody>
                  <a:tcPr marL="24363" marR="24363" marT="0" marB="0"/>
                </a:tc>
                <a:tc gridSpan="2">
                  <a:txBody>
                    <a:bodyPr/>
                    <a:lstStyle/>
                    <a:p>
                      <a:pPr marL="0" marR="0">
                        <a:spcBef>
                          <a:spcPts val="0"/>
                        </a:spcBef>
                        <a:spcAft>
                          <a:spcPts val="0"/>
                        </a:spcAft>
                      </a:pPr>
                      <a:r>
                        <a:rPr lang="en-US" sz="700">
                          <a:effectLst/>
                        </a:rPr>
                        <a:t>Charter approved within 10 days; all roles confirmed.</a:t>
                      </a:r>
                      <a:endParaRPr lang="en-US" sz="700">
                        <a:effectLst/>
                        <a:latin typeface="Times New Roman" panose="02020603050405020304" pitchFamily="18" charset="0"/>
                        <a:ea typeface="Times New Roman" panose="02020603050405020304" pitchFamily="18" charset="0"/>
                      </a:endParaRPr>
                    </a:p>
                  </a:txBody>
                  <a:tcPr marL="24363" marR="24363" marT="0" marB="0"/>
                </a:tc>
                <a:tc hMerge="1">
                  <a:txBody>
                    <a:bodyPr/>
                    <a:lstStyle/>
                    <a:p>
                      <a:endParaRPr lang="en-US"/>
                    </a:p>
                  </a:txBody>
                  <a:tcPr/>
                </a:tc>
                <a:extLst>
                  <a:ext uri="{0D108BD9-81ED-4DB2-BD59-A6C34878D82A}">
                    <a16:rowId xmlns:a16="http://schemas.microsoft.com/office/drawing/2014/main" val="2121834713"/>
                  </a:ext>
                </a:extLst>
              </a:tr>
              <a:tr h="491267">
                <a:tc>
                  <a:txBody>
                    <a:bodyPr/>
                    <a:lstStyle/>
                    <a:p>
                      <a:pPr marL="0" marR="0">
                        <a:spcBef>
                          <a:spcPts val="0"/>
                        </a:spcBef>
                        <a:spcAft>
                          <a:spcPts val="0"/>
                        </a:spcAft>
                      </a:pPr>
                      <a:r>
                        <a:rPr lang="en-US" sz="700">
                          <a:effectLst/>
                        </a:rPr>
                        <a:t>1 – Discovery &amp; Requirements</a:t>
                      </a:r>
                      <a:endParaRPr lang="en-US" sz="700">
                        <a:effectLst/>
                        <a:latin typeface="Times New Roman" panose="02020603050405020304" pitchFamily="18" charset="0"/>
                        <a:ea typeface="Times New Roman" panose="02020603050405020304" pitchFamily="18" charset="0"/>
                      </a:endParaRPr>
                    </a:p>
                  </a:txBody>
                  <a:tcPr marL="24363" marR="24363" marT="0" marB="0"/>
                </a:tc>
                <a:tc>
                  <a:txBody>
                    <a:bodyPr/>
                    <a:lstStyle/>
                    <a:p>
                      <a:pPr marL="0" marR="0">
                        <a:spcBef>
                          <a:spcPts val="0"/>
                        </a:spcBef>
                        <a:spcAft>
                          <a:spcPts val="0"/>
                        </a:spcAft>
                      </a:pPr>
                      <a:r>
                        <a:rPr lang="en-US" sz="700">
                          <a:effectLst/>
                        </a:rPr>
                        <a:t>4 weeks</a:t>
                      </a:r>
                      <a:endParaRPr lang="en-US" sz="700">
                        <a:effectLst/>
                        <a:latin typeface="Times New Roman" panose="02020603050405020304" pitchFamily="18" charset="0"/>
                        <a:ea typeface="Times New Roman" panose="02020603050405020304" pitchFamily="18" charset="0"/>
                      </a:endParaRPr>
                    </a:p>
                  </a:txBody>
                  <a:tcPr marL="24363" marR="24363" marT="0" marB="0"/>
                </a:tc>
                <a:tc>
                  <a:txBody>
                    <a:bodyPr/>
                    <a:lstStyle/>
                    <a:p>
                      <a:pPr marL="0" marR="0">
                        <a:spcBef>
                          <a:spcPts val="0"/>
                        </a:spcBef>
                        <a:spcAft>
                          <a:spcPts val="0"/>
                        </a:spcAft>
                      </a:pPr>
                      <a:r>
                        <a:rPr lang="en-US" sz="700">
                          <a:effectLst/>
                        </a:rPr>
                        <a:t>Gather evidence, map current workflows, capture stakeholder needs.</a:t>
                      </a:r>
                      <a:endParaRPr lang="en-US" sz="700">
                        <a:effectLst/>
                        <a:latin typeface="Times New Roman" panose="02020603050405020304" pitchFamily="18" charset="0"/>
                        <a:ea typeface="Times New Roman" panose="02020603050405020304" pitchFamily="18" charset="0"/>
                      </a:endParaRPr>
                    </a:p>
                  </a:txBody>
                  <a:tcPr marL="24363" marR="24363" marT="0" marB="0"/>
                </a:tc>
                <a:tc>
                  <a:txBody>
                    <a:bodyPr/>
                    <a:lstStyle/>
                    <a:p>
                      <a:pPr marL="171450" marR="0" lvl="0" indent="-171450">
                        <a:spcBef>
                          <a:spcPts val="0"/>
                        </a:spcBef>
                        <a:spcAft>
                          <a:spcPts val="0"/>
                        </a:spcAft>
                        <a:buFont typeface="Arial" panose="020B0604020202020204" pitchFamily="34" charset="0"/>
                        <a:buChar char="•"/>
                      </a:pPr>
                      <a:r>
                        <a:rPr lang="en-US" sz="700" dirty="0">
                          <a:effectLst/>
                        </a:rPr>
                        <a:t>Conduct 3 focus‑groups (ELL students, faculty, admin).</a:t>
                      </a:r>
                    </a:p>
                    <a:p>
                      <a:pPr marL="171450" marR="0" lvl="0" indent="-171450">
                        <a:spcBef>
                          <a:spcPts val="0"/>
                        </a:spcBef>
                        <a:spcAft>
                          <a:spcPts val="0"/>
                        </a:spcAft>
                        <a:buFont typeface="Arial" panose="020B0604020202020204" pitchFamily="34" charset="0"/>
                        <a:buChar char="•"/>
                      </a:pPr>
                      <a:r>
                        <a:rPr lang="en-US" sz="700" dirty="0">
                          <a:effectLst/>
                        </a:rPr>
                        <a:t> Survey ≥ 70 % of instructors on current detector use.</a:t>
                      </a:r>
                    </a:p>
                    <a:p>
                      <a:pPr marL="171450" marR="0" lvl="0" indent="-171450">
                        <a:spcBef>
                          <a:spcPts val="0"/>
                        </a:spcBef>
                        <a:spcAft>
                          <a:spcPts val="0"/>
                        </a:spcAft>
                        <a:buFont typeface="Arial" panose="020B0604020202020204" pitchFamily="34" charset="0"/>
                        <a:buChar char="•"/>
                      </a:pPr>
                      <a:r>
                        <a:rPr lang="en-US" sz="700" dirty="0">
                          <a:effectLst/>
                        </a:rPr>
                        <a:t>Compile “Current State” process map (detector → decision)</a:t>
                      </a:r>
                    </a:p>
                    <a:p>
                      <a:pPr marL="171450" marR="0" lvl="0" indent="-171450">
                        <a:spcBef>
                          <a:spcPts val="0"/>
                        </a:spcBef>
                        <a:spcAft>
                          <a:spcPts val="0"/>
                        </a:spcAft>
                        <a:buFont typeface="Arial" panose="020B0604020202020204" pitchFamily="34" charset="0"/>
                        <a:buChar char="•"/>
                      </a:pPr>
                      <a:r>
                        <a:rPr lang="en-US" sz="700" dirty="0">
                          <a:effectLst/>
                        </a:rPr>
                        <a:t>Draft “Requirements Document” (legal, technical, pedagogical).</a:t>
                      </a:r>
                      <a:endParaRPr lang="en-US" sz="700" dirty="0">
                        <a:effectLst/>
                        <a:latin typeface="Times New Roman" panose="02020603050405020304" pitchFamily="18" charset="0"/>
                        <a:ea typeface="Times New Roman" panose="02020603050405020304" pitchFamily="18" charset="0"/>
                      </a:endParaRPr>
                    </a:p>
                  </a:txBody>
                  <a:tcPr marL="24363" marR="24363" marT="0" marB="0"/>
                </a:tc>
                <a:tc>
                  <a:txBody>
                    <a:bodyPr/>
                    <a:lstStyle/>
                    <a:p>
                      <a:pPr marL="0" marR="0">
                        <a:spcBef>
                          <a:spcPts val="0"/>
                        </a:spcBef>
                        <a:spcAft>
                          <a:spcPts val="0"/>
                        </a:spcAft>
                      </a:pPr>
                      <a:r>
                        <a:rPr lang="en-US" sz="700">
                          <a:effectLst/>
                        </a:rPr>
                        <a:t>Lead: Faculty Senate Chair; Support: Compliance &amp; IT</a:t>
                      </a:r>
                      <a:endParaRPr lang="en-US" sz="700">
                        <a:effectLst/>
                        <a:latin typeface="Times New Roman" panose="02020603050405020304" pitchFamily="18" charset="0"/>
                        <a:ea typeface="Times New Roman" panose="02020603050405020304" pitchFamily="18" charset="0"/>
                      </a:endParaRPr>
                    </a:p>
                  </a:txBody>
                  <a:tcPr marL="24363" marR="24363" marT="0" marB="0"/>
                </a:tc>
                <a:tc gridSpan="2">
                  <a:txBody>
                    <a:bodyPr/>
                    <a:lstStyle/>
                    <a:p>
                      <a:pPr marL="0" marR="0">
                        <a:spcBef>
                          <a:spcPts val="0"/>
                        </a:spcBef>
                        <a:spcAft>
                          <a:spcPts val="0"/>
                        </a:spcAft>
                      </a:pPr>
                      <a:r>
                        <a:rPr lang="en-US" sz="700">
                          <a:effectLst/>
                        </a:rPr>
                        <a:t>≥ 80 % response rate; requirements sign‑off by Legal.</a:t>
                      </a:r>
                      <a:endParaRPr lang="en-US" sz="700">
                        <a:effectLst/>
                        <a:latin typeface="Times New Roman" panose="02020603050405020304" pitchFamily="18" charset="0"/>
                        <a:ea typeface="Times New Roman" panose="02020603050405020304" pitchFamily="18" charset="0"/>
                      </a:endParaRPr>
                    </a:p>
                  </a:txBody>
                  <a:tcPr marL="24363" marR="24363" marT="0" marB="0"/>
                </a:tc>
                <a:tc hMerge="1">
                  <a:txBody>
                    <a:bodyPr/>
                    <a:lstStyle/>
                    <a:p>
                      <a:endParaRPr lang="en-US"/>
                    </a:p>
                  </a:txBody>
                  <a:tcPr/>
                </a:tc>
                <a:extLst>
                  <a:ext uri="{0D108BD9-81ED-4DB2-BD59-A6C34878D82A}">
                    <a16:rowId xmlns:a16="http://schemas.microsoft.com/office/drawing/2014/main" val="573598690"/>
                  </a:ext>
                </a:extLst>
              </a:tr>
              <a:tr h="491267">
                <a:tc>
                  <a:txBody>
                    <a:bodyPr/>
                    <a:lstStyle/>
                    <a:p>
                      <a:pPr marL="0" marR="0">
                        <a:spcBef>
                          <a:spcPts val="0"/>
                        </a:spcBef>
                        <a:spcAft>
                          <a:spcPts val="0"/>
                        </a:spcAft>
                      </a:pPr>
                      <a:r>
                        <a:rPr lang="en-US" sz="700">
                          <a:effectLst/>
                        </a:rPr>
                        <a:t>2 – Policy Draft &amp; Legal Review</a:t>
                      </a:r>
                      <a:endParaRPr lang="en-US" sz="700">
                        <a:effectLst/>
                        <a:latin typeface="Times New Roman" panose="02020603050405020304" pitchFamily="18" charset="0"/>
                        <a:ea typeface="Times New Roman" panose="02020603050405020304" pitchFamily="18" charset="0"/>
                      </a:endParaRPr>
                    </a:p>
                  </a:txBody>
                  <a:tcPr marL="24363" marR="24363" marT="0" marB="0"/>
                </a:tc>
                <a:tc>
                  <a:txBody>
                    <a:bodyPr/>
                    <a:lstStyle/>
                    <a:p>
                      <a:pPr marL="0" marR="0">
                        <a:spcBef>
                          <a:spcPts val="0"/>
                        </a:spcBef>
                        <a:spcAft>
                          <a:spcPts val="0"/>
                        </a:spcAft>
                      </a:pPr>
                      <a:r>
                        <a:rPr lang="en-US" sz="700">
                          <a:effectLst/>
                        </a:rPr>
                        <a:t>3 weeks</a:t>
                      </a:r>
                      <a:endParaRPr lang="en-US" sz="700">
                        <a:effectLst/>
                        <a:latin typeface="Times New Roman" panose="02020603050405020304" pitchFamily="18" charset="0"/>
                        <a:ea typeface="Times New Roman" panose="02020603050405020304" pitchFamily="18" charset="0"/>
                      </a:endParaRPr>
                    </a:p>
                  </a:txBody>
                  <a:tcPr marL="24363" marR="24363" marT="0" marB="0"/>
                </a:tc>
                <a:tc>
                  <a:txBody>
                    <a:bodyPr/>
                    <a:lstStyle/>
                    <a:p>
                      <a:pPr marL="0" marR="0">
                        <a:spcBef>
                          <a:spcPts val="0"/>
                        </a:spcBef>
                        <a:spcAft>
                          <a:spcPts val="0"/>
                        </a:spcAft>
                      </a:pPr>
                      <a:r>
                        <a:rPr lang="en-US" sz="700">
                          <a:effectLst/>
                        </a:rPr>
                        <a:t>Write policy language, embed bias‑mitigation clauses, obtain legal clearance.</a:t>
                      </a:r>
                      <a:endParaRPr lang="en-US" sz="700">
                        <a:effectLst/>
                        <a:latin typeface="Times New Roman" panose="02020603050405020304" pitchFamily="18" charset="0"/>
                        <a:ea typeface="Times New Roman" panose="02020603050405020304" pitchFamily="18" charset="0"/>
                      </a:endParaRPr>
                    </a:p>
                  </a:txBody>
                  <a:tcPr marL="24363" marR="24363" marT="0" marB="0"/>
                </a:tc>
                <a:tc>
                  <a:txBody>
                    <a:bodyPr/>
                    <a:lstStyle/>
                    <a:p>
                      <a:pPr marL="171450" marR="0" lvl="0" indent="-171450">
                        <a:spcBef>
                          <a:spcPts val="0"/>
                        </a:spcBef>
                        <a:spcAft>
                          <a:spcPts val="0"/>
                        </a:spcAft>
                        <a:buFont typeface="Arial" panose="020B0604020202020204" pitchFamily="34" charset="0"/>
                        <a:buChar char="•"/>
                      </a:pPr>
                      <a:r>
                        <a:rPr lang="en-US" sz="700" dirty="0">
                          <a:effectLst/>
                        </a:rPr>
                        <a:t>First‑draft policy circulated to steering committee.</a:t>
                      </a:r>
                    </a:p>
                    <a:p>
                      <a:pPr marL="171450" marR="0" lvl="0" indent="-171450">
                        <a:spcBef>
                          <a:spcPts val="0"/>
                        </a:spcBef>
                        <a:spcAft>
                          <a:spcPts val="0"/>
                        </a:spcAft>
                        <a:buFont typeface="Arial" panose="020B0604020202020204" pitchFamily="34" charset="0"/>
                        <a:buChar char="•"/>
                      </a:pPr>
                      <a:r>
                        <a:rPr lang="en-US" sz="700" dirty="0">
                          <a:effectLst/>
                        </a:rPr>
                        <a:t>Legal review memo (Title IV, AI‑Bill of Rights compliance).</a:t>
                      </a:r>
                    </a:p>
                    <a:p>
                      <a:pPr marL="171450" marR="0" lvl="0" indent="-171450">
                        <a:spcBef>
                          <a:spcPts val="0"/>
                        </a:spcBef>
                        <a:spcAft>
                          <a:spcPts val="0"/>
                        </a:spcAft>
                        <a:buFont typeface="Arial" panose="020B0604020202020204" pitchFamily="34" charset="0"/>
                        <a:buChar char="•"/>
                      </a:pPr>
                      <a:r>
                        <a:rPr lang="en-US" sz="700" dirty="0">
                          <a:effectLst/>
                        </a:rPr>
                        <a:t>Incorporate feedback → “Final Draft”.</a:t>
                      </a:r>
                      <a:endParaRPr lang="en-US" sz="700" dirty="0">
                        <a:effectLst/>
                        <a:latin typeface="Times New Roman" panose="02020603050405020304" pitchFamily="18" charset="0"/>
                        <a:ea typeface="Times New Roman" panose="02020603050405020304" pitchFamily="18" charset="0"/>
                      </a:endParaRPr>
                    </a:p>
                  </a:txBody>
                  <a:tcPr marL="24363" marR="24363" marT="0" marB="0"/>
                </a:tc>
                <a:tc>
                  <a:txBody>
                    <a:bodyPr/>
                    <a:lstStyle/>
                    <a:p>
                      <a:pPr marL="0" marR="0">
                        <a:spcBef>
                          <a:spcPts val="0"/>
                        </a:spcBef>
                        <a:spcAft>
                          <a:spcPts val="0"/>
                        </a:spcAft>
                      </a:pPr>
                      <a:r>
                        <a:rPr lang="en-US" sz="700" dirty="0">
                          <a:effectLst/>
                        </a:rPr>
                        <a:t>Policy Lead (Academic Integrity Office) + Legal Counsel</a:t>
                      </a:r>
                      <a:endParaRPr lang="en-US" sz="700" dirty="0">
                        <a:effectLst/>
                        <a:latin typeface="Times New Roman" panose="02020603050405020304" pitchFamily="18" charset="0"/>
                        <a:ea typeface="Times New Roman" panose="02020603050405020304" pitchFamily="18" charset="0"/>
                      </a:endParaRPr>
                    </a:p>
                  </a:txBody>
                  <a:tcPr marL="24363" marR="24363" marT="0" marB="0"/>
                </a:tc>
                <a:tc gridSpan="2">
                  <a:txBody>
                    <a:bodyPr/>
                    <a:lstStyle/>
                    <a:p>
                      <a:pPr marL="0" marR="0">
                        <a:spcBef>
                          <a:spcPts val="0"/>
                        </a:spcBef>
                        <a:spcAft>
                          <a:spcPts val="0"/>
                        </a:spcAft>
                      </a:pPr>
                      <a:r>
                        <a:rPr lang="en-US" sz="700">
                          <a:effectLst/>
                        </a:rPr>
                        <a:t>Legal sign‑off within 5 days of receipt.</a:t>
                      </a:r>
                      <a:endParaRPr lang="en-US" sz="700">
                        <a:effectLst/>
                        <a:latin typeface="Times New Roman" panose="02020603050405020304" pitchFamily="18" charset="0"/>
                        <a:ea typeface="Times New Roman" panose="02020603050405020304" pitchFamily="18" charset="0"/>
                      </a:endParaRPr>
                    </a:p>
                  </a:txBody>
                  <a:tcPr marL="24363" marR="24363" marT="0" marB="0"/>
                </a:tc>
                <a:tc hMerge="1">
                  <a:txBody>
                    <a:bodyPr/>
                    <a:lstStyle/>
                    <a:p>
                      <a:endParaRPr lang="en-US"/>
                    </a:p>
                  </a:txBody>
                  <a:tcPr/>
                </a:tc>
                <a:extLst>
                  <a:ext uri="{0D108BD9-81ED-4DB2-BD59-A6C34878D82A}">
                    <a16:rowId xmlns:a16="http://schemas.microsoft.com/office/drawing/2014/main" val="2736516420"/>
                  </a:ext>
                </a:extLst>
              </a:tr>
              <a:tr h="736901">
                <a:tc>
                  <a:txBody>
                    <a:bodyPr/>
                    <a:lstStyle/>
                    <a:p>
                      <a:pPr marL="0" marR="0">
                        <a:spcBef>
                          <a:spcPts val="0"/>
                        </a:spcBef>
                        <a:spcAft>
                          <a:spcPts val="0"/>
                        </a:spcAft>
                      </a:pPr>
                      <a:r>
                        <a:rPr lang="en-US" sz="700">
                          <a:effectLst/>
                        </a:rPr>
                        <a:t>3 – Technical Pilot (Semester 1)</a:t>
                      </a:r>
                      <a:endParaRPr lang="en-US" sz="700">
                        <a:effectLst/>
                        <a:latin typeface="Times New Roman" panose="02020603050405020304" pitchFamily="18" charset="0"/>
                        <a:ea typeface="Times New Roman" panose="02020603050405020304" pitchFamily="18" charset="0"/>
                      </a:endParaRPr>
                    </a:p>
                  </a:txBody>
                  <a:tcPr marL="24363" marR="24363" marT="0" marB="0"/>
                </a:tc>
                <a:tc>
                  <a:txBody>
                    <a:bodyPr/>
                    <a:lstStyle/>
                    <a:p>
                      <a:pPr marL="0" marR="0">
                        <a:spcBef>
                          <a:spcPts val="0"/>
                        </a:spcBef>
                        <a:spcAft>
                          <a:spcPts val="0"/>
                        </a:spcAft>
                      </a:pPr>
                      <a:r>
                        <a:rPr lang="en-US" sz="700">
                          <a:effectLst/>
                        </a:rPr>
                        <a:t>6 weeks </a:t>
                      </a:r>
                      <a:endParaRPr lang="en-US" sz="700">
                        <a:effectLst/>
                        <a:latin typeface="Times New Roman" panose="02020603050405020304" pitchFamily="18" charset="0"/>
                        <a:ea typeface="Times New Roman" panose="02020603050405020304" pitchFamily="18" charset="0"/>
                      </a:endParaRPr>
                    </a:p>
                  </a:txBody>
                  <a:tcPr marL="24363" marR="24363" marT="0" marB="0"/>
                </a:tc>
                <a:tc>
                  <a:txBody>
                    <a:bodyPr/>
                    <a:lstStyle/>
                    <a:p>
                      <a:pPr marL="0" marR="0">
                        <a:spcBef>
                          <a:spcPts val="0"/>
                        </a:spcBef>
                        <a:spcAft>
                          <a:spcPts val="0"/>
                        </a:spcAft>
                      </a:pPr>
                      <a:r>
                        <a:rPr lang="en-US" sz="700">
                          <a:effectLst/>
                        </a:rPr>
                        <a:t>Test detector + human‑review workflow in a limited setting.</a:t>
                      </a:r>
                      <a:endParaRPr lang="en-US" sz="700">
                        <a:effectLst/>
                        <a:latin typeface="Times New Roman" panose="02020603050405020304" pitchFamily="18" charset="0"/>
                        <a:ea typeface="Times New Roman" panose="02020603050405020304" pitchFamily="18" charset="0"/>
                      </a:endParaRPr>
                    </a:p>
                  </a:txBody>
                  <a:tcPr marL="24363" marR="24363" marT="0" marB="0"/>
                </a:tc>
                <a:tc>
                  <a:txBody>
                    <a:bodyPr/>
                    <a:lstStyle/>
                    <a:p>
                      <a:pPr marL="171450" marR="0" lvl="0" indent="-171450">
                        <a:spcBef>
                          <a:spcPts val="0"/>
                        </a:spcBef>
                        <a:spcAft>
                          <a:spcPts val="0"/>
                        </a:spcAft>
                        <a:buFont typeface="Arial" panose="020B0604020202020204" pitchFamily="34" charset="0"/>
                        <a:buChar char="•"/>
                      </a:pPr>
                      <a:r>
                        <a:rPr lang="en-US" sz="700" dirty="0">
                          <a:effectLst/>
                        </a:rPr>
                        <a:t>Select 2‑3 courses (high ELL enrollment).</a:t>
                      </a:r>
                    </a:p>
                    <a:p>
                      <a:pPr marL="171450" marR="0" lvl="0" indent="-171450">
                        <a:spcBef>
                          <a:spcPts val="0"/>
                        </a:spcBef>
                        <a:spcAft>
                          <a:spcPts val="0"/>
                        </a:spcAft>
                        <a:buFont typeface="Arial" panose="020B0604020202020204" pitchFamily="34" charset="0"/>
                        <a:buChar char="•"/>
                      </a:pPr>
                      <a:r>
                        <a:rPr lang="en-US" sz="700" dirty="0">
                          <a:effectLst/>
                        </a:rPr>
                        <a:t>Deploy chosen detector (e.g., Pangram Labs) with API integration.</a:t>
                      </a:r>
                    </a:p>
                    <a:p>
                      <a:pPr marL="171450" marR="0" lvl="0" indent="-171450">
                        <a:spcBef>
                          <a:spcPts val="0"/>
                        </a:spcBef>
                        <a:spcAft>
                          <a:spcPts val="0"/>
                        </a:spcAft>
                        <a:buFont typeface="Arial" panose="020B0604020202020204" pitchFamily="34" charset="0"/>
                        <a:buChar char="•"/>
                      </a:pPr>
                      <a:r>
                        <a:rPr lang="en-US" sz="700" dirty="0">
                          <a:effectLst/>
                        </a:rPr>
                        <a:t>Train 2‑3 faculty champions on review protocol.</a:t>
                      </a:r>
                    </a:p>
                    <a:p>
                      <a:pPr marL="171450" marR="0" lvl="0" indent="-171450">
                        <a:spcBef>
                          <a:spcPts val="0"/>
                        </a:spcBef>
                        <a:spcAft>
                          <a:spcPts val="0"/>
                        </a:spcAft>
                        <a:buFont typeface="Arial" panose="020B0604020202020204" pitchFamily="34" charset="0"/>
                        <a:buChar char="•"/>
                      </a:pPr>
                      <a:r>
                        <a:rPr lang="en-US" sz="700" dirty="0">
                          <a:effectLst/>
                        </a:rPr>
                        <a:t>Collect quantitative data: false‑positive rate, review time, student satisfaction.</a:t>
                      </a:r>
                    </a:p>
                    <a:p>
                      <a:pPr marL="171450" marR="0" lvl="0" indent="-171450">
                        <a:spcBef>
                          <a:spcPts val="0"/>
                        </a:spcBef>
                        <a:spcAft>
                          <a:spcPts val="0"/>
                        </a:spcAft>
                        <a:buFont typeface="Arial" panose="020B0604020202020204" pitchFamily="34" charset="0"/>
                        <a:buChar char="•"/>
                      </a:pPr>
                      <a:r>
                        <a:rPr lang="en-US" sz="700" dirty="0">
                          <a:effectLst/>
                        </a:rPr>
                        <a:t>Mid‑pilot check‑in meeting.</a:t>
                      </a:r>
                      <a:endParaRPr lang="en-US" sz="700" dirty="0">
                        <a:effectLst/>
                        <a:latin typeface="Times New Roman" panose="02020603050405020304" pitchFamily="18" charset="0"/>
                        <a:ea typeface="Times New Roman" panose="02020603050405020304" pitchFamily="18" charset="0"/>
                      </a:endParaRPr>
                    </a:p>
                  </a:txBody>
                  <a:tcPr marL="24363" marR="24363" marT="0" marB="0"/>
                </a:tc>
                <a:tc>
                  <a:txBody>
                    <a:bodyPr/>
                    <a:lstStyle/>
                    <a:p>
                      <a:pPr marL="0" marR="0">
                        <a:spcBef>
                          <a:spcPts val="0"/>
                        </a:spcBef>
                        <a:spcAft>
                          <a:spcPts val="0"/>
                        </a:spcAft>
                      </a:pPr>
                      <a:r>
                        <a:rPr lang="en-US" sz="700">
                          <a:effectLst/>
                        </a:rPr>
                        <a:t>IT Services (integration) + Faculty Pilot Leads</a:t>
                      </a:r>
                      <a:endParaRPr lang="en-US" sz="700">
                        <a:effectLst/>
                        <a:latin typeface="Times New Roman" panose="02020603050405020304" pitchFamily="18" charset="0"/>
                        <a:ea typeface="Times New Roman" panose="02020603050405020304" pitchFamily="18" charset="0"/>
                      </a:endParaRPr>
                    </a:p>
                  </a:txBody>
                  <a:tcPr marL="24363" marR="24363" marT="0" marB="0"/>
                </a:tc>
                <a:tc gridSpan="2">
                  <a:txBody>
                    <a:bodyPr/>
                    <a:lstStyle/>
                    <a:p>
                      <a:pPr marL="0" marR="0">
                        <a:spcBef>
                          <a:spcPts val="0"/>
                        </a:spcBef>
                        <a:spcAft>
                          <a:spcPts val="0"/>
                        </a:spcAft>
                      </a:pPr>
                      <a:r>
                        <a:rPr lang="en-US" sz="700">
                          <a:effectLst/>
                        </a:rPr>
                        <a:t>≤ 10 % false‑positive rate after human review; ≥ 75 % faculty satisfaction.</a:t>
                      </a:r>
                      <a:endParaRPr lang="en-US" sz="700">
                        <a:effectLst/>
                        <a:latin typeface="Times New Roman" panose="02020603050405020304" pitchFamily="18" charset="0"/>
                        <a:ea typeface="Times New Roman" panose="02020603050405020304" pitchFamily="18" charset="0"/>
                      </a:endParaRPr>
                    </a:p>
                  </a:txBody>
                  <a:tcPr marL="24363" marR="24363" marT="0" marB="0"/>
                </a:tc>
                <a:tc hMerge="1">
                  <a:txBody>
                    <a:bodyPr/>
                    <a:lstStyle/>
                    <a:p>
                      <a:endParaRPr lang="en-US"/>
                    </a:p>
                  </a:txBody>
                  <a:tcPr/>
                </a:tc>
                <a:extLst>
                  <a:ext uri="{0D108BD9-81ED-4DB2-BD59-A6C34878D82A}">
                    <a16:rowId xmlns:a16="http://schemas.microsoft.com/office/drawing/2014/main" val="2327830026"/>
                  </a:ext>
                </a:extLst>
              </a:tr>
              <a:tr h="491267">
                <a:tc>
                  <a:txBody>
                    <a:bodyPr/>
                    <a:lstStyle/>
                    <a:p>
                      <a:pPr marL="0" marR="0">
                        <a:spcBef>
                          <a:spcPts val="0"/>
                        </a:spcBef>
                        <a:spcAft>
                          <a:spcPts val="0"/>
                        </a:spcAft>
                      </a:pPr>
                      <a:r>
                        <a:rPr lang="en-US" sz="700">
                          <a:effectLst/>
                        </a:rPr>
                        <a:t>4 – Evaluation &amp; Iteration</a:t>
                      </a:r>
                      <a:endParaRPr lang="en-US" sz="700">
                        <a:effectLst/>
                        <a:latin typeface="Times New Roman" panose="02020603050405020304" pitchFamily="18" charset="0"/>
                        <a:ea typeface="Times New Roman" panose="02020603050405020304" pitchFamily="18" charset="0"/>
                      </a:endParaRPr>
                    </a:p>
                  </a:txBody>
                  <a:tcPr marL="24363" marR="24363" marT="0" marB="0"/>
                </a:tc>
                <a:tc>
                  <a:txBody>
                    <a:bodyPr/>
                    <a:lstStyle/>
                    <a:p>
                      <a:pPr marL="0" marR="0">
                        <a:spcBef>
                          <a:spcPts val="0"/>
                        </a:spcBef>
                        <a:spcAft>
                          <a:spcPts val="0"/>
                        </a:spcAft>
                      </a:pPr>
                      <a:r>
                        <a:rPr lang="en-US" sz="700">
                          <a:effectLst/>
                        </a:rPr>
                        <a:t>2 weeks</a:t>
                      </a:r>
                    </a:p>
                    <a:p>
                      <a:pPr marL="0" marR="0">
                        <a:spcBef>
                          <a:spcPts val="0"/>
                        </a:spcBef>
                        <a:spcAft>
                          <a:spcPts val="0"/>
                        </a:spcAft>
                      </a:pPr>
                      <a:r>
                        <a:rPr lang="en-US" sz="700">
                          <a:effectLst/>
                        </a:rPr>
                        <a:t>(after pilot)</a:t>
                      </a:r>
                      <a:endParaRPr lang="en-US" sz="700">
                        <a:effectLst/>
                        <a:latin typeface="Times New Roman" panose="02020603050405020304" pitchFamily="18" charset="0"/>
                        <a:ea typeface="Times New Roman" panose="02020603050405020304" pitchFamily="18" charset="0"/>
                      </a:endParaRPr>
                    </a:p>
                  </a:txBody>
                  <a:tcPr marL="24363" marR="24363" marT="0" marB="0"/>
                </a:tc>
                <a:tc>
                  <a:txBody>
                    <a:bodyPr/>
                    <a:lstStyle/>
                    <a:p>
                      <a:pPr marL="0" marR="0">
                        <a:spcBef>
                          <a:spcPts val="0"/>
                        </a:spcBef>
                        <a:spcAft>
                          <a:spcPts val="0"/>
                        </a:spcAft>
                      </a:pPr>
                      <a:r>
                        <a:rPr lang="en-US" sz="700">
                          <a:effectLst/>
                        </a:rPr>
                        <a:t>Analyse pilot data, refine policy &amp; tech stack.</a:t>
                      </a:r>
                      <a:endParaRPr lang="en-US" sz="700">
                        <a:effectLst/>
                        <a:latin typeface="Times New Roman" panose="02020603050405020304" pitchFamily="18" charset="0"/>
                        <a:ea typeface="Times New Roman" panose="02020603050405020304" pitchFamily="18" charset="0"/>
                      </a:endParaRPr>
                    </a:p>
                  </a:txBody>
                  <a:tcPr marL="24363" marR="24363" marT="0" marB="0"/>
                </a:tc>
                <a:tc>
                  <a:txBody>
                    <a:bodyPr/>
                    <a:lstStyle/>
                    <a:p>
                      <a:pPr marL="171450" marR="0" lvl="0" indent="-171450">
                        <a:spcBef>
                          <a:spcPts val="0"/>
                        </a:spcBef>
                        <a:spcAft>
                          <a:spcPts val="0"/>
                        </a:spcAft>
                        <a:buFont typeface="Arial" panose="020B0604020202020204" pitchFamily="34" charset="0"/>
                        <a:buChar char="•"/>
                      </a:pPr>
                      <a:r>
                        <a:rPr lang="en-US" sz="700" dirty="0">
                          <a:effectLst/>
                        </a:rPr>
                        <a:t>Produce “Pilot Evaluation Report” (metrics, lessons learned).</a:t>
                      </a:r>
                    </a:p>
                    <a:p>
                      <a:pPr marL="171450" marR="0" lvl="0" indent="-171450">
                        <a:spcBef>
                          <a:spcPts val="0"/>
                        </a:spcBef>
                        <a:spcAft>
                          <a:spcPts val="0"/>
                        </a:spcAft>
                        <a:buFont typeface="Arial" panose="020B0604020202020204" pitchFamily="34" charset="0"/>
                        <a:buChar char="•"/>
                      </a:pPr>
                      <a:r>
                        <a:rPr lang="en-US" sz="700" dirty="0">
                          <a:effectLst/>
                        </a:rPr>
                        <a:t>Update policy language (add any needed clarifications).</a:t>
                      </a:r>
                    </a:p>
                    <a:p>
                      <a:pPr marL="171450" marR="0" lvl="0" indent="-171450">
                        <a:spcBef>
                          <a:spcPts val="0"/>
                        </a:spcBef>
                        <a:spcAft>
                          <a:spcPts val="0"/>
                        </a:spcAft>
                        <a:buFont typeface="Arial" panose="020B0604020202020204" pitchFamily="34" charset="0"/>
                        <a:buChar char="•"/>
                      </a:pPr>
                      <a:r>
                        <a:rPr lang="en-US" sz="700" dirty="0">
                          <a:effectLst/>
                        </a:rPr>
                        <a:t>Decide on detector vendor (cost‑benefit).</a:t>
                      </a:r>
                      <a:endParaRPr lang="en-US" sz="700" dirty="0">
                        <a:effectLst/>
                        <a:latin typeface="Times New Roman" panose="02020603050405020304" pitchFamily="18" charset="0"/>
                        <a:ea typeface="Times New Roman" panose="02020603050405020304" pitchFamily="18" charset="0"/>
                      </a:endParaRPr>
                    </a:p>
                  </a:txBody>
                  <a:tcPr marL="24363" marR="24363" marT="0" marB="0"/>
                </a:tc>
                <a:tc>
                  <a:txBody>
                    <a:bodyPr/>
                    <a:lstStyle/>
                    <a:p>
                      <a:pPr marL="0" marR="0">
                        <a:spcBef>
                          <a:spcPts val="0"/>
                        </a:spcBef>
                        <a:spcAft>
                          <a:spcPts val="0"/>
                        </a:spcAft>
                      </a:pPr>
                      <a:r>
                        <a:rPr lang="en-US" sz="700">
                          <a:effectLst/>
                        </a:rPr>
                        <a:t>Steering Committee (incl. Data Analyst)</a:t>
                      </a:r>
                      <a:endParaRPr lang="en-US" sz="700">
                        <a:effectLst/>
                        <a:latin typeface="Times New Roman" panose="02020603050405020304" pitchFamily="18" charset="0"/>
                        <a:ea typeface="Times New Roman" panose="02020603050405020304" pitchFamily="18" charset="0"/>
                      </a:endParaRPr>
                    </a:p>
                  </a:txBody>
                  <a:tcPr marL="24363" marR="24363" marT="0" marB="0"/>
                </a:tc>
                <a:tc gridSpan="2">
                  <a:txBody>
                    <a:bodyPr/>
                    <a:lstStyle/>
                    <a:p>
                      <a:pPr marL="0" marR="0">
                        <a:spcBef>
                          <a:spcPts val="0"/>
                        </a:spcBef>
                        <a:spcAft>
                          <a:spcPts val="0"/>
                        </a:spcAft>
                      </a:pPr>
                      <a:r>
                        <a:rPr lang="en-US" sz="700">
                          <a:effectLst/>
                        </a:rPr>
                        <a:t>Recommendation approved by majority vote; revised policy ready for full roll‑out.</a:t>
                      </a:r>
                      <a:endParaRPr lang="en-US" sz="700">
                        <a:effectLst/>
                        <a:latin typeface="Times New Roman" panose="02020603050405020304" pitchFamily="18" charset="0"/>
                        <a:ea typeface="Times New Roman" panose="02020603050405020304" pitchFamily="18" charset="0"/>
                      </a:endParaRPr>
                    </a:p>
                  </a:txBody>
                  <a:tcPr marL="24363" marR="24363" marT="0" marB="0"/>
                </a:tc>
                <a:tc hMerge="1">
                  <a:txBody>
                    <a:bodyPr/>
                    <a:lstStyle/>
                    <a:p>
                      <a:endParaRPr lang="en-US"/>
                    </a:p>
                  </a:txBody>
                  <a:tcPr/>
                </a:tc>
                <a:extLst>
                  <a:ext uri="{0D108BD9-81ED-4DB2-BD59-A6C34878D82A}">
                    <a16:rowId xmlns:a16="http://schemas.microsoft.com/office/drawing/2014/main" val="589933793"/>
                  </a:ext>
                </a:extLst>
              </a:tr>
              <a:tr h="859716">
                <a:tc>
                  <a:txBody>
                    <a:bodyPr/>
                    <a:lstStyle/>
                    <a:p>
                      <a:pPr marL="0" marR="0">
                        <a:spcBef>
                          <a:spcPts val="0"/>
                        </a:spcBef>
                        <a:spcAft>
                          <a:spcPts val="0"/>
                        </a:spcAft>
                      </a:pPr>
                      <a:r>
                        <a:rPr lang="en-US" sz="700">
                          <a:effectLst/>
                        </a:rPr>
                        <a:t>5 – Full‑Scale Roll‑out (Semester 2)</a:t>
                      </a:r>
                      <a:endParaRPr lang="en-US" sz="700">
                        <a:effectLst/>
                        <a:latin typeface="Times New Roman" panose="02020603050405020304" pitchFamily="18" charset="0"/>
                        <a:ea typeface="Times New Roman" panose="02020603050405020304" pitchFamily="18" charset="0"/>
                      </a:endParaRPr>
                    </a:p>
                  </a:txBody>
                  <a:tcPr marL="24363" marR="24363" marT="0" marB="0"/>
                </a:tc>
                <a:tc>
                  <a:txBody>
                    <a:bodyPr/>
                    <a:lstStyle/>
                    <a:p>
                      <a:pPr marL="0" marR="0">
                        <a:spcBef>
                          <a:spcPts val="0"/>
                        </a:spcBef>
                        <a:spcAft>
                          <a:spcPts val="0"/>
                        </a:spcAft>
                      </a:pPr>
                      <a:r>
                        <a:rPr lang="en-US" sz="700">
                          <a:effectLst/>
                        </a:rPr>
                        <a:t>8 weeks</a:t>
                      </a:r>
                      <a:endParaRPr lang="en-US" sz="700">
                        <a:effectLst/>
                        <a:latin typeface="Times New Roman" panose="02020603050405020304" pitchFamily="18" charset="0"/>
                        <a:ea typeface="Times New Roman" panose="02020603050405020304" pitchFamily="18" charset="0"/>
                      </a:endParaRPr>
                    </a:p>
                  </a:txBody>
                  <a:tcPr marL="24363" marR="24363" marT="0" marB="0"/>
                </a:tc>
                <a:tc>
                  <a:txBody>
                    <a:bodyPr/>
                    <a:lstStyle/>
                    <a:p>
                      <a:pPr marL="0" marR="0">
                        <a:spcBef>
                          <a:spcPts val="0"/>
                        </a:spcBef>
                        <a:spcAft>
                          <a:spcPts val="0"/>
                        </a:spcAft>
                      </a:pPr>
                      <a:r>
                        <a:rPr lang="en-US" sz="700">
                          <a:effectLst/>
                        </a:rPr>
                        <a:t>Institution‑wide adoption, training, and support.</a:t>
                      </a:r>
                      <a:endParaRPr lang="en-US" sz="700">
                        <a:effectLst/>
                        <a:latin typeface="Times New Roman" panose="02020603050405020304" pitchFamily="18" charset="0"/>
                        <a:ea typeface="Times New Roman" panose="02020603050405020304" pitchFamily="18" charset="0"/>
                      </a:endParaRPr>
                    </a:p>
                  </a:txBody>
                  <a:tcPr marL="24363" marR="24363" marT="0" marB="0"/>
                </a:tc>
                <a:tc>
                  <a:txBody>
                    <a:bodyPr/>
                    <a:lstStyle/>
                    <a:p>
                      <a:pPr marL="171450" marR="0" lvl="0" indent="-171450">
                        <a:spcBef>
                          <a:spcPts val="0"/>
                        </a:spcBef>
                        <a:spcAft>
                          <a:spcPts val="0"/>
                        </a:spcAft>
                        <a:buFont typeface="Arial" panose="020B0604020202020204" pitchFamily="34" charset="0"/>
                        <a:buChar char="•"/>
                      </a:pPr>
                      <a:r>
                        <a:rPr lang="en-US" sz="700" dirty="0">
                          <a:effectLst/>
                        </a:rPr>
                        <a:t>Publish final policy on the university website &amp; LMS.</a:t>
                      </a:r>
                    </a:p>
                    <a:p>
                      <a:pPr marL="171450" marR="0" lvl="0" indent="-171450">
                        <a:spcBef>
                          <a:spcPts val="0"/>
                        </a:spcBef>
                        <a:spcAft>
                          <a:spcPts val="0"/>
                        </a:spcAft>
                        <a:buFont typeface="Arial" panose="020B0604020202020204" pitchFamily="34" charset="0"/>
                        <a:buChar char="•"/>
                      </a:pPr>
                      <a:r>
                        <a:rPr lang="en-US" sz="700" dirty="0">
                          <a:effectLst/>
                        </a:rPr>
                        <a:t>Mandatory 1‑hour online training for all instructors (recorded webinar + quiz).</a:t>
                      </a:r>
                    </a:p>
                    <a:p>
                      <a:pPr marL="171450" marR="0" lvl="0" indent="-171450">
                        <a:spcBef>
                          <a:spcPts val="0"/>
                        </a:spcBef>
                        <a:spcAft>
                          <a:spcPts val="0"/>
                        </a:spcAft>
                        <a:buFont typeface="Arial" panose="020B0604020202020204" pitchFamily="34" charset="0"/>
                        <a:buChar char="•"/>
                      </a:pPr>
                      <a:r>
                        <a:rPr lang="en-US" sz="700" dirty="0">
                          <a:effectLst/>
                        </a:rPr>
                        <a:t>Create “Help Desk” ticket queue for detector issues.</a:t>
                      </a:r>
                    </a:p>
                    <a:p>
                      <a:pPr marL="171450" marR="0" lvl="0" indent="-171450">
                        <a:spcBef>
                          <a:spcPts val="0"/>
                        </a:spcBef>
                        <a:spcAft>
                          <a:spcPts val="0"/>
                        </a:spcAft>
                        <a:buFont typeface="Arial" panose="020B0604020202020204" pitchFamily="34" charset="0"/>
                        <a:buChar char="•"/>
                      </a:pPr>
                      <a:r>
                        <a:rPr lang="en-US" sz="700" dirty="0">
                          <a:effectLst/>
                        </a:rPr>
                        <a:t>Deploy detector across all courses (auto‑enabled but with opt‑out for exempted classes).</a:t>
                      </a:r>
                    </a:p>
                    <a:p>
                      <a:pPr marL="171450" marR="0" lvl="0" indent="-171450">
                        <a:spcBef>
                          <a:spcPts val="0"/>
                        </a:spcBef>
                        <a:spcAft>
                          <a:spcPts val="0"/>
                        </a:spcAft>
                        <a:buFont typeface="Arial" panose="020B0604020202020204" pitchFamily="34" charset="0"/>
                        <a:buChar char="•"/>
                      </a:pPr>
                      <a:r>
                        <a:rPr lang="en-US" sz="700" dirty="0">
                          <a:effectLst/>
                        </a:rPr>
                        <a:t>Release “Student Guide” explaining rights, appeals, and error‑rate transparency.</a:t>
                      </a:r>
                      <a:endParaRPr lang="en-US" sz="700" dirty="0">
                        <a:effectLst/>
                        <a:latin typeface="Times New Roman" panose="02020603050405020304" pitchFamily="18" charset="0"/>
                        <a:ea typeface="Times New Roman" panose="02020603050405020304" pitchFamily="18" charset="0"/>
                      </a:endParaRPr>
                    </a:p>
                  </a:txBody>
                  <a:tcPr marL="24363" marR="24363" marT="0" marB="0"/>
                </a:tc>
                <a:tc>
                  <a:txBody>
                    <a:bodyPr/>
                    <a:lstStyle/>
                    <a:p>
                      <a:pPr marL="0" marR="0">
                        <a:spcBef>
                          <a:spcPts val="0"/>
                        </a:spcBef>
                        <a:spcAft>
                          <a:spcPts val="0"/>
                        </a:spcAft>
                      </a:pPr>
                      <a:r>
                        <a:rPr lang="en-US" sz="700">
                          <a:effectLst/>
                        </a:rPr>
                        <a:t>Academic Tech Team + Communications Office</a:t>
                      </a:r>
                      <a:endParaRPr lang="en-US" sz="700">
                        <a:effectLst/>
                        <a:latin typeface="Times New Roman" panose="02020603050405020304" pitchFamily="18" charset="0"/>
                        <a:ea typeface="Times New Roman" panose="02020603050405020304" pitchFamily="18" charset="0"/>
                      </a:endParaRPr>
                    </a:p>
                  </a:txBody>
                  <a:tcPr marL="24363" marR="24363" marT="0" marB="0"/>
                </a:tc>
                <a:tc gridSpan="2">
                  <a:txBody>
                    <a:bodyPr/>
                    <a:lstStyle/>
                    <a:p>
                      <a:pPr marL="0" marR="0">
                        <a:spcBef>
                          <a:spcPts val="0"/>
                        </a:spcBef>
                        <a:spcAft>
                          <a:spcPts val="0"/>
                        </a:spcAft>
                      </a:pPr>
                      <a:r>
                        <a:rPr lang="en-US" sz="700">
                          <a:effectLst/>
                        </a:rPr>
                        <a:t>100 % of instructors complete training; detector active in ≥ 95 % of courses.</a:t>
                      </a:r>
                      <a:endParaRPr lang="en-US" sz="700">
                        <a:effectLst/>
                        <a:latin typeface="Times New Roman" panose="02020603050405020304" pitchFamily="18" charset="0"/>
                        <a:ea typeface="Times New Roman" panose="02020603050405020304" pitchFamily="18" charset="0"/>
                      </a:endParaRPr>
                    </a:p>
                  </a:txBody>
                  <a:tcPr marL="24363" marR="24363" marT="0" marB="0"/>
                </a:tc>
                <a:tc hMerge="1">
                  <a:txBody>
                    <a:bodyPr/>
                    <a:lstStyle/>
                    <a:p>
                      <a:endParaRPr lang="en-US"/>
                    </a:p>
                  </a:txBody>
                  <a:tcPr/>
                </a:tc>
                <a:extLst>
                  <a:ext uri="{0D108BD9-81ED-4DB2-BD59-A6C34878D82A}">
                    <a16:rowId xmlns:a16="http://schemas.microsoft.com/office/drawing/2014/main" val="979516304"/>
                  </a:ext>
                </a:extLst>
              </a:tr>
              <a:tr h="491267">
                <a:tc>
                  <a:txBody>
                    <a:bodyPr/>
                    <a:lstStyle/>
                    <a:p>
                      <a:pPr marL="0" marR="0">
                        <a:spcBef>
                          <a:spcPts val="0"/>
                        </a:spcBef>
                        <a:spcAft>
                          <a:spcPts val="0"/>
                        </a:spcAft>
                      </a:pPr>
                      <a:r>
                        <a:rPr lang="en-US" sz="700">
                          <a:effectLst/>
                        </a:rPr>
                        <a:t>6 – Monitoring &amp; Continuous Improvement</a:t>
                      </a:r>
                      <a:endParaRPr lang="en-US" sz="700">
                        <a:effectLst/>
                        <a:latin typeface="Times New Roman" panose="02020603050405020304" pitchFamily="18" charset="0"/>
                        <a:ea typeface="Times New Roman" panose="02020603050405020304" pitchFamily="18" charset="0"/>
                      </a:endParaRPr>
                    </a:p>
                  </a:txBody>
                  <a:tcPr marL="24363" marR="24363" marT="0" marB="0"/>
                </a:tc>
                <a:tc>
                  <a:txBody>
                    <a:bodyPr/>
                    <a:lstStyle/>
                    <a:p>
                      <a:pPr marL="0" marR="0">
                        <a:spcBef>
                          <a:spcPts val="0"/>
                        </a:spcBef>
                        <a:spcAft>
                          <a:spcPts val="0"/>
                        </a:spcAft>
                      </a:pPr>
                      <a:r>
                        <a:rPr lang="en-US" sz="700">
                          <a:effectLst/>
                        </a:rPr>
                        <a:t>Ongoing (quarterly reviews)</a:t>
                      </a:r>
                      <a:endParaRPr lang="en-US" sz="700">
                        <a:effectLst/>
                        <a:latin typeface="Times New Roman" panose="02020603050405020304" pitchFamily="18" charset="0"/>
                        <a:ea typeface="Times New Roman" panose="02020603050405020304" pitchFamily="18" charset="0"/>
                      </a:endParaRPr>
                    </a:p>
                  </a:txBody>
                  <a:tcPr marL="24363" marR="24363" marT="0" marB="0"/>
                </a:tc>
                <a:tc>
                  <a:txBody>
                    <a:bodyPr/>
                    <a:lstStyle/>
                    <a:p>
                      <a:pPr marL="0" marR="0">
                        <a:spcBef>
                          <a:spcPts val="0"/>
                        </a:spcBef>
                        <a:spcAft>
                          <a:spcPts val="0"/>
                        </a:spcAft>
                      </a:pPr>
                      <a:r>
                        <a:rPr lang="en-US" sz="700">
                          <a:effectLst/>
                        </a:rPr>
                        <a:t>Track compliance, refine processes, and report to governance.</a:t>
                      </a:r>
                      <a:endParaRPr lang="en-US" sz="700">
                        <a:effectLst/>
                        <a:latin typeface="Times New Roman" panose="02020603050405020304" pitchFamily="18" charset="0"/>
                        <a:ea typeface="Times New Roman" panose="02020603050405020304" pitchFamily="18" charset="0"/>
                      </a:endParaRPr>
                    </a:p>
                  </a:txBody>
                  <a:tcPr marL="24363" marR="24363" marT="0" marB="0"/>
                </a:tc>
                <a:tc>
                  <a:txBody>
                    <a:bodyPr/>
                    <a:lstStyle/>
                    <a:p>
                      <a:pPr marL="171450" marR="0" lvl="0" indent="-171450">
                        <a:spcBef>
                          <a:spcPts val="0"/>
                        </a:spcBef>
                        <a:spcAft>
                          <a:spcPts val="0"/>
                        </a:spcAft>
                        <a:buFont typeface="Arial" panose="020B0604020202020204" pitchFamily="34" charset="0"/>
                        <a:buChar char="•"/>
                      </a:pPr>
                      <a:r>
                        <a:rPr lang="en-US" sz="700" dirty="0">
                          <a:effectLst/>
                        </a:rPr>
                        <a:t>Quarterly KPI dashboard (false‑positive %, appeal volume, turnaround time).</a:t>
                      </a:r>
                    </a:p>
                    <a:p>
                      <a:pPr marL="171450" marR="0" lvl="0" indent="-171450">
                        <a:spcBef>
                          <a:spcPts val="0"/>
                        </a:spcBef>
                        <a:spcAft>
                          <a:spcPts val="0"/>
                        </a:spcAft>
                        <a:buFont typeface="Arial" panose="020B0604020202020204" pitchFamily="34" charset="0"/>
                        <a:buChar char="•"/>
                      </a:pPr>
                      <a:r>
                        <a:rPr lang="en-US" sz="700" dirty="0">
                          <a:effectLst/>
                        </a:rPr>
                        <a:t>Annual stakeholder survey (students &amp; faculty).</a:t>
                      </a:r>
                    </a:p>
                    <a:p>
                      <a:pPr marL="171450" marR="0" lvl="0" indent="-171450">
                        <a:spcBef>
                          <a:spcPts val="0"/>
                        </a:spcBef>
                        <a:spcAft>
                          <a:spcPts val="0"/>
                        </a:spcAft>
                        <a:buFont typeface="Arial" panose="020B0604020202020204" pitchFamily="34" charset="0"/>
                        <a:buChar char="•"/>
                      </a:pPr>
                      <a:r>
                        <a:rPr lang="en-US" sz="700" dirty="0">
                          <a:effectLst/>
                        </a:rPr>
                        <a:t>Update policy/tech as needed (e.g., new detector releases).</a:t>
                      </a:r>
                      <a:endParaRPr lang="en-US" sz="700" dirty="0">
                        <a:effectLst/>
                        <a:latin typeface="Times New Roman" panose="02020603050405020304" pitchFamily="18" charset="0"/>
                        <a:ea typeface="Times New Roman" panose="02020603050405020304" pitchFamily="18" charset="0"/>
                      </a:endParaRPr>
                    </a:p>
                  </a:txBody>
                  <a:tcPr marL="24363" marR="24363" marT="0" marB="0"/>
                </a:tc>
                <a:tc>
                  <a:txBody>
                    <a:bodyPr/>
                    <a:lstStyle/>
                    <a:p>
                      <a:pPr marL="0" marR="0">
                        <a:spcBef>
                          <a:spcPts val="0"/>
                        </a:spcBef>
                        <a:spcAft>
                          <a:spcPts val="0"/>
                        </a:spcAft>
                      </a:pPr>
                      <a:r>
                        <a:rPr lang="en-US" sz="700">
                          <a:effectLst/>
                        </a:rPr>
                        <a:t>Monitoring Sub‑Committee (Legal, IT, Faculty, Student Rep)</a:t>
                      </a:r>
                      <a:endParaRPr lang="en-US" sz="700">
                        <a:effectLst/>
                        <a:latin typeface="Times New Roman" panose="02020603050405020304" pitchFamily="18" charset="0"/>
                        <a:ea typeface="Times New Roman" panose="02020603050405020304" pitchFamily="18" charset="0"/>
                      </a:endParaRPr>
                    </a:p>
                  </a:txBody>
                  <a:tcPr marL="24363" marR="24363" marT="0" marB="0"/>
                </a:tc>
                <a:tc gridSpan="2">
                  <a:txBody>
                    <a:bodyPr/>
                    <a:lstStyle/>
                    <a:p>
                      <a:pPr marL="0" marR="0">
                        <a:spcBef>
                          <a:spcPts val="0"/>
                        </a:spcBef>
                        <a:spcAft>
                          <a:spcPts val="0"/>
                        </a:spcAft>
                      </a:pPr>
                      <a:r>
                        <a:rPr lang="en-US" sz="700">
                          <a:effectLst/>
                        </a:rPr>
                        <a:t>KPI trends moving toward ≤ 5 % false‑positive rate; ≤ 10 % appeal rate.</a:t>
                      </a:r>
                      <a:endParaRPr lang="en-US" sz="700">
                        <a:effectLst/>
                        <a:latin typeface="Times New Roman" panose="02020603050405020304" pitchFamily="18" charset="0"/>
                        <a:ea typeface="Times New Roman" panose="02020603050405020304" pitchFamily="18" charset="0"/>
                      </a:endParaRPr>
                    </a:p>
                  </a:txBody>
                  <a:tcPr marL="24363" marR="24363" marT="0" marB="0"/>
                </a:tc>
                <a:tc hMerge="1">
                  <a:txBody>
                    <a:bodyPr/>
                    <a:lstStyle/>
                    <a:p>
                      <a:endParaRPr lang="en-US"/>
                    </a:p>
                  </a:txBody>
                  <a:tcPr/>
                </a:tc>
                <a:extLst>
                  <a:ext uri="{0D108BD9-81ED-4DB2-BD59-A6C34878D82A}">
                    <a16:rowId xmlns:a16="http://schemas.microsoft.com/office/drawing/2014/main" val="1686327604"/>
                  </a:ext>
                </a:extLst>
              </a:tr>
              <a:tr h="527969">
                <a:tc>
                  <a:txBody>
                    <a:bodyPr/>
                    <a:lstStyle/>
                    <a:p>
                      <a:pPr marL="0" marR="0">
                        <a:spcBef>
                          <a:spcPts val="0"/>
                        </a:spcBef>
                        <a:spcAft>
                          <a:spcPts val="0"/>
                        </a:spcAft>
                      </a:pPr>
                      <a:r>
                        <a:rPr lang="en-US" sz="700" dirty="0">
                          <a:effectLst/>
                        </a:rPr>
                        <a:t>7 – Formal Close‑out</a:t>
                      </a:r>
                      <a:endParaRPr lang="en-US" sz="700" dirty="0">
                        <a:effectLst/>
                        <a:latin typeface="Times New Roman" panose="02020603050405020304" pitchFamily="18" charset="0"/>
                        <a:ea typeface="Times New Roman" panose="02020603050405020304" pitchFamily="18" charset="0"/>
                      </a:endParaRPr>
                    </a:p>
                  </a:txBody>
                  <a:tcPr marL="24363" marR="24363" marT="0" marB="0"/>
                </a:tc>
                <a:tc>
                  <a:txBody>
                    <a:bodyPr/>
                    <a:lstStyle/>
                    <a:p>
                      <a:pPr marL="0" marR="0">
                        <a:spcBef>
                          <a:spcPts val="0"/>
                        </a:spcBef>
                        <a:spcAft>
                          <a:spcPts val="0"/>
                        </a:spcAft>
                      </a:pPr>
                      <a:r>
                        <a:rPr lang="en-US" sz="700">
                          <a:effectLst/>
                        </a:rPr>
                        <a:t>2 weeks (end of academic year)</a:t>
                      </a:r>
                      <a:endParaRPr lang="en-US" sz="700">
                        <a:effectLst/>
                        <a:latin typeface="Times New Roman" panose="02020603050405020304" pitchFamily="18" charset="0"/>
                        <a:ea typeface="Times New Roman" panose="02020603050405020304" pitchFamily="18" charset="0"/>
                      </a:endParaRPr>
                    </a:p>
                  </a:txBody>
                  <a:tcPr marL="24363" marR="24363" marT="0" marB="0"/>
                </a:tc>
                <a:tc>
                  <a:txBody>
                    <a:bodyPr/>
                    <a:lstStyle/>
                    <a:p>
                      <a:pPr marL="0" marR="0">
                        <a:spcBef>
                          <a:spcPts val="0"/>
                        </a:spcBef>
                        <a:spcAft>
                          <a:spcPts val="0"/>
                        </a:spcAft>
                      </a:pPr>
                      <a:r>
                        <a:rPr lang="en-US" sz="700">
                          <a:effectLst/>
                        </a:rPr>
                        <a:t>Archive documentation, hand‑off to permanent governance.</a:t>
                      </a:r>
                      <a:endParaRPr lang="en-US" sz="700">
                        <a:effectLst/>
                        <a:latin typeface="Times New Roman" panose="02020603050405020304" pitchFamily="18" charset="0"/>
                        <a:ea typeface="Times New Roman" panose="02020603050405020304" pitchFamily="18" charset="0"/>
                      </a:endParaRPr>
                    </a:p>
                  </a:txBody>
                  <a:tcPr marL="24363" marR="24363" marT="0" marB="0"/>
                </a:tc>
                <a:tc>
                  <a:txBody>
                    <a:bodyPr/>
                    <a:lstStyle/>
                    <a:p>
                      <a:pPr marL="171450" marR="0" lvl="0" indent="-171450">
                        <a:spcBef>
                          <a:spcPts val="0"/>
                        </a:spcBef>
                        <a:spcAft>
                          <a:spcPts val="0"/>
                        </a:spcAft>
                        <a:buFont typeface="Arial" panose="020B0604020202020204" pitchFamily="34" charset="0"/>
                        <a:buChar char="•"/>
                      </a:pPr>
                      <a:r>
                        <a:rPr lang="en-US" sz="700" dirty="0">
                          <a:effectLst/>
                        </a:rPr>
                        <a:t>Final “Project Close‑out Report” (budget, outcomes, lessons).</a:t>
                      </a:r>
                    </a:p>
                    <a:p>
                      <a:pPr marL="171450" marR="0" lvl="0" indent="-171450">
                        <a:spcBef>
                          <a:spcPts val="0"/>
                        </a:spcBef>
                        <a:spcAft>
                          <a:spcPts val="0"/>
                        </a:spcAft>
                        <a:buFont typeface="Arial" panose="020B0604020202020204" pitchFamily="34" charset="0"/>
                        <a:buChar char="•"/>
                      </a:pPr>
                      <a:r>
                        <a:rPr lang="en-US" sz="700" dirty="0">
                          <a:effectLst/>
                        </a:rPr>
                        <a:t>Archive all artifacts in the Institutional Repository.</a:t>
                      </a:r>
                    </a:p>
                    <a:p>
                      <a:pPr marL="171450" marR="0" lvl="0" indent="-171450">
                        <a:spcBef>
                          <a:spcPts val="0"/>
                        </a:spcBef>
                        <a:spcAft>
                          <a:spcPts val="0"/>
                        </a:spcAft>
                        <a:buFont typeface="Arial" panose="020B0604020202020204" pitchFamily="34" charset="0"/>
                        <a:buChar char="•"/>
                      </a:pPr>
                      <a:r>
                        <a:rPr lang="en-US" sz="700" dirty="0">
                          <a:effectLst/>
                        </a:rPr>
                        <a:t>Transition ongoing monitoring to the Academic Integrity Office.</a:t>
                      </a:r>
                      <a:endParaRPr lang="en-US" sz="700" dirty="0">
                        <a:effectLst/>
                        <a:latin typeface="Times New Roman" panose="02020603050405020304" pitchFamily="18" charset="0"/>
                        <a:ea typeface="Times New Roman" panose="02020603050405020304" pitchFamily="18" charset="0"/>
                      </a:endParaRPr>
                    </a:p>
                  </a:txBody>
                  <a:tcPr marL="24363" marR="24363" marT="0" marB="0"/>
                </a:tc>
                <a:tc>
                  <a:txBody>
                    <a:bodyPr/>
                    <a:lstStyle/>
                    <a:p>
                      <a:pPr marL="0" marR="0">
                        <a:spcBef>
                          <a:spcPts val="0"/>
                        </a:spcBef>
                        <a:spcAft>
                          <a:spcPts val="0"/>
                        </a:spcAft>
                      </a:pPr>
                      <a:r>
                        <a:rPr lang="en-US" sz="700">
                          <a:effectLst/>
                        </a:rPr>
                        <a:t>Project Manager + Academic Integrity Office</a:t>
                      </a:r>
                      <a:endParaRPr lang="en-US" sz="700">
                        <a:effectLst/>
                        <a:latin typeface="Times New Roman" panose="02020603050405020304" pitchFamily="18" charset="0"/>
                        <a:ea typeface="Times New Roman" panose="02020603050405020304" pitchFamily="18" charset="0"/>
                      </a:endParaRPr>
                    </a:p>
                  </a:txBody>
                  <a:tcPr marL="24363" marR="24363" marT="0" marB="0"/>
                </a:tc>
                <a:tc gridSpan="2">
                  <a:txBody>
                    <a:bodyPr/>
                    <a:lstStyle/>
                    <a:p>
                      <a:pPr marL="0" marR="0">
                        <a:spcBef>
                          <a:spcPts val="0"/>
                        </a:spcBef>
                        <a:spcAft>
                          <a:spcPts val="0"/>
                        </a:spcAft>
                      </a:pPr>
                      <a:r>
                        <a:rPr lang="en-US" sz="700" dirty="0">
                          <a:effectLst/>
                        </a:rPr>
                        <a:t>Report signed off; repository entry complete.</a:t>
                      </a:r>
                      <a:endParaRPr lang="en-US" sz="700" dirty="0">
                        <a:effectLst/>
                        <a:latin typeface="Times New Roman" panose="02020603050405020304" pitchFamily="18" charset="0"/>
                        <a:ea typeface="Times New Roman" panose="02020603050405020304" pitchFamily="18" charset="0"/>
                      </a:endParaRPr>
                    </a:p>
                  </a:txBody>
                  <a:tcPr marL="24363" marR="24363" marT="0" marB="0"/>
                </a:tc>
                <a:tc hMerge="1">
                  <a:txBody>
                    <a:bodyPr/>
                    <a:lstStyle/>
                    <a:p>
                      <a:endParaRPr lang="en-US"/>
                    </a:p>
                  </a:txBody>
                  <a:tcPr/>
                </a:tc>
                <a:extLst>
                  <a:ext uri="{0D108BD9-81ED-4DB2-BD59-A6C34878D82A}">
                    <a16:rowId xmlns:a16="http://schemas.microsoft.com/office/drawing/2014/main" val="1606157588"/>
                  </a:ext>
                </a:extLst>
              </a:tr>
            </a:tbl>
          </a:graphicData>
        </a:graphic>
      </p:graphicFrame>
      <p:sp>
        <p:nvSpPr>
          <p:cNvPr id="5" name="Title 1">
            <a:extLst>
              <a:ext uri="{FF2B5EF4-FFF2-40B4-BE49-F238E27FC236}">
                <a16:creationId xmlns:a16="http://schemas.microsoft.com/office/drawing/2014/main" id="{AF1332CF-1A54-7D15-999C-5C127A1EF130}"/>
              </a:ext>
            </a:extLst>
          </p:cNvPr>
          <p:cNvSpPr>
            <a:spLocks noGrp="1"/>
          </p:cNvSpPr>
          <p:nvPr>
            <p:ph type="title"/>
          </p:nvPr>
        </p:nvSpPr>
        <p:spPr>
          <a:xfrm>
            <a:off x="507160" y="-97415"/>
            <a:ext cx="8520600" cy="572700"/>
          </a:xfrm>
        </p:spPr>
        <p:txBody>
          <a:bodyPr>
            <a:normAutofit fontScale="90000"/>
          </a:bodyPr>
          <a:lstStyle/>
          <a:p>
            <a:r>
              <a:rPr lang="en-US" dirty="0"/>
              <a:t>Timeline Table</a:t>
            </a:r>
          </a:p>
        </p:txBody>
      </p:sp>
      <p:pic>
        <p:nvPicPr>
          <p:cNvPr id="12" name="Camera 11">
            <a:extLst>
              <a:ext uri="{FF2B5EF4-FFF2-40B4-BE49-F238E27FC236}">
                <a16:creationId xmlns:a16="http://schemas.microsoft.com/office/drawing/2014/main" id="{9D049204-2884-1DF5-134D-77E30496D8A8}"/>
              </a:ext>
            </a:extLst>
          </p:cNvPr>
          <p:cNvPicPr>
            <a:picLocks noChangeAspect="1"/>
            <a:extLst>
              <a:ext uri="{51228E76-BA90-4043-B771-695A4F85340A}">
                <alf:liveFeedProps xmlns:alf="http://schemas.microsoft.com/office/drawing/2021/livefeed"/>
              </a:ext>
            </a:extLst>
          </p:cNvPicPr>
          <p:nvPr/>
        </p:nvPicPr>
        <p:blipFill>
          <a:blip r:embed="rId3">
            <a:extLst>
              <a:ext uri="{96DAC541-7B7A-43D3-8B79-37D633B846F1}">
                <asvg:svgBlip xmlns:asvg="http://schemas.microsoft.com/office/drawing/2016/SVG/main" r:embed="rId4"/>
              </a:ext>
            </a:extLst>
          </a:blip>
          <a:stretch>
            <a:fillRect/>
          </a:stretch>
        </p:blipFill>
        <p:spPr>
          <a:xfrm>
            <a:off x="5507765" y="0"/>
            <a:ext cx="740014" cy="740014"/>
          </a:xfrm>
          <a:prstGeom prst="ellipse">
            <a:avLst/>
          </a:prstGeom>
          <a:ln>
            <a:noFill/>
          </a:ln>
          <a:effectLst>
            <a:softEdge rad="127000"/>
          </a:effectLst>
        </p:spPr>
      </p:pic>
    </p:spTree>
    <p:extLst>
      <p:ext uri="{BB962C8B-B14F-4D97-AF65-F5344CB8AC3E}">
        <p14:creationId xmlns:p14="http://schemas.microsoft.com/office/powerpoint/2010/main" val="5560858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sp>
        <p:nvSpPr>
          <p:cNvPr id="78" name="Google Shape;78;p1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What is your policy solution?</a:t>
            </a:r>
            <a:endParaRPr/>
          </a:p>
        </p:txBody>
      </p:sp>
      <p:sp>
        <p:nvSpPr>
          <p:cNvPr id="79" name="Google Shape;79;p17"/>
          <p:cNvSpPr txBox="1">
            <a:spLocks noGrp="1"/>
          </p:cNvSpPr>
          <p:nvPr>
            <p:ph type="body" idx="1"/>
          </p:nvPr>
        </p:nvSpPr>
        <p:spPr>
          <a:xfrm>
            <a:off x="311700" y="1152475"/>
            <a:ext cx="6060525" cy="2576563"/>
          </a:xfrm>
          <a:prstGeom prst="rect">
            <a:avLst/>
          </a:prstGeom>
        </p:spPr>
        <p:txBody>
          <a:bodyPr spcFirstLastPara="1" wrap="square" lIns="91425" tIns="91425" rIns="91425" bIns="91425" anchor="t" anchorCtr="0">
            <a:normAutofit/>
          </a:bodyPr>
          <a:lstStyle/>
          <a:p>
            <a:r>
              <a:rPr lang="en" dirty="0"/>
              <a:t>Implementation at an institutional level</a:t>
            </a:r>
          </a:p>
          <a:p>
            <a:pPr marL="457200" lvl="0" indent="-342900" algn="l" rtl="0">
              <a:spcBef>
                <a:spcPts val="0"/>
              </a:spcBef>
              <a:spcAft>
                <a:spcPts val="0"/>
              </a:spcAft>
              <a:buSzPts val="1800"/>
              <a:buChar char="●"/>
            </a:pPr>
            <a:r>
              <a:rPr lang="en" dirty="0"/>
              <a:t>Basic Tenets of the Policy</a:t>
            </a:r>
          </a:p>
          <a:p>
            <a:pPr lvl="1"/>
            <a:r>
              <a:rPr lang="en-US" dirty="0"/>
              <a:t>Avoid Relying solely on AI detectors</a:t>
            </a:r>
          </a:p>
          <a:p>
            <a:pPr lvl="1"/>
            <a:r>
              <a:rPr lang="en-US" dirty="0"/>
              <a:t>Mandatory human review</a:t>
            </a:r>
          </a:p>
          <a:p>
            <a:pPr lvl="1"/>
            <a:r>
              <a:rPr lang="en-US" dirty="0"/>
              <a:t>An accessible appeals process</a:t>
            </a:r>
          </a:p>
          <a:p>
            <a:pPr lvl="1"/>
            <a:r>
              <a:rPr lang="en-US" dirty="0"/>
              <a:t>Informing students when AI detection is used</a:t>
            </a:r>
          </a:p>
          <a:p>
            <a:pPr lvl="1"/>
            <a:r>
              <a:rPr lang="en-US" dirty="0"/>
              <a:t>Providing information about error rates and known biases</a:t>
            </a:r>
          </a:p>
          <a:p>
            <a:pPr lvl="1"/>
            <a:r>
              <a:rPr lang="en-US" dirty="0"/>
              <a:t>Civil rights protections</a:t>
            </a:r>
          </a:p>
          <a:p>
            <a:pPr lvl="1"/>
            <a:r>
              <a:rPr lang="en-US" dirty="0"/>
              <a:t>Evaluate student work holistically</a:t>
            </a:r>
          </a:p>
          <a:p>
            <a:pPr marL="457200" lvl="0" indent="-342900" algn="l" rtl="0">
              <a:spcBef>
                <a:spcPts val="0"/>
              </a:spcBef>
              <a:spcAft>
                <a:spcPts val="0"/>
              </a:spcAft>
              <a:buSzPts val="1800"/>
              <a:buChar char="●"/>
            </a:pPr>
            <a:endParaRPr dirty="0"/>
          </a:p>
        </p:txBody>
      </p:sp>
      <p:pic>
        <p:nvPicPr>
          <p:cNvPr id="10" name="Camera 9">
            <a:extLst>
              <a:ext uri="{FF2B5EF4-FFF2-40B4-BE49-F238E27FC236}">
                <a16:creationId xmlns:a16="http://schemas.microsoft.com/office/drawing/2014/main" id="{21DC5D22-C797-2582-D492-0C83CBE2B8D0}"/>
              </a:ext>
            </a:extLst>
          </p:cNvPr>
          <p:cNvPicPr>
            <a:picLocks noChangeAspect="1"/>
            <a:extLst>
              <a:ext uri="{51228E76-BA90-4043-B771-695A4F85340A}">
                <alf:liveFeedProps xmlns:alf="http://schemas.microsoft.com/office/drawing/2021/livefeed"/>
              </a:ext>
            </a:extLst>
          </p:cNvPicPr>
          <p:nvPr/>
        </p:nvPicPr>
        <p:blipFill>
          <a:blip r:embed="rId3">
            <a:extLst>
              <a:ext uri="{96DAC541-7B7A-43D3-8B79-37D633B846F1}">
                <asvg:svgBlip xmlns:asvg="http://schemas.microsoft.com/office/drawing/2016/SVG/main" r:embed="rId4"/>
              </a:ext>
            </a:extLst>
          </a:blip>
          <a:stretch>
            <a:fillRect/>
          </a:stretch>
        </p:blipFill>
        <p:spPr>
          <a:xfrm>
            <a:off x="7792926" y="3792426"/>
            <a:ext cx="1289351" cy="1289351"/>
          </a:xfrm>
          <a:prstGeom prst="ellipse">
            <a:avLst/>
          </a:prstGeom>
          <a:ln>
            <a:noFill/>
          </a:ln>
          <a:effectLst>
            <a:softEdge rad="127000"/>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8"/>
          <p:cNvSpPr txBox="1">
            <a:spLocks noGrp="1"/>
          </p:cNvSpPr>
          <p:nvPr>
            <p:ph type="title"/>
          </p:nvPr>
        </p:nvSpPr>
        <p:spPr>
          <a:xfrm>
            <a:off x="311700" y="159217"/>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t>What are potential objections/critiques?</a:t>
            </a:r>
            <a:endParaRPr dirty="0"/>
          </a:p>
        </p:txBody>
      </p:sp>
      <p:sp>
        <p:nvSpPr>
          <p:cNvPr id="4" name="TextBox 3">
            <a:extLst>
              <a:ext uri="{FF2B5EF4-FFF2-40B4-BE49-F238E27FC236}">
                <a16:creationId xmlns:a16="http://schemas.microsoft.com/office/drawing/2014/main" id="{EF24ED40-E9F0-C117-B623-1A339430ECE7}"/>
              </a:ext>
            </a:extLst>
          </p:cNvPr>
          <p:cNvSpPr txBox="1"/>
          <p:nvPr/>
        </p:nvSpPr>
        <p:spPr>
          <a:xfrm>
            <a:off x="220260" y="4026564"/>
            <a:ext cx="7359100" cy="830997"/>
          </a:xfrm>
          <a:prstGeom prst="rect">
            <a:avLst/>
          </a:prstGeom>
        </p:spPr>
        <p:style>
          <a:lnRef idx="0">
            <a:schemeClr val="accent4"/>
          </a:lnRef>
          <a:fillRef idx="3">
            <a:schemeClr val="accent4"/>
          </a:fillRef>
          <a:effectRef idx="3">
            <a:schemeClr val="accent4"/>
          </a:effectRef>
          <a:fontRef idx="minor">
            <a:schemeClr val="lt1"/>
          </a:fontRef>
        </p:style>
        <p:txBody>
          <a:bodyPr wrap="square">
            <a:spAutoFit/>
          </a:bodyPr>
          <a:lstStyle/>
          <a:p>
            <a:pPr marL="114300">
              <a:buSzPts val="1800"/>
            </a:pPr>
            <a:r>
              <a:rPr lang="en-US" sz="1600" dirty="0">
                <a:ln w="0"/>
                <a:solidFill>
                  <a:schemeClr val="tx1"/>
                </a:solidFill>
                <a:effectLst>
                  <a:outerShdw blurRad="38100" dist="19050" dir="2700000" algn="tl" rotWithShape="0">
                    <a:schemeClr val="dk1">
                      <a:alpha val="40000"/>
                    </a:schemeClr>
                  </a:outerShdw>
                </a:effectLst>
              </a:rPr>
              <a:t>The various costs (both political and monetary) may be initially high, but this policy will help create the kind of academic atmosphere that fosters students’ potential, which is why most educators entered the field in the first place. </a:t>
            </a:r>
          </a:p>
        </p:txBody>
      </p:sp>
      <p:graphicFrame>
        <p:nvGraphicFramePr>
          <p:cNvPr id="6" name="Table 5">
            <a:extLst>
              <a:ext uri="{FF2B5EF4-FFF2-40B4-BE49-F238E27FC236}">
                <a16:creationId xmlns:a16="http://schemas.microsoft.com/office/drawing/2014/main" id="{33DCF521-3DAD-C083-CB9C-D9DF3D7C3C6B}"/>
              </a:ext>
            </a:extLst>
          </p:cNvPr>
          <p:cNvGraphicFramePr>
            <a:graphicFrameLocks noGrp="1"/>
          </p:cNvGraphicFramePr>
          <p:nvPr>
            <p:extLst>
              <p:ext uri="{D42A27DB-BD31-4B8C-83A1-F6EECF244321}">
                <p14:modId xmlns:p14="http://schemas.microsoft.com/office/powerpoint/2010/main" val="3436283951"/>
              </p:ext>
            </p:extLst>
          </p:nvPr>
        </p:nvGraphicFramePr>
        <p:xfrm>
          <a:off x="315678" y="637636"/>
          <a:ext cx="8597902" cy="3112508"/>
        </p:xfrm>
        <a:graphic>
          <a:graphicData uri="http://schemas.openxmlformats.org/drawingml/2006/table">
            <a:tbl>
              <a:tblPr firstRow="1" bandRow="1">
                <a:tableStyleId>{5C22544A-7EE6-4342-B048-85BDC9FD1C3A}</a:tableStyleId>
              </a:tblPr>
              <a:tblGrid>
                <a:gridCol w="2593342">
                  <a:extLst>
                    <a:ext uri="{9D8B030D-6E8A-4147-A177-3AD203B41FA5}">
                      <a16:colId xmlns:a16="http://schemas.microsoft.com/office/drawing/2014/main" val="921648364"/>
                    </a:ext>
                  </a:extLst>
                </a:gridCol>
                <a:gridCol w="2895600">
                  <a:extLst>
                    <a:ext uri="{9D8B030D-6E8A-4147-A177-3AD203B41FA5}">
                      <a16:colId xmlns:a16="http://schemas.microsoft.com/office/drawing/2014/main" val="2722686661"/>
                    </a:ext>
                  </a:extLst>
                </a:gridCol>
                <a:gridCol w="3108960">
                  <a:extLst>
                    <a:ext uri="{9D8B030D-6E8A-4147-A177-3AD203B41FA5}">
                      <a16:colId xmlns:a16="http://schemas.microsoft.com/office/drawing/2014/main" val="3720130886"/>
                    </a:ext>
                  </a:extLst>
                </a:gridCol>
              </a:tblGrid>
              <a:tr h="162163">
                <a:tc>
                  <a:txBody>
                    <a:bodyPr/>
                    <a:lstStyle/>
                    <a:p>
                      <a:r>
                        <a:rPr lang="en-US" dirty="0"/>
                        <a:t>Potential Objection/Critique</a:t>
                      </a:r>
                    </a:p>
                  </a:txBody>
                  <a:tcPr/>
                </a:tc>
                <a:tc>
                  <a:txBody>
                    <a:bodyPr/>
                    <a:lstStyle/>
                    <a:p>
                      <a:r>
                        <a:rPr lang="en-US" dirty="0"/>
                        <a:t>Why</a:t>
                      </a:r>
                    </a:p>
                  </a:txBody>
                  <a:tcPr/>
                </a:tc>
                <a:tc>
                  <a:txBody>
                    <a:bodyPr/>
                    <a:lstStyle/>
                    <a:p>
                      <a:r>
                        <a:rPr lang="en-US" dirty="0"/>
                        <a:t>Response by Plan</a:t>
                      </a:r>
                    </a:p>
                  </a:txBody>
                  <a:tcPr/>
                </a:tc>
                <a:extLst>
                  <a:ext uri="{0D108BD9-81ED-4DB2-BD59-A6C34878D82A}">
                    <a16:rowId xmlns:a16="http://schemas.microsoft.com/office/drawing/2014/main" val="1711249960"/>
                  </a:ext>
                </a:extLst>
              </a:tr>
              <a:tr h="340746">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 sz="1200" b="0" i="0" u="none" strike="noStrike" cap="none" dirty="0">
                          <a:solidFill>
                            <a:schemeClr val="dk1"/>
                          </a:solidFill>
                          <a:latin typeface="+mn-lt"/>
                          <a:ea typeface="+mn-ea"/>
                          <a:cs typeface="+mn-cs"/>
                          <a:sym typeface="Arial"/>
                        </a:rPr>
                        <a:t>Increased Faculty workload</a:t>
                      </a:r>
                    </a:p>
                  </a:txBody>
                  <a:tcPr/>
                </a:tc>
                <a:tc>
                  <a:txBody>
                    <a:bodyPr/>
                    <a:lstStyle/>
                    <a:p>
                      <a:pPr marL="285750" indent="-285750">
                        <a:buFont typeface="Arial" panose="020B0604020202020204" pitchFamily="34" charset="0"/>
                        <a:buChar char="•"/>
                      </a:pPr>
                      <a:r>
                        <a:rPr lang="en-US" sz="1200" dirty="0"/>
                        <a:t>Initial increase in training for faculty </a:t>
                      </a:r>
                    </a:p>
                    <a:p>
                      <a:pPr marL="285750" indent="-285750">
                        <a:buFont typeface="Arial" panose="020B0604020202020204" pitchFamily="34" charset="0"/>
                        <a:buChar char="•"/>
                      </a:pPr>
                      <a:r>
                        <a:rPr lang="en-US" sz="1200" dirty="0"/>
                        <a:t>human review of AI detector results</a:t>
                      </a:r>
                    </a:p>
                  </a:txBody>
                  <a:tcPr/>
                </a:tc>
                <a:tc>
                  <a:txBody>
                    <a:bodyPr/>
                    <a:lstStyle/>
                    <a:p>
                      <a:pPr marL="285750" indent="-285750">
                        <a:buFont typeface="Arial" panose="020B0604020202020204" pitchFamily="34" charset="0"/>
                        <a:buChar char="•"/>
                      </a:pPr>
                      <a:r>
                        <a:rPr lang="en-US" sz="1200" b="1" i="0" u="none" strike="noStrike" cap="none" dirty="0">
                          <a:solidFill>
                            <a:schemeClr val="dk1"/>
                          </a:solidFill>
                          <a:effectLst/>
                          <a:latin typeface="+mn-lt"/>
                          <a:ea typeface="+mn-ea"/>
                          <a:cs typeface="+mn-cs"/>
                          <a:sym typeface="Arial"/>
                        </a:rPr>
                        <a:t>human‑review workflow pilot</a:t>
                      </a:r>
                      <a:r>
                        <a:rPr lang="en-US" sz="1200" b="0" i="0" u="none" strike="noStrike" cap="none" dirty="0">
                          <a:solidFill>
                            <a:schemeClr val="dk1"/>
                          </a:solidFill>
                          <a:effectLst/>
                          <a:latin typeface="+mn-lt"/>
                          <a:ea typeface="+mn-ea"/>
                          <a:cs typeface="+mn-cs"/>
                          <a:sym typeface="Arial"/>
                        </a:rPr>
                        <a:t> </a:t>
                      </a:r>
                    </a:p>
                    <a:p>
                      <a:pPr marL="285750" indent="-285750">
                        <a:buFont typeface="Arial" panose="020B0604020202020204" pitchFamily="34" charset="0"/>
                        <a:buChar char="•"/>
                      </a:pPr>
                      <a:r>
                        <a:rPr lang="en-US" sz="1200" b="0" i="0" u="none" strike="noStrike" cap="none" dirty="0">
                          <a:solidFill>
                            <a:schemeClr val="dk1"/>
                          </a:solidFill>
                          <a:effectLst/>
                          <a:latin typeface="+mn-lt"/>
                          <a:ea typeface="+mn-ea"/>
                          <a:cs typeface="+mn-cs"/>
                          <a:sym typeface="Arial"/>
                        </a:rPr>
                        <a:t>provide </a:t>
                      </a:r>
                      <a:r>
                        <a:rPr lang="en-US" sz="1200" b="1" i="0" u="none" strike="noStrike" cap="none" dirty="0">
                          <a:solidFill>
                            <a:schemeClr val="dk1"/>
                          </a:solidFill>
                          <a:effectLst/>
                          <a:latin typeface="+mn-lt"/>
                          <a:ea typeface="+mn-ea"/>
                          <a:cs typeface="+mn-cs"/>
                          <a:sym typeface="Arial"/>
                        </a:rPr>
                        <a:t>training modules</a:t>
                      </a:r>
                      <a:endParaRPr lang="en-US" sz="1200" b="0" i="0" u="none" strike="noStrike" cap="none" dirty="0">
                        <a:solidFill>
                          <a:schemeClr val="dk1"/>
                        </a:solidFill>
                        <a:effectLst/>
                        <a:latin typeface="+mn-lt"/>
                        <a:ea typeface="+mn-ea"/>
                        <a:cs typeface="+mn-cs"/>
                        <a:sym typeface="Arial"/>
                      </a:endParaRPr>
                    </a:p>
                    <a:p>
                      <a:pPr marL="285750" indent="-285750">
                        <a:buFont typeface="Arial" panose="020B0604020202020204" pitchFamily="34" charset="0"/>
                        <a:buChar char="•"/>
                      </a:pPr>
                      <a:r>
                        <a:rPr lang="en-US" sz="1200" b="1" i="0" u="none" strike="noStrike" cap="none" dirty="0">
                          <a:solidFill>
                            <a:schemeClr val="dk1"/>
                          </a:solidFill>
                          <a:effectLst/>
                          <a:latin typeface="+mn-lt"/>
                          <a:ea typeface="+mn-ea"/>
                          <a:cs typeface="+mn-cs"/>
                          <a:sym typeface="Arial"/>
                        </a:rPr>
                        <a:t>compensation</a:t>
                      </a:r>
                      <a:r>
                        <a:rPr lang="en-US" sz="1200" b="0" i="0" u="none" strike="noStrike" cap="none" dirty="0">
                          <a:solidFill>
                            <a:schemeClr val="dk1"/>
                          </a:solidFill>
                          <a:effectLst/>
                          <a:latin typeface="+mn-lt"/>
                          <a:ea typeface="+mn-ea"/>
                          <a:cs typeface="+mn-cs"/>
                          <a:sym typeface="Arial"/>
                        </a:rPr>
                        <a:t> </a:t>
                      </a:r>
                      <a:endParaRPr lang="en-US" sz="1200" dirty="0"/>
                    </a:p>
                  </a:txBody>
                  <a:tcPr/>
                </a:tc>
                <a:extLst>
                  <a:ext uri="{0D108BD9-81ED-4DB2-BD59-A6C34878D82A}">
                    <a16:rowId xmlns:a16="http://schemas.microsoft.com/office/drawing/2014/main" val="1360986276"/>
                  </a:ext>
                </a:extLst>
              </a:tr>
              <a:tr h="535174">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 sz="1200" b="0" i="0" u="none" strike="noStrike" cap="none" dirty="0">
                          <a:solidFill>
                            <a:schemeClr val="dk1"/>
                          </a:solidFill>
                          <a:latin typeface="+mn-lt"/>
                          <a:ea typeface="+mn-ea"/>
                          <a:cs typeface="+mn-cs"/>
                          <a:sym typeface="Arial"/>
                        </a:rPr>
                        <a:t>Potential reintroduction of bias due to human review</a:t>
                      </a:r>
                    </a:p>
                  </a:txBody>
                  <a:tcPr/>
                </a:tc>
                <a:tc>
                  <a:txBody>
                    <a:bodyPr/>
                    <a:lstStyle/>
                    <a:p>
                      <a:r>
                        <a:rPr lang="en-US" sz="1200" dirty="0"/>
                        <a:t>Human review</a:t>
                      </a:r>
                    </a:p>
                  </a:txBody>
                  <a:tcPr/>
                </a:tc>
                <a:tc>
                  <a:txBody>
                    <a:bodyPr/>
                    <a:lstStyle/>
                    <a:p>
                      <a:pPr marL="285750" indent="-285750">
                        <a:buFont typeface="Arial" panose="020B0604020202020204" pitchFamily="34" charset="0"/>
                        <a:buChar char="•"/>
                      </a:pPr>
                      <a:r>
                        <a:rPr lang="en-US" sz="1200" b="1" i="0" u="none" strike="noStrike" cap="none" dirty="0">
                          <a:solidFill>
                            <a:schemeClr val="dk1"/>
                          </a:solidFill>
                          <a:effectLst/>
                          <a:latin typeface="+mn-lt"/>
                          <a:ea typeface="+mn-ea"/>
                          <a:cs typeface="+mn-cs"/>
                          <a:sym typeface="Arial"/>
                        </a:rPr>
                        <a:t>bias‑training</a:t>
                      </a:r>
                      <a:endParaRPr lang="en-US" sz="1200" b="0" i="0" u="none" strike="noStrike" cap="none" dirty="0">
                        <a:solidFill>
                          <a:schemeClr val="dk1"/>
                        </a:solidFill>
                        <a:effectLst/>
                        <a:latin typeface="+mn-lt"/>
                        <a:ea typeface="+mn-ea"/>
                        <a:cs typeface="+mn-cs"/>
                        <a:sym typeface="Arial"/>
                      </a:endParaRPr>
                    </a:p>
                    <a:p>
                      <a:pPr marL="285750" indent="-285750">
                        <a:buFont typeface="Arial" panose="020B0604020202020204" pitchFamily="34" charset="0"/>
                        <a:buChar char="•"/>
                      </a:pPr>
                      <a:r>
                        <a:rPr lang="en-US" sz="1200" b="1" i="0" u="none" strike="noStrike" cap="none" dirty="0">
                          <a:solidFill>
                            <a:schemeClr val="dk1"/>
                          </a:solidFill>
                          <a:effectLst/>
                          <a:latin typeface="+mn-lt"/>
                          <a:ea typeface="+mn-ea"/>
                          <a:cs typeface="+mn-cs"/>
                          <a:sym typeface="Arial"/>
                        </a:rPr>
                        <a:t>standardized rubrics</a:t>
                      </a:r>
                      <a:endParaRPr lang="en-US" sz="1200" dirty="0"/>
                    </a:p>
                  </a:txBody>
                  <a:tcPr/>
                </a:tc>
                <a:extLst>
                  <a:ext uri="{0D108BD9-81ED-4DB2-BD59-A6C34878D82A}">
                    <a16:rowId xmlns:a16="http://schemas.microsoft.com/office/drawing/2014/main" val="2219398047"/>
                  </a:ext>
                </a:extLst>
              </a:tr>
              <a:tr h="535174">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b="0" i="0" u="none" strike="noStrike" cap="none" dirty="0">
                          <a:solidFill>
                            <a:schemeClr val="dk1"/>
                          </a:solidFill>
                          <a:latin typeface="+mn-lt"/>
                          <a:ea typeface="+mn-ea"/>
                          <a:cs typeface="+mn-cs"/>
                          <a:sym typeface="Arial"/>
                        </a:rPr>
                        <a:t>Impact on visa status for international students</a:t>
                      </a:r>
                      <a:endParaRPr lang="en" sz="1200" b="0" i="0" u="none" strike="noStrike" cap="none" dirty="0">
                        <a:solidFill>
                          <a:schemeClr val="dk1"/>
                        </a:solidFill>
                        <a:latin typeface="+mn-lt"/>
                        <a:ea typeface="+mn-ea"/>
                        <a:cs typeface="+mn-cs"/>
                        <a:sym typeface="Arial"/>
                      </a:endParaRPr>
                    </a:p>
                  </a:txBody>
                  <a:tcPr/>
                </a:tc>
                <a:tc>
                  <a:txBody>
                    <a:bodyPr/>
                    <a:lstStyle/>
                    <a:p>
                      <a:r>
                        <a:rPr lang="en-US" sz="1200" dirty="0"/>
                        <a:t>Decisions made regarding student integrity may still have similar results</a:t>
                      </a:r>
                    </a:p>
                  </a:txBody>
                  <a:tcPr/>
                </a:tc>
                <a:tc>
                  <a:txBody>
                    <a:bodyPr/>
                    <a:lstStyle/>
                    <a:p>
                      <a:pPr marL="285750" indent="-285750">
                        <a:buFont typeface="Arial" panose="020B0604020202020204" pitchFamily="34" charset="0"/>
                        <a:buChar char="•"/>
                      </a:pPr>
                      <a:r>
                        <a:rPr lang="en-US" sz="1200" b="0" i="0" u="none" strike="noStrike" cap="none" dirty="0">
                          <a:solidFill>
                            <a:schemeClr val="dk1"/>
                          </a:solidFill>
                          <a:effectLst/>
                          <a:latin typeface="+mn-lt"/>
                          <a:ea typeface="+mn-ea"/>
                          <a:cs typeface="+mn-cs"/>
                          <a:sym typeface="Arial"/>
                        </a:rPr>
                        <a:t>T</a:t>
                      </a:r>
                      <a:r>
                        <a:rPr lang="en-US" sz="1200" b="1" i="0" u="none" strike="noStrike" cap="none" dirty="0">
                          <a:solidFill>
                            <a:schemeClr val="dk1"/>
                          </a:solidFill>
                          <a:effectLst/>
                          <a:latin typeface="+mn-lt"/>
                          <a:ea typeface="+mn-ea"/>
                          <a:cs typeface="+mn-cs"/>
                          <a:sym typeface="Arial"/>
                        </a:rPr>
                        <a:t>ransparent appeals</a:t>
                      </a:r>
                      <a:r>
                        <a:rPr lang="en-US" sz="1200" b="0" i="0" u="none" strike="noStrike" cap="none" dirty="0">
                          <a:solidFill>
                            <a:schemeClr val="dk1"/>
                          </a:solidFill>
                          <a:effectLst/>
                          <a:latin typeface="+mn-lt"/>
                          <a:ea typeface="+mn-ea"/>
                          <a:cs typeface="+mn-cs"/>
                          <a:sym typeface="Arial"/>
                        </a:rPr>
                        <a:t> process </a:t>
                      </a:r>
                    </a:p>
                    <a:p>
                      <a:pPr marL="285750" indent="-285750">
                        <a:buFont typeface="Arial" panose="020B0604020202020204" pitchFamily="34" charset="0"/>
                        <a:buChar char="•"/>
                      </a:pPr>
                      <a:r>
                        <a:rPr lang="en-US" sz="1200" b="1" i="0" u="none" strike="noStrike" cap="none" dirty="0">
                          <a:solidFill>
                            <a:schemeClr val="dk1"/>
                          </a:solidFill>
                          <a:effectLst/>
                          <a:latin typeface="+mn-lt"/>
                          <a:ea typeface="+mn-ea"/>
                          <a:cs typeface="+mn-cs"/>
                          <a:sym typeface="Arial"/>
                        </a:rPr>
                        <a:t>Legal counsel</a:t>
                      </a:r>
                      <a:r>
                        <a:rPr lang="en-US" sz="1200" b="0" i="0" u="none" strike="noStrike" cap="none" dirty="0">
                          <a:solidFill>
                            <a:schemeClr val="dk1"/>
                          </a:solidFill>
                          <a:effectLst/>
                          <a:latin typeface="+mn-lt"/>
                          <a:ea typeface="+mn-ea"/>
                          <a:cs typeface="+mn-cs"/>
                          <a:sym typeface="Arial"/>
                        </a:rPr>
                        <a:t> involvement</a:t>
                      </a:r>
                      <a:endParaRPr lang="en-US" sz="1200" dirty="0"/>
                    </a:p>
                  </a:txBody>
                  <a:tcPr/>
                </a:tc>
                <a:extLst>
                  <a:ext uri="{0D108BD9-81ED-4DB2-BD59-A6C34878D82A}">
                    <a16:rowId xmlns:a16="http://schemas.microsoft.com/office/drawing/2014/main" val="3437225738"/>
                  </a:ext>
                </a:extLst>
              </a:tr>
              <a:tr h="340746">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 sz="1200" b="0" i="0" u="none" strike="noStrike" cap="none" dirty="0">
                          <a:solidFill>
                            <a:schemeClr val="dk1"/>
                          </a:solidFill>
                          <a:latin typeface="+mn-lt"/>
                          <a:ea typeface="+mn-ea"/>
                          <a:cs typeface="+mn-cs"/>
                          <a:sym typeface="Arial"/>
                        </a:rPr>
                        <a:t>Technical feasibility / cost</a:t>
                      </a:r>
                    </a:p>
                  </a:txBody>
                  <a:tcPr/>
                </a:tc>
                <a:tc>
                  <a:txBody>
                    <a:bodyPr/>
                    <a:lstStyle/>
                    <a:p>
                      <a:r>
                        <a:rPr lang="en-US" sz="1200" dirty="0"/>
                        <a:t>Policy may be more expensive to implement than purchasing an alternative</a:t>
                      </a:r>
                    </a:p>
                  </a:txBody>
                  <a:tcPr/>
                </a:tc>
                <a:tc>
                  <a:txBody>
                    <a:bodyPr/>
                    <a:lstStyle/>
                    <a:p>
                      <a:pPr marL="285750" indent="-285750">
                        <a:buFont typeface="Arial" panose="020B0604020202020204" pitchFamily="34" charset="0"/>
                        <a:buChar char="•"/>
                      </a:pPr>
                      <a:r>
                        <a:rPr lang="en-US" sz="1200" b="1" i="0" u="none" strike="noStrike" cap="none" dirty="0">
                          <a:solidFill>
                            <a:schemeClr val="dk1"/>
                          </a:solidFill>
                          <a:effectLst/>
                          <a:latin typeface="+mn-lt"/>
                          <a:ea typeface="+mn-ea"/>
                          <a:cs typeface="+mn-cs"/>
                          <a:sym typeface="Arial"/>
                        </a:rPr>
                        <a:t>Cost‑benefit analysis</a:t>
                      </a:r>
                      <a:r>
                        <a:rPr lang="en-US" sz="1200" b="0" i="0" u="none" strike="noStrike" cap="none" dirty="0">
                          <a:solidFill>
                            <a:schemeClr val="dk1"/>
                          </a:solidFill>
                          <a:effectLst/>
                          <a:latin typeface="+mn-lt"/>
                          <a:ea typeface="+mn-ea"/>
                          <a:cs typeface="+mn-cs"/>
                          <a:sym typeface="Arial"/>
                        </a:rPr>
                        <a:t> </a:t>
                      </a:r>
                      <a:endParaRPr lang="en-US" sz="1200" dirty="0"/>
                    </a:p>
                  </a:txBody>
                  <a:tcPr/>
                </a:tc>
                <a:extLst>
                  <a:ext uri="{0D108BD9-81ED-4DB2-BD59-A6C34878D82A}">
                    <a16:rowId xmlns:a16="http://schemas.microsoft.com/office/drawing/2014/main" val="4244104354"/>
                  </a:ext>
                </a:extLst>
              </a:tr>
              <a:tr h="340746">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 sz="1200" b="0" i="0" u="none" strike="noStrike" cap="none" dirty="0">
                          <a:solidFill>
                            <a:schemeClr val="dk1"/>
                          </a:solidFill>
                          <a:latin typeface="+mn-lt"/>
                          <a:ea typeface="+mn-ea"/>
                          <a:cs typeface="+mn-cs"/>
                          <a:sym typeface="Arial"/>
                        </a:rPr>
                        <a:t>Risk of over-reliance on detectors</a:t>
                      </a:r>
                    </a:p>
                  </a:txBody>
                  <a:tcPr/>
                </a:tc>
                <a:tc>
                  <a:txBody>
                    <a:bodyPr/>
                    <a:lstStyle/>
                    <a:p>
                      <a:r>
                        <a:rPr lang="en-US" sz="1200" dirty="0"/>
                        <a:t>AI detectors will be used as one of the determinants of decisions</a:t>
                      </a:r>
                    </a:p>
                  </a:txBody>
                  <a:tcPr/>
                </a:tc>
                <a:tc>
                  <a:txBody>
                    <a:bodyPr/>
                    <a:lstStyle/>
                    <a:p>
                      <a:pPr marL="285750" indent="-285750">
                        <a:buFont typeface="Arial" panose="020B0604020202020204" pitchFamily="34" charset="0"/>
                        <a:buChar char="•"/>
                      </a:pPr>
                      <a:r>
                        <a:rPr lang="en-US" sz="1200" b="1" i="0" u="none" strike="noStrike" cap="none" dirty="0">
                          <a:solidFill>
                            <a:schemeClr val="dk1"/>
                          </a:solidFill>
                          <a:effectLst/>
                          <a:latin typeface="+mn-lt"/>
                          <a:ea typeface="+mn-ea"/>
                          <a:cs typeface="+mn-cs"/>
                          <a:sym typeface="Arial"/>
                        </a:rPr>
                        <a:t>AI detectors will be only one indicator among many</a:t>
                      </a:r>
                    </a:p>
                  </a:txBody>
                  <a:tcPr/>
                </a:tc>
                <a:extLst>
                  <a:ext uri="{0D108BD9-81ED-4DB2-BD59-A6C34878D82A}">
                    <a16:rowId xmlns:a16="http://schemas.microsoft.com/office/drawing/2014/main" val="1317464719"/>
                  </a:ext>
                </a:extLst>
              </a:tr>
            </a:tbl>
          </a:graphicData>
        </a:graphic>
      </p:graphicFrame>
      <p:pic>
        <p:nvPicPr>
          <p:cNvPr id="18" name="Camera 17">
            <a:extLst>
              <a:ext uri="{FF2B5EF4-FFF2-40B4-BE49-F238E27FC236}">
                <a16:creationId xmlns:a16="http://schemas.microsoft.com/office/drawing/2014/main" id="{996FA837-B9D6-EDC0-319A-816B91982935}"/>
              </a:ext>
            </a:extLst>
          </p:cNvPr>
          <p:cNvPicPr>
            <a:picLocks noChangeAspect="1"/>
            <a:extLst>
              <a:ext uri="{51228E76-BA90-4043-B771-695A4F85340A}">
                <alf:liveFeedProps xmlns:alf="http://schemas.microsoft.com/office/drawing/2021/livefeed"/>
              </a:ext>
            </a:extLst>
          </p:cNvPicPr>
          <p:nvPr/>
        </p:nvPicPr>
        <p:blipFill>
          <a:blip r:embed="rId3">
            <a:extLst>
              <a:ext uri="{96DAC541-7B7A-43D3-8B79-37D633B846F1}">
                <asvg:svgBlip xmlns:asvg="http://schemas.microsoft.com/office/drawing/2016/SVG/main" r:embed="rId4"/>
              </a:ext>
            </a:extLst>
          </a:blip>
          <a:stretch>
            <a:fillRect/>
          </a:stretch>
        </p:blipFill>
        <p:spPr>
          <a:xfrm>
            <a:off x="7792926" y="3792426"/>
            <a:ext cx="1289351" cy="1289351"/>
          </a:xfrm>
          <a:prstGeom prst="ellipse">
            <a:avLst/>
          </a:prstGeom>
          <a:ln>
            <a:noFill/>
          </a:ln>
          <a:effectLst>
            <a:softEdge rad="127000"/>
          </a:effectLst>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681</TotalTime>
  <Words>3199</Words>
  <Application>Microsoft Office PowerPoint</Application>
  <PresentationFormat>On-screen Show (16:9)</PresentationFormat>
  <Paragraphs>299</Paragraphs>
  <Slides>10</Slides>
  <Notes>10</Notes>
  <HiddenSlides>1</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fkGroteskNeue</vt:lpstr>
      <vt:lpstr>Symbol</vt:lpstr>
      <vt:lpstr>Times New Roman</vt:lpstr>
      <vt:lpstr>Simple Light</vt:lpstr>
      <vt:lpstr>AI Detectors use with English Language Learners</vt:lpstr>
      <vt:lpstr>What is the problem?</vt:lpstr>
      <vt:lpstr>What is your ethical framework?</vt:lpstr>
      <vt:lpstr>Ethical principles in play</vt:lpstr>
      <vt:lpstr>Stakeholders</vt:lpstr>
      <vt:lpstr>PowerPoint Presentation</vt:lpstr>
      <vt:lpstr>Timeline</vt:lpstr>
      <vt:lpstr>Timeline Table</vt:lpstr>
      <vt:lpstr>What is your policy solution?</vt:lpstr>
      <vt:lpstr>What are potential objections/critiques?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Thomas Zucker-Scharff</dc:creator>
  <cp:lastModifiedBy>Thomas Zucker-Scharff</cp:lastModifiedBy>
  <cp:revision>31</cp:revision>
  <cp:lastPrinted>2025-11-21T11:53:52Z</cp:lastPrinted>
  <dcterms:modified xsi:type="dcterms:W3CDTF">2025-12-01T16:49:41Z</dcterms:modified>
</cp:coreProperties>
</file>