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8" r:id="rId4"/>
    <p:sldId id="262" r:id="rId5"/>
    <p:sldId id="259" r:id="rId6"/>
    <p:sldId id="264" r:id="rId7"/>
    <p:sldId id="263" r:id="rId8"/>
    <p:sldId id="260" r:id="rId9"/>
    <p:sldId id="261" r:id="rId10"/>
  </p:sldIdLst>
  <p:sldSz cx="9144000" cy="5143500" type="screen16x9"/>
  <p:notesSz cx="7102475" cy="93884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 problem, Ethical framework" id="{E64F3362-6748-F147-AA9C-F62020640CF9}">
          <p14:sldIdLst>
            <p14:sldId id="256"/>
            <p14:sldId id="257"/>
            <p14:sldId id="258"/>
            <p14:sldId id="262"/>
          </p14:sldIdLst>
        </p14:section>
        <p14:section name="Stakeholders" id="{88CD699E-E815-164A-B2F9-681822B1BDBB}">
          <p14:sldIdLst>
            <p14:sldId id="259"/>
            <p14:sldId id="264"/>
          </p14:sldIdLst>
        </p14:section>
        <p14:section name="Timeline'" id="{787D9DD8-509B-3D4D-948A-10FE4A84E079}">
          <p14:sldIdLst>
            <p14:sldId id="263"/>
          </p14:sldIdLst>
        </p14:section>
        <p14:section name="Policy" id="{629BC368-EED3-C040-9B30-55B158DA3819}">
          <p14:sldIdLst>
            <p14:sldId id="260"/>
          </p14:sldIdLst>
        </p14:section>
        <p14:section name="Objections / critiques" id="{C76B6F8D-9E82-0849-8107-A2216E46C925}">
          <p14:sldIdLst>
            <p14:sldId id="261"/>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5306" autoAdjust="0"/>
  </p:normalViewPr>
  <p:slideViewPr>
    <p:cSldViewPr snapToGrid="0">
      <p:cViewPr varScale="1">
        <p:scale>
          <a:sx n="90" d="100"/>
          <a:sy n="90" d="100"/>
        </p:scale>
        <p:origin x="282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248" y="4459526"/>
            <a:ext cx="5681980" cy="4224814"/>
          </a:xfrm>
          <a:prstGeom prst="rect">
            <a:avLst/>
          </a:prstGeom>
          <a:noFill/>
          <a:ln>
            <a:noFill/>
          </a:ln>
        </p:spPr>
        <p:txBody>
          <a:bodyPr spcFirstLastPara="1" wrap="square" lIns="94213" tIns="94213" rIns="94213" bIns="94213"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r>
              <a:rPr lang="en-US" dirty="0"/>
              <a:t>My proposal creates a policy that helps to answer the growing need to address the issue of AI detector use with English language learners (ELL).</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737bdc3c25_0_0: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737bdc3c25_0_0: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r>
              <a:rPr lang="en-US" dirty="0"/>
              <a:t>The problem to be addressed here is that when AI detectors are used, English Language learners (ELL) suffer more often than other students. Currently, there is no policy for AI-detector use with ELLs, unless the institution has disabled it across the board. The scope of this policy will reach across student populations, to faculty, administrators, educational leaders, education agencies, the general public/media, and the vendors who create these detectors.</a:t>
            </a:r>
          </a:p>
          <a:p>
            <a:pPr marL="0" indent="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800" b="1" i="1" dirty="0"/>
              <a:t>Consider including your ‘examples of the problem’ from your proposal and your case study papers.</a:t>
            </a:r>
          </a:p>
          <a:p>
            <a:pPr marL="0" indent="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737bdc3c25_0_10: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737bdc3c25_0_10: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163592" indent="0">
              <a:buNone/>
            </a:pPr>
            <a:r>
              <a:rPr lang="en-US" dirty="0">
                <a:latin typeface="Times New Roman" panose="02020603050405020304" pitchFamily="18" charset="0"/>
                <a:ea typeface="Times New Roman" panose="02020603050405020304" pitchFamily="18" charset="0"/>
              </a:rPr>
              <a:t>The primary ethical framework is a deontological one, although there is a secondary consequential framework. In terms of inherent duties that are involved, the Family Educational Rights and Privacy Act (FERPA) makes it the duty of educational institutions to protect all students information, including integrity determinations. Additionally, using any tool that could require students’ work to be processed through an outside third party, may be a violation of the FERPA rules. Secondarily, there are consequences, both legal and monetary, that may result in the use of AI detectors.</a:t>
            </a:r>
          </a:p>
          <a:p>
            <a:pPr marL="163592" indent="0">
              <a:buNone/>
            </a:pPr>
            <a:r>
              <a:rPr lang="en-US" dirty="0">
                <a:latin typeface="Times New Roman" panose="02020603050405020304" pitchFamily="18" charset="0"/>
                <a:ea typeface="Times New Roman" panose="02020603050405020304" pitchFamily="18" charset="0"/>
              </a:rPr>
              <a:t>This is important to me, because I was trained as an educator (elementary education) and my spouse teaches English as a second language. I hope that a policy such as this will prevent much of the misuse of AI I have seen over the years.</a:t>
            </a:r>
          </a:p>
          <a:p>
            <a:pPr marL="163592" indent="0">
              <a:buNone/>
            </a:pPr>
            <a:r>
              <a:rPr lang="en-US" b="1" u="sng" dirty="0">
                <a:latin typeface="Times New Roman" panose="02020603050405020304" pitchFamily="18" charset="0"/>
                <a:ea typeface="Times New Roman" panose="02020603050405020304" pitchFamily="18" charset="0"/>
              </a:rPr>
              <a:t>LOGICAL ARGUMENT AGAINST USING AI-DETECTORS</a:t>
            </a:r>
          </a:p>
          <a:p>
            <a:pPr marL="163592" indent="0" defTabSz="942289">
              <a:buNone/>
              <a:defRPr/>
            </a:pPr>
            <a:r>
              <a:rPr lang="en-US" sz="1100" b="0" i="0" u="none" strike="noStrike" cap="none" dirty="0">
                <a:solidFill>
                  <a:srgbClr val="000000"/>
                </a:solidFill>
                <a:latin typeface="Times New Roman" panose="02020603050405020304" pitchFamily="18" charset="0"/>
                <a:cs typeface="Arial"/>
                <a:sym typeface="Arial"/>
              </a:rPr>
              <a:t>FERPA makes it incumbent on any institution that receives federal money to be sure that its records are accurate and fairly administered; this would include “integrity” determinations. Any policy that relies solely on a tool that systematically disadvantages a protected group violates that duty.</a:t>
            </a:r>
            <a:endParaRPr lang="en-US" sz="1100" b="0" i="0" u="none" strike="noStrike" cap="none" dirty="0">
              <a:solidFill>
                <a:srgbClr val="000000"/>
              </a:solidFill>
              <a:latin typeface="Times New Roman" panose="02020603050405020304" pitchFamily="18" charset="0"/>
              <a:ea typeface="Times New Roman" panose="02020603050405020304" pitchFamily="18" charset="0"/>
              <a:cs typeface="Arial"/>
              <a:sym typeface="Arial"/>
            </a:endParaRPr>
          </a:p>
          <a:p>
            <a:pPr marL="163592" indent="0">
              <a:buNone/>
            </a:pPr>
            <a:r>
              <a:rPr lang="en-US" sz="1100" b="0" i="0" u="none" strike="noStrike" cap="none" dirty="0">
                <a:solidFill>
                  <a:srgbClr val="000000"/>
                </a:solidFill>
                <a:latin typeface="Times New Roman" panose="02020603050405020304" pitchFamily="18" charset="0"/>
                <a:ea typeface="Times New Roman" panose="02020603050405020304" pitchFamily="18" charset="0"/>
                <a:cs typeface="Arial"/>
                <a:sym typeface="Arial"/>
              </a:rPr>
              <a:t>If we suppose that the ultimate purpose of using AI detectors (Aristotle, Tavani) </a:t>
            </a:r>
            <a:r>
              <a:rPr lang="en-US" dirty="0">
                <a:latin typeface="Times New Roman" panose="02020603050405020304" pitchFamily="18" charset="0"/>
                <a:ea typeface="Times New Roman" panose="02020603050405020304" pitchFamily="18" charset="0"/>
              </a:rPr>
              <a:t>is to </a:t>
            </a:r>
            <a:r>
              <a:rPr lang="en-US" b="1" i="1" dirty="0">
                <a:latin typeface="Times New Roman" panose="02020603050405020304" pitchFamily="18" charset="0"/>
                <a:ea typeface="Times New Roman" panose="02020603050405020304" pitchFamily="18" charset="0"/>
              </a:rPr>
              <a:t>ensure the integrity of any written work and to help students achieve their best possible work</a:t>
            </a:r>
            <a:r>
              <a:rPr lang="en-US" dirty="0">
                <a:latin typeface="Times New Roman" panose="02020603050405020304" pitchFamily="18" charset="0"/>
                <a:ea typeface="Times New Roman" panose="02020603050405020304" pitchFamily="18" charset="0"/>
              </a:rPr>
              <a:t>, then one could turn that around and say that the same reason is why one should not use AI detectors. When using these detectors, users are more likely to misidentify ELL-generated human text as AI-generated (a false positive). The results of such a false-positive could be disastrous to the student. The student will, in turn, not be doing their best possible work, but instead defending work they have already done. Therefore, in a pure ethical/logical sense, one should not use AI-detectors alone when evaluating ELL students’ writing </a:t>
            </a:r>
            <a:endParaRPr lang="en-US" dirty="0">
              <a:latin typeface="Times New Roman" panose="02020603050405020304" pitchFamily="18" charset="0"/>
            </a:endParaRPr>
          </a:p>
          <a:p>
            <a:pPr marL="163592" indent="0">
              <a:buNone/>
            </a:pPr>
            <a:r>
              <a:rPr lang="en-US" b="1" i="1" dirty="0">
                <a:latin typeface="Times New Roman" panose="02020603050405020304" pitchFamily="18" charset="0"/>
              </a:rPr>
              <a:t>FERPA – </a:t>
            </a:r>
            <a:r>
              <a:rPr lang="en-US" b="1" i="1" dirty="0">
                <a:effectLst/>
                <a:latin typeface="fkGroteskNeue"/>
              </a:rPr>
              <a:t>Family Educational Rights and Privacy Act</a:t>
            </a:r>
            <a:endParaRPr lang="en-US" b="1" i="1" dirty="0"/>
          </a:p>
          <a:p>
            <a:pPr marL="0" indent="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19488"/>
          </a:xfrm>
        </p:spPr>
      </p:sp>
      <p:sp>
        <p:nvSpPr>
          <p:cNvPr id="3" name="Notes Placeholder 2"/>
          <p:cNvSpPr>
            <a:spLocks noGrp="1"/>
          </p:cNvSpPr>
          <p:nvPr>
            <p:ph type="body" idx="1"/>
          </p:nvPr>
        </p:nvSpPr>
        <p:spPr/>
        <p:txBody>
          <a:bodyPr/>
          <a:lstStyle/>
          <a:p>
            <a:pPr marL="163592" indent="0" defTabSz="942289">
              <a:buNone/>
              <a:defRPr/>
            </a:pPr>
            <a:r>
              <a:rPr lang="en-US" dirty="0">
                <a:latin typeface="Times New Roman" panose="02020603050405020304" pitchFamily="18" charset="0"/>
                <a:ea typeface="Calibri" panose="020F0502020204030204" pitchFamily="34" charset="0"/>
              </a:rPr>
              <a:t>Civil rights issues are specifically addressed because if a false positive disproportionately affects ELLs, then Title IV of the Civil Rights Act concerning “disparate treatment," “disparate impact," or a “hostile learning environment” could be invoked. This could have more serious implications than initially expected. It is our moral and ethical duty to make equal treatment under the law a reality.</a:t>
            </a:r>
            <a:endParaRPr lang="en-US" dirty="0"/>
          </a:p>
        </p:txBody>
      </p:sp>
    </p:spTree>
    <p:extLst>
      <p:ext uri="{BB962C8B-B14F-4D97-AF65-F5344CB8AC3E}">
        <p14:creationId xmlns:p14="http://schemas.microsoft.com/office/powerpoint/2010/main" val="2849272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737bdc3c25_0_5: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737bdc3c25_0_5: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defTabSz="942289">
              <a:buNone/>
              <a:defRPr/>
            </a:pPr>
            <a:r>
              <a:rPr lang="en-US" dirty="0"/>
              <a:t>This is a power-interest grid. It lists all the stakeholders, the influence they may have or “power”, the probable interest they have in the policy and its implementation (“Interest”), and the quadrant that the combination of these factors places them in. I have included some suggested actions that seem appropriate to that stakeholder (given their quadrant designation). Although my policy paper lumps some of these stakeholders together (i.e., the first two stakeholders, since they are, among other things, in the same quadrant), this table separates most stakeholder categories. Conversely, this table refers to “Education agencies” which include State, National, and local education agencies.</a:t>
            </a:r>
          </a:p>
          <a:p>
            <a:pPr marL="0" indent="0" defTabSz="942289">
              <a:buNone/>
              <a:defRPr/>
            </a:pPr>
            <a:endParaRPr lang="en-US" dirty="0"/>
          </a:p>
          <a:p>
            <a:pPr marL="0" indent="0" defTabSz="942289">
              <a:buNone/>
              <a:defRPr/>
            </a:pPr>
            <a:r>
              <a:rPr lang="en-US" dirty="0"/>
              <a:t>AI-Detector Vendors, although they are in the fourth quadrant, Monitor, may be the least likely to help in the adoption of this policy. It is incumbent upon the rest of the stakeholders to make the right decision in support of the least powerful students rather than the more powerful AI vendors. To make this policy a reality, we will need to reach out to and involve </a:t>
            </a:r>
            <a:r>
              <a:rPr lang="en-US" b="1" dirty="0"/>
              <a:t>all</a:t>
            </a:r>
            <a:r>
              <a:rPr lang="en-US" dirty="0"/>
              <a:t> stakeholders.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5D65E787-361E-C5E9-4354-C06768C6B2C5}"/>
            </a:ext>
          </a:extLst>
        </p:cNvPr>
        <p:cNvGrpSpPr/>
        <p:nvPr/>
      </p:nvGrpSpPr>
      <p:grpSpPr>
        <a:xfrm>
          <a:off x="0" y="0"/>
          <a:ext cx="0" cy="0"/>
          <a:chOff x="0" y="0"/>
          <a:chExt cx="0" cy="0"/>
        </a:xfrm>
      </p:grpSpPr>
      <p:sp>
        <p:nvSpPr>
          <p:cNvPr id="69" name="Google Shape;69;g3737bdc3c25_0_5:notes">
            <a:extLst>
              <a:ext uri="{FF2B5EF4-FFF2-40B4-BE49-F238E27FC236}">
                <a16:creationId xmlns:a16="http://schemas.microsoft.com/office/drawing/2014/main" id="{14A552CF-36C1-DBCB-79D9-44967E70764C}"/>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737bdc3c25_0_5:notes">
            <a:extLst>
              <a:ext uri="{FF2B5EF4-FFF2-40B4-BE49-F238E27FC236}">
                <a16:creationId xmlns:a16="http://schemas.microsoft.com/office/drawing/2014/main" id="{318193AC-7C74-6265-EEA6-0D374C21D0D0}"/>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defTabSz="942289">
              <a:buNone/>
              <a:defRPr/>
            </a:pPr>
            <a:r>
              <a:rPr lang="en-US" dirty="0"/>
              <a:t>In this table, we see the same list of stakeholders, but this time the other columns indicate what they need as a result and how the GAIDA policy addresses that need.</a:t>
            </a:r>
          </a:p>
        </p:txBody>
      </p:sp>
    </p:spTree>
    <p:extLst>
      <p:ext uri="{BB962C8B-B14F-4D97-AF65-F5344CB8AC3E}">
        <p14:creationId xmlns:p14="http://schemas.microsoft.com/office/powerpoint/2010/main" val="1369172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19488"/>
          </a:xfrm>
        </p:spPr>
      </p:sp>
      <p:sp>
        <p:nvSpPr>
          <p:cNvPr id="3" name="Notes Placeholder 2"/>
          <p:cNvSpPr>
            <a:spLocks noGrp="1"/>
          </p:cNvSpPr>
          <p:nvPr>
            <p:ph type="body" idx="1"/>
          </p:nvPr>
        </p:nvSpPr>
        <p:spPr/>
        <p:txBody>
          <a:bodyPr/>
          <a:lstStyle/>
          <a:p>
            <a:pPr marL="0" indent="0" defTabSz="942289">
              <a:buNone/>
              <a:defRPr/>
            </a:pPr>
            <a:r>
              <a:rPr lang="en-US" dirty="0">
                <a:ea typeface="Times New Roman" panose="02020603050405020304" pitchFamily="18" charset="0"/>
              </a:rPr>
              <a:t>Each phase is iterative</a:t>
            </a:r>
          </a:p>
          <a:p>
            <a:pPr marL="0" indent="0" defTabSz="942289">
              <a:buNone/>
              <a:defRPr/>
            </a:pPr>
            <a:r>
              <a:rPr lang="en-US" dirty="0">
                <a:ea typeface="Times New Roman" panose="02020603050405020304" pitchFamily="18" charset="0"/>
              </a:rPr>
              <a:t>The duration is a suggestion (although the total time should be 1 academic year - preferably started at the beginning of the year)</a:t>
            </a:r>
          </a:p>
          <a:p>
            <a:pPr marL="0" indent="0" defTabSz="942289">
              <a:buNone/>
              <a:defRPr/>
            </a:pPr>
            <a:r>
              <a:rPr lang="en-US" dirty="0">
                <a:ea typeface="Times New Roman" panose="02020603050405020304" pitchFamily="18" charset="0"/>
              </a:rPr>
              <a:t>The main goal describes the desired outcomes</a:t>
            </a:r>
          </a:p>
          <a:p>
            <a:pPr marL="0" indent="0" defTabSz="942289">
              <a:buNone/>
              <a:defRPr/>
            </a:pPr>
            <a:r>
              <a:rPr lang="en-US" dirty="0">
                <a:ea typeface="Times New Roman" panose="02020603050405020304" pitchFamily="18" charset="0"/>
              </a:rPr>
              <a:t>The deliverable contains suggested items that should be a result of the particular phase</a:t>
            </a:r>
          </a:p>
          <a:p>
            <a:pPr marL="0" indent="0" defTabSz="942289">
              <a:buNone/>
              <a:defRPr/>
            </a:pPr>
            <a:r>
              <a:rPr lang="en-US" dirty="0">
                <a:ea typeface="Times New Roman" panose="02020603050405020304" pitchFamily="18" charset="0"/>
              </a:rPr>
              <a:t>The decision point section indicates both a decision that needs to be made in order to continue to the next point, and an action that needs to be taken before moving to the next phase.</a:t>
            </a:r>
          </a:p>
          <a:p>
            <a:pPr marL="0" indent="0">
              <a:lnSpc>
                <a:spcPct val="200000"/>
              </a:lnSpc>
              <a:buNone/>
            </a:pPr>
            <a:endParaRPr lang="en-US" dirty="0">
              <a:latin typeface="Times New Roman" panose="02020603050405020304" pitchFamily="18" charset="0"/>
              <a:ea typeface="Times New Roman" panose="02020603050405020304" pitchFamily="18" charset="0"/>
            </a:endParaRPr>
          </a:p>
          <a:p>
            <a:pPr marL="163592" indent="0">
              <a:buNone/>
            </a:pPr>
            <a:endParaRPr lang="en-US" dirty="0"/>
          </a:p>
        </p:txBody>
      </p:sp>
    </p:spTree>
    <p:extLst>
      <p:ext uri="{BB962C8B-B14F-4D97-AF65-F5344CB8AC3E}">
        <p14:creationId xmlns:p14="http://schemas.microsoft.com/office/powerpoint/2010/main" val="936222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737bdc3c25_0_15: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37bdc3c25_0_15: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defTabSz="942289">
              <a:buClrTx/>
              <a:buSzTx/>
              <a:buNone/>
              <a:defRPr/>
            </a:pPr>
            <a:r>
              <a:rPr lang="en-US" dirty="0">
                <a:latin typeface="Times New Roman" panose="02020603050405020304" pitchFamily="18" charset="0"/>
                <a:ea typeface="Times New Roman" panose="02020603050405020304" pitchFamily="18" charset="0"/>
              </a:rPr>
              <a:t>Schools and universities must avoid relying </a:t>
            </a:r>
            <a:r>
              <a:rPr lang="en-US" b="1" dirty="0">
                <a:latin typeface="Times New Roman" panose="02020603050405020304" pitchFamily="18" charset="0"/>
                <a:ea typeface="Times New Roman" panose="02020603050405020304" pitchFamily="18" charset="0"/>
              </a:rPr>
              <a:t>solely</a:t>
            </a:r>
            <a:r>
              <a:rPr lang="en-US" dirty="0">
                <a:latin typeface="Times New Roman" panose="02020603050405020304" pitchFamily="18" charset="0"/>
                <a:ea typeface="Times New Roman" panose="02020603050405020304" pitchFamily="18" charset="0"/>
              </a:rPr>
              <a:t> on AI detection tools for high-stakes decisions involving ELLs, such as academic integrity violations, admissions, or grading. To prevent confusion about AI detector use, institutions will implement </a:t>
            </a:r>
            <a:r>
              <a:rPr lang="en-US" b="1" dirty="0">
                <a:latin typeface="Times New Roman" panose="02020603050405020304" pitchFamily="18" charset="0"/>
                <a:ea typeface="Times New Roman" panose="02020603050405020304" pitchFamily="18" charset="0"/>
              </a:rPr>
              <a:t>clear guidelines</a:t>
            </a:r>
            <a:r>
              <a:rPr lang="en-US" dirty="0">
                <a:latin typeface="Times New Roman" panose="02020603050405020304" pitchFamily="18" charset="0"/>
                <a:ea typeface="Times New Roman" panose="02020603050405020304" pitchFamily="18" charset="0"/>
              </a:rPr>
              <a:t>, including mandatory human review and appeal processes, especially when ELLs are involved. Additionally, basic transparency practices will be required, such as informing students when AI detection is used and providing information about error rates and known biases. This policy calls for civil rights protections for ELLs, such as prohibiting denial of enrollment, visa revocations, or punitive measures based solely on AI detector results. All educators involved will be encouraged to evaluate student work holistically and offer culturally and linguistically responsive support rather than punitive measures when suspicious of AI use.  </a:t>
            </a:r>
          </a:p>
          <a:p>
            <a:pPr marL="235572" indent="-235572" defTabSz="942289">
              <a:buClrTx/>
              <a:buSzTx/>
              <a:buFont typeface="+mj-lt"/>
              <a:buAutoNum type="arabicPeriod"/>
              <a:defRPr/>
            </a:pPr>
            <a:r>
              <a:rPr lang="en-US" dirty="0">
                <a:latin typeface="Times New Roman" panose="02020603050405020304" pitchFamily="18" charset="0"/>
                <a:ea typeface="Times New Roman" panose="02020603050405020304" pitchFamily="18" charset="0"/>
              </a:rPr>
              <a:t>avoid relying </a:t>
            </a:r>
            <a:r>
              <a:rPr lang="en-US" b="1" dirty="0">
                <a:latin typeface="Times New Roman" panose="02020603050405020304" pitchFamily="18" charset="0"/>
                <a:ea typeface="Times New Roman" panose="02020603050405020304" pitchFamily="18" charset="0"/>
              </a:rPr>
              <a:t>solely</a:t>
            </a:r>
            <a:r>
              <a:rPr lang="en-US" dirty="0">
                <a:latin typeface="Times New Roman" panose="02020603050405020304" pitchFamily="18" charset="0"/>
                <a:ea typeface="Times New Roman" panose="02020603050405020304" pitchFamily="18" charset="0"/>
              </a:rPr>
              <a:t> on AI detection tools for high-stakes decisions involving ELLs</a:t>
            </a:r>
          </a:p>
          <a:p>
            <a:pPr marL="706717" lvl="1" indent="-235572" defTabSz="942289">
              <a:buClrTx/>
              <a:buSzTx/>
              <a:buFont typeface="+mj-lt"/>
              <a:buAutoNum type="arabicPeriod"/>
              <a:defRPr/>
            </a:pPr>
            <a:r>
              <a:rPr lang="en-US" dirty="0">
                <a:latin typeface="Times New Roman" panose="02020603050405020304" pitchFamily="18" charset="0"/>
                <a:ea typeface="Times New Roman" panose="02020603050405020304" pitchFamily="18" charset="0"/>
              </a:rPr>
              <a:t>academic integrity violations, Admissions, Grading</a:t>
            </a:r>
          </a:p>
          <a:p>
            <a:pPr marL="235572" indent="-235572" defTabSz="942289">
              <a:buClrTx/>
              <a:buSzTx/>
              <a:buFont typeface="+mj-lt"/>
              <a:buAutoNum type="arabicPeriod"/>
              <a:defRPr/>
            </a:pPr>
            <a:r>
              <a:rPr lang="en-US" dirty="0">
                <a:latin typeface="Times New Roman" panose="02020603050405020304" pitchFamily="18" charset="0"/>
                <a:ea typeface="Times New Roman" panose="02020603050405020304" pitchFamily="18" charset="0"/>
              </a:rPr>
              <a:t>implement </a:t>
            </a:r>
            <a:r>
              <a:rPr lang="en-US" b="1" dirty="0">
                <a:latin typeface="Times New Roman" panose="02020603050405020304" pitchFamily="18" charset="0"/>
                <a:ea typeface="Times New Roman" panose="02020603050405020304" pitchFamily="18" charset="0"/>
              </a:rPr>
              <a:t>clear guidelines</a:t>
            </a:r>
            <a:r>
              <a:rPr lang="en-US" dirty="0">
                <a:latin typeface="Times New Roman" panose="02020603050405020304" pitchFamily="18" charset="0"/>
                <a:ea typeface="Times New Roman" panose="02020603050405020304" pitchFamily="18" charset="0"/>
              </a:rPr>
              <a:t>, </a:t>
            </a:r>
          </a:p>
          <a:p>
            <a:pPr marL="706717" lvl="1" indent="-235572" defTabSz="942289">
              <a:buClrTx/>
              <a:buSzTx/>
              <a:buFont typeface="+mj-lt"/>
              <a:buAutoNum type="arabicPeriod"/>
              <a:defRPr/>
            </a:pPr>
            <a:r>
              <a:rPr lang="en-US" dirty="0">
                <a:latin typeface="Times New Roman" panose="02020603050405020304" pitchFamily="18" charset="0"/>
                <a:ea typeface="Times New Roman" panose="02020603050405020304" pitchFamily="18" charset="0"/>
              </a:rPr>
              <a:t>mandatory human review, appeal processes</a:t>
            </a:r>
          </a:p>
          <a:p>
            <a:pPr marL="235572" indent="-235572" defTabSz="942289">
              <a:buClrTx/>
              <a:buSzTx/>
              <a:buFont typeface="+mj-lt"/>
              <a:buAutoNum type="arabicPeriod"/>
              <a:defRPr/>
            </a:pPr>
            <a:r>
              <a:rPr lang="en-US" dirty="0">
                <a:latin typeface="Times New Roman" panose="02020603050405020304" pitchFamily="18" charset="0"/>
                <a:ea typeface="Times New Roman" panose="02020603050405020304" pitchFamily="18" charset="0"/>
              </a:rPr>
              <a:t>basic transparency practices</a:t>
            </a:r>
          </a:p>
          <a:p>
            <a:pPr marL="706717" lvl="1" indent="-235572" defTabSz="942289">
              <a:buClrTx/>
              <a:buSzTx/>
              <a:buFont typeface="+mj-lt"/>
              <a:buAutoNum type="arabicPeriod"/>
              <a:defRPr/>
            </a:pPr>
            <a:r>
              <a:rPr lang="en-US" dirty="0">
                <a:latin typeface="Times New Roman" panose="02020603050405020304" pitchFamily="18" charset="0"/>
                <a:ea typeface="Times New Roman" panose="02020603050405020304" pitchFamily="18" charset="0"/>
              </a:rPr>
              <a:t>informing students when AI detection is used, providing information about error rates and known biases</a:t>
            </a:r>
          </a:p>
          <a:p>
            <a:pPr marL="235572" indent="-235572" defTabSz="942289">
              <a:buClrTx/>
              <a:buSzTx/>
              <a:buFont typeface="+mj-lt"/>
              <a:buAutoNum type="arabicPeriod"/>
              <a:defRPr/>
            </a:pPr>
            <a:r>
              <a:rPr lang="en-US" dirty="0">
                <a:latin typeface="Times New Roman" panose="02020603050405020304" pitchFamily="18" charset="0"/>
                <a:ea typeface="Times New Roman" panose="02020603050405020304" pitchFamily="18" charset="0"/>
              </a:rPr>
              <a:t>civil rights protections for ELLs to address</a:t>
            </a:r>
          </a:p>
          <a:p>
            <a:pPr marL="706717" lvl="1" indent="-235572" defTabSz="942289">
              <a:buClrTx/>
              <a:buSzTx/>
              <a:buFont typeface="+mj-lt"/>
              <a:buAutoNum type="arabicPeriod"/>
              <a:defRPr/>
            </a:pPr>
            <a:r>
              <a:rPr lang="en-US" dirty="0">
                <a:latin typeface="Times New Roman" panose="02020603050405020304" pitchFamily="18" charset="0"/>
                <a:ea typeface="Times New Roman" panose="02020603050405020304" pitchFamily="18" charset="0"/>
              </a:rPr>
              <a:t>prohibiting denial of enrollment based solely on AI detector results, visa revocations based solely on AI detector results, punitive measures based solely on AI detector results. </a:t>
            </a:r>
          </a:p>
          <a:p>
            <a:pPr marL="235572" indent="-235572" defTabSz="942289">
              <a:buClrTx/>
              <a:buSzTx/>
              <a:buFont typeface="+mj-lt"/>
              <a:buAutoNum type="arabicPeriod"/>
              <a:defRPr/>
            </a:pPr>
            <a:r>
              <a:rPr lang="en-US" dirty="0">
                <a:latin typeface="Times New Roman" panose="02020603050405020304" pitchFamily="18" charset="0"/>
                <a:ea typeface="Times New Roman" panose="02020603050405020304" pitchFamily="18" charset="0"/>
              </a:rPr>
              <a:t>evaluate student work holistically </a:t>
            </a:r>
          </a:p>
          <a:p>
            <a:pPr marL="235572" indent="-235572" defTabSz="942289">
              <a:buClrTx/>
              <a:buSzTx/>
              <a:buFont typeface="+mj-lt"/>
              <a:buAutoNum type="arabicPeriod"/>
              <a:defRPr/>
            </a:pPr>
            <a:r>
              <a:rPr lang="en-US" dirty="0">
                <a:latin typeface="Times New Roman" panose="02020603050405020304" pitchFamily="18" charset="0"/>
                <a:ea typeface="Times New Roman" panose="02020603050405020304" pitchFamily="18" charset="0"/>
              </a:rPr>
              <a:t>offer culturally and linguistically responsive support rather than punitive measures when suspicious of AI use</a:t>
            </a:r>
          </a:p>
          <a:p>
            <a:pPr marL="0" indent="0" defTabSz="942289">
              <a:buClrTx/>
              <a:buSzTx/>
              <a:buNone/>
              <a:defRPr/>
            </a:pPr>
            <a:r>
              <a:rPr lang="en-US" b="1" u="sng" dirty="0">
                <a:latin typeface="Times New Roman" panose="02020603050405020304" pitchFamily="18" charset="0"/>
                <a:ea typeface="Times New Roman" panose="02020603050405020304" pitchFamily="18" charset="0"/>
              </a:rPr>
              <a:t>Level</a:t>
            </a:r>
            <a:r>
              <a:rPr lang="en-US" dirty="0">
                <a:latin typeface="Times New Roman" panose="02020603050405020304" pitchFamily="18" charset="0"/>
                <a:ea typeface="Times New Roman" panose="02020603050405020304" pitchFamily="18" charset="0"/>
              </a:rPr>
              <a:t>:</a:t>
            </a:r>
          </a:p>
          <a:p>
            <a:r>
              <a:rPr lang="en-US" dirty="0"/>
              <a:t>To be the most flexible, engage all stakeholders, and give the policy the best chance at adoption, it is best to implement this policy separately at each institution. Only in this way can each separate institution mold the policy to best fit themselves. This would also allow each institution to define whichever ethical issues are involved at the institution, but also to address any possible legal issues.</a:t>
            </a:r>
          </a:p>
          <a:p>
            <a:r>
              <a:rPr lang="en-US" dirty="0"/>
              <a:t>Any issues regarding Civil Rights would be the same across institutions, but they may be implemented slightly differently.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737bdc3c25_0_20: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737bdc3c25_0_20: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r>
              <a:rPr lang="en-US" b="1" dirty="0">
                <a:effectLst/>
              </a:rPr>
              <a:t>5 possible main objections</a:t>
            </a:r>
          </a:p>
          <a:p>
            <a:pPr marL="0" indent="0">
              <a:buNone/>
            </a:pPr>
            <a:endParaRPr lang="en-US" b="1" dirty="0">
              <a:effectLst/>
            </a:endParaRPr>
          </a:p>
          <a:p>
            <a:pPr marL="0" indent="0">
              <a:buNone/>
            </a:pPr>
            <a:r>
              <a:rPr lang="en-US" b="1" u="sng" dirty="0">
                <a:effectLst/>
              </a:rPr>
              <a:t>Potential Objection/critique			Response</a:t>
            </a:r>
          </a:p>
          <a:p>
            <a:pPr marL="0" indent="0">
              <a:buNone/>
            </a:pPr>
            <a:r>
              <a:rPr lang="en-US" b="1" dirty="0">
                <a:effectLst/>
              </a:rPr>
              <a:t>Increased faculty workload			</a:t>
            </a:r>
            <a:r>
              <a:rPr lang="en-US" dirty="0">
                <a:effectLst/>
              </a:rPr>
              <a:t>Pilot a </a:t>
            </a:r>
            <a:r>
              <a:rPr lang="en-US" b="1" dirty="0">
                <a:effectLst/>
              </a:rPr>
              <a:t>human‑review workflow</a:t>
            </a:r>
            <a:r>
              <a:rPr lang="en-US" dirty="0">
                <a:effectLst/>
              </a:rPr>
              <a:t> that limits reviews to flagged cases; provide </a:t>
            </a:r>
            <a:r>
              <a:rPr lang="en-US" b="1" dirty="0">
                <a:effectLst/>
              </a:rPr>
              <a:t>training modules</a:t>
            </a:r>
            <a:r>
              <a:rPr lang="en-US" dirty="0">
                <a:effectLst/>
              </a:rPr>
              <a:t> and </a:t>
            </a:r>
            <a:r>
              <a:rPr lang="en-US" b="1" dirty="0">
                <a:effectLst/>
              </a:rPr>
              <a:t>compensation</a:t>
            </a:r>
            <a:r>
              <a:rPr lang="en-US" dirty="0">
                <a:effectLst/>
              </a:rPr>
              <a:t> where appropriate.</a:t>
            </a:r>
          </a:p>
          <a:p>
            <a:pPr marL="0" indent="0">
              <a:buNone/>
            </a:pPr>
            <a:r>
              <a:rPr lang="en-US" b="1" dirty="0">
                <a:effectLst/>
              </a:rPr>
              <a:t>Potential re‑introduction of bias via human reviewers	</a:t>
            </a:r>
            <a:r>
              <a:rPr lang="en-US" dirty="0">
                <a:effectLst/>
              </a:rPr>
              <a:t>Implement </a:t>
            </a:r>
            <a:r>
              <a:rPr lang="en-US" b="1" dirty="0">
                <a:effectLst/>
              </a:rPr>
              <a:t>bias‑training</a:t>
            </a:r>
            <a:r>
              <a:rPr lang="en-US" dirty="0">
                <a:effectLst/>
              </a:rPr>
              <a:t> for reviewers; use </a:t>
            </a:r>
            <a:r>
              <a:rPr lang="en-US" b="1" dirty="0">
                <a:effectLst/>
              </a:rPr>
              <a:t>standardized rubrics</a:t>
            </a:r>
            <a:r>
              <a:rPr lang="en-US" dirty="0">
                <a:effectLst/>
              </a:rPr>
              <a:t> to guide decisions.</a:t>
            </a:r>
          </a:p>
          <a:p>
            <a:pPr marL="0" indent="0">
              <a:buNone/>
            </a:pPr>
            <a:r>
              <a:rPr lang="en-US" b="1" dirty="0">
                <a:effectLst/>
              </a:rPr>
              <a:t>Technical feasibility / cost			</a:t>
            </a:r>
            <a:r>
              <a:rPr lang="en-US" dirty="0">
                <a:effectLst/>
              </a:rPr>
              <a:t>Conduct a </a:t>
            </a:r>
            <a:r>
              <a:rPr lang="en-US" b="1" dirty="0">
                <a:effectLst/>
              </a:rPr>
              <a:t>cost‑benefit analysis</a:t>
            </a:r>
            <a:r>
              <a:rPr lang="en-US" dirty="0">
                <a:effectLst/>
              </a:rPr>
              <a:t> (e.g., Pangram Labs $5 /student/</a:t>
            </a:r>
            <a:r>
              <a:rPr lang="en-US" dirty="0" err="1">
                <a:effectLst/>
              </a:rPr>
              <a:t>yr</a:t>
            </a:r>
            <a:r>
              <a:rPr lang="en-US" dirty="0">
                <a:effectLst/>
              </a:rPr>
              <a:t> vs. potential legal exposure).</a:t>
            </a:r>
          </a:p>
          <a:p>
            <a:pPr marL="0" indent="0">
              <a:buNone/>
            </a:pPr>
            <a:r>
              <a:rPr lang="en-US" b="1" dirty="0">
                <a:effectLst/>
              </a:rPr>
              <a:t>Impact on visa status for international students	</a:t>
            </a:r>
            <a:r>
              <a:rPr lang="en-US" dirty="0">
                <a:effectLst/>
              </a:rPr>
              <a:t>Ensure </a:t>
            </a:r>
            <a:r>
              <a:rPr lang="en-US" b="1" dirty="0">
                <a:effectLst/>
              </a:rPr>
              <a:t>transparent appeals</a:t>
            </a:r>
            <a:r>
              <a:rPr lang="en-US" dirty="0">
                <a:effectLst/>
              </a:rPr>
              <a:t> and </a:t>
            </a:r>
            <a:r>
              <a:rPr lang="en-US" b="1" dirty="0">
                <a:effectLst/>
              </a:rPr>
              <a:t>legal counsel</a:t>
            </a:r>
            <a:r>
              <a:rPr lang="en-US" dirty="0">
                <a:effectLst/>
              </a:rPr>
              <a:t> involvement before any sanction that could affect immigration status.</a:t>
            </a:r>
          </a:p>
          <a:p>
            <a:pPr marL="0" indent="0">
              <a:buNone/>
            </a:pPr>
            <a:r>
              <a:rPr lang="en-US" b="1" dirty="0">
                <a:effectLst/>
              </a:rPr>
              <a:t>Risk of over‑reliance on detectors			</a:t>
            </a:r>
            <a:r>
              <a:rPr lang="en-US" dirty="0">
                <a:effectLst/>
              </a:rPr>
              <a:t>Position detectors as </a:t>
            </a:r>
            <a:r>
              <a:rPr lang="en-US" b="1" dirty="0">
                <a:effectLst/>
              </a:rPr>
              <a:t>one indicator</a:t>
            </a:r>
            <a:r>
              <a:rPr lang="en-US" dirty="0">
                <a:effectLst/>
              </a:rPr>
              <a:t> among many (writing samples, drafts, oral defenses).</a:t>
            </a:r>
          </a:p>
          <a:p>
            <a:pPr marL="0" indent="0">
              <a:buNone/>
            </a:pPr>
            <a:endParaRPr lang="en-US" dirty="0">
              <a:effectLst/>
            </a:endParaRPr>
          </a:p>
          <a:p>
            <a:pPr marL="0" indent="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436536"/>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US" dirty="0"/>
              <a:t>AI Detectors use with English Language Learners</a:t>
            </a:r>
            <a:endParaRPr dirty="0"/>
          </a:p>
        </p:txBody>
      </p:sp>
      <p:sp>
        <p:nvSpPr>
          <p:cNvPr id="55" name="Google Shape;55;p13"/>
          <p:cNvSpPr txBox="1">
            <a:spLocks noGrp="1"/>
          </p:cNvSpPr>
          <p:nvPr>
            <p:ph type="subTitle" idx="1"/>
          </p:nvPr>
        </p:nvSpPr>
        <p:spPr>
          <a:xfrm>
            <a:off x="3249093" y="3860381"/>
            <a:ext cx="2645813" cy="792600"/>
          </a:xfrm>
          <a:prstGeom prst="rect">
            <a:avLst/>
          </a:prstGeom>
        </p:spPr>
        <p:txBody>
          <a:bodyPr spcFirstLastPara="1" wrap="square" lIns="91425" tIns="91425" rIns="91425" bIns="91425" anchor="t" anchorCtr="0">
            <a:normAutofit fontScale="55000" lnSpcReduction="20000"/>
          </a:bodyPr>
          <a:lstStyle/>
          <a:p>
            <a:pPr marL="0" lvl="0" indent="0" algn="ctr" rtl="0">
              <a:spcBef>
                <a:spcPts val="0"/>
              </a:spcBef>
              <a:spcAft>
                <a:spcPts val="0"/>
              </a:spcAft>
              <a:buNone/>
            </a:pPr>
            <a:r>
              <a:rPr lang="en-US" dirty="0"/>
              <a:t>Thomas Zucker-Scharff</a:t>
            </a:r>
            <a:endParaRPr dirty="0"/>
          </a:p>
          <a:p>
            <a:pPr marL="0" lvl="0" indent="0" algn="ctr" rtl="0">
              <a:spcBef>
                <a:spcPts val="0"/>
              </a:spcBef>
              <a:spcAft>
                <a:spcPts val="0"/>
              </a:spcAft>
              <a:buNone/>
            </a:pPr>
            <a:r>
              <a:rPr lang="en" dirty="0"/>
              <a:t>OMDS</a:t>
            </a:r>
            <a:endParaRPr dirty="0"/>
          </a:p>
          <a:p>
            <a:pPr marL="0" lvl="0" indent="0" algn="ctr" rtl="0">
              <a:spcBef>
                <a:spcPts val="0"/>
              </a:spcBef>
              <a:spcAft>
                <a:spcPts val="0"/>
              </a:spcAft>
              <a:buNone/>
            </a:pPr>
            <a:r>
              <a:rPr lang="en" dirty="0"/>
              <a:t>Module 5 / CDSDX 701</a:t>
            </a:r>
            <a:endParaRPr dirty="0"/>
          </a:p>
        </p:txBody>
      </p:sp>
      <p:sp>
        <p:nvSpPr>
          <p:cNvPr id="3" name="TextBox 2">
            <a:extLst>
              <a:ext uri="{FF2B5EF4-FFF2-40B4-BE49-F238E27FC236}">
                <a16:creationId xmlns:a16="http://schemas.microsoft.com/office/drawing/2014/main" id="{9200C5CD-F0A7-34A0-F762-0B0CC5981E7B}"/>
              </a:ext>
            </a:extLst>
          </p:cNvPr>
          <p:cNvSpPr txBox="1"/>
          <p:nvPr/>
        </p:nvSpPr>
        <p:spPr>
          <a:xfrm>
            <a:off x="725434" y="2824255"/>
            <a:ext cx="7693132" cy="461665"/>
          </a:xfrm>
          <a:prstGeom prst="rect">
            <a:avLst/>
          </a:prstGeom>
          <a:noFill/>
        </p:spPr>
        <p:txBody>
          <a:bodyPr wrap="none" rtlCol="0">
            <a:spAutoFit/>
          </a:bodyPr>
          <a:lstStyle/>
          <a:p>
            <a:r>
              <a:rPr lang="en-US" sz="2400" b="1" dirty="0"/>
              <a:t>The General AI-Detector Assistance (GAIDA) Policy</a:t>
            </a:r>
          </a:p>
        </p:txBody>
      </p:sp>
      <p:pic>
        <p:nvPicPr>
          <p:cNvPr id="4" name="Camera 3">
            <a:extLst>
              <a:ext uri="{FF2B5EF4-FFF2-40B4-BE49-F238E27FC236}">
                <a16:creationId xmlns:a16="http://schemas.microsoft.com/office/drawing/2014/main" id="{69C7D623-F244-C7AC-AFAC-C6FFE9E8854B}"/>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31760" y="3737143"/>
            <a:ext cx="1402080" cy="1402080"/>
          </a:xfrm>
          <a:prstGeom prst="ellipse">
            <a:avLst/>
          </a:prstGeom>
          <a:ln>
            <a:noFill/>
          </a:ln>
          <a:effectLst>
            <a:softEdge rad="127000"/>
          </a:effectLst>
        </p:spPr>
      </p:pic>
    </p:spTree>
  </p:cSld>
  <p:clrMapOvr>
    <a:masterClrMapping/>
  </p:clrMapOvr>
  <mc:AlternateContent xmlns:mc="http://schemas.openxmlformats.org/markup-compatibility/2006">
    <mc:Choice xmlns:p14="http://schemas.microsoft.com/office/powerpoint/2010/main" Requires="p14">
      <p:transition spd="slow" p14:dur="2000" advTm="7595"/>
    </mc:Choice>
    <mc:Fallback>
      <p:transition spd="slow" advTm="759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is the problem?</a:t>
            </a:r>
            <a:endParaRPr dirty="0"/>
          </a:p>
        </p:txBody>
      </p:sp>
      <p:sp>
        <p:nvSpPr>
          <p:cNvPr id="61" name="Google Shape;61;p14"/>
          <p:cNvSpPr txBox="1">
            <a:spLocks noGrp="1"/>
          </p:cNvSpPr>
          <p:nvPr>
            <p:ph type="body" idx="1"/>
          </p:nvPr>
        </p:nvSpPr>
        <p:spPr>
          <a:xfrm>
            <a:off x="311700" y="1759671"/>
            <a:ext cx="8520600" cy="3151232"/>
          </a:xfrm>
          <a:prstGeom prst="rect">
            <a:avLst/>
          </a:prstGeom>
        </p:spPr>
        <p:txBody>
          <a:bodyPr spcFirstLastPara="1" wrap="square" lIns="91425" tIns="91425" rIns="91425" bIns="91425" anchor="t" anchorCtr="0">
            <a:normAutofit/>
          </a:bodyPr>
          <a:lstStyle/>
          <a:p>
            <a:r>
              <a:rPr lang="en" dirty="0"/>
              <a:t>Currently, this is preventing equal treatment for ELL unless schools completely prohibit the use of AI-detectors. In turn, Title IV of the civil rights act has been increasingly put into play.</a:t>
            </a:r>
          </a:p>
          <a:p>
            <a:r>
              <a:rPr lang="en-US" dirty="0"/>
              <a:t>This policy will affect those students, their instructors, the administrators who oversee them, education agencies, and the vendors who create the detectors.</a:t>
            </a:r>
            <a:endParaRPr dirty="0"/>
          </a:p>
          <a:p>
            <a:pPr marL="457200" lvl="0" indent="-342900" algn="l" rtl="0">
              <a:spcBef>
                <a:spcPts val="0"/>
              </a:spcBef>
              <a:spcAft>
                <a:spcPts val="0"/>
              </a:spcAft>
              <a:buSzPts val="1800"/>
              <a:buChar char="●"/>
            </a:pPr>
            <a:endParaRPr lang="en" i="1" dirty="0"/>
          </a:p>
          <a:p>
            <a:pPr marL="114300" lvl="0" indent="0" algn="l" rtl="0">
              <a:spcBef>
                <a:spcPts val="0"/>
              </a:spcBef>
              <a:spcAft>
                <a:spcPts val="0"/>
              </a:spcAft>
              <a:buSzPts val="1800"/>
              <a:buNone/>
            </a:pPr>
            <a:endParaRPr lang="en" i="1" dirty="0"/>
          </a:p>
        </p:txBody>
      </p:sp>
      <p:sp>
        <p:nvSpPr>
          <p:cNvPr id="3" name="Google Shape;61;p14">
            <a:extLst>
              <a:ext uri="{FF2B5EF4-FFF2-40B4-BE49-F238E27FC236}">
                <a16:creationId xmlns:a16="http://schemas.microsoft.com/office/drawing/2014/main" id="{0FDC0E32-0E40-9E37-B351-B3D3205B5ECF}"/>
              </a:ext>
            </a:extLst>
          </p:cNvPr>
          <p:cNvSpPr txBox="1">
            <a:spLocks/>
          </p:cNvSpPr>
          <p:nvPr/>
        </p:nvSpPr>
        <p:spPr>
          <a:xfrm>
            <a:off x="311700" y="1017725"/>
            <a:ext cx="7043257" cy="790489"/>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2200" b="1" dirty="0">
                <a:solidFill>
                  <a:srgbClr val="C00000"/>
                </a:solidFill>
              </a:rPr>
              <a:t>AI detectors exhibit a significant bias when used with English Language Learners’ (ELL) writing.</a:t>
            </a:r>
          </a:p>
          <a:p>
            <a:endParaRPr lang="en-US" b="1" dirty="0"/>
          </a:p>
        </p:txBody>
      </p:sp>
      <p:pic>
        <p:nvPicPr>
          <p:cNvPr id="4" name="Camera 3">
            <a:extLst>
              <a:ext uri="{FF2B5EF4-FFF2-40B4-BE49-F238E27FC236}">
                <a16:creationId xmlns:a16="http://schemas.microsoft.com/office/drawing/2014/main" id="{C269C750-AB12-EBF4-A942-CEA1622BE9B3}"/>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31760" y="3737143"/>
            <a:ext cx="1402080" cy="1402080"/>
          </a:xfrm>
          <a:prstGeom prst="ellipse">
            <a:avLst/>
          </a:prstGeom>
          <a:ln>
            <a:noFill/>
          </a:ln>
          <a:effectLst>
            <a:softEdge rad="127000"/>
          </a:effectLst>
        </p:spPr>
      </p:pic>
    </p:spTree>
  </p:cSld>
  <p:clrMapOvr>
    <a:masterClrMapping/>
  </p:clrMapOvr>
  <mc:AlternateContent xmlns:mc="http://schemas.openxmlformats.org/markup-compatibility/2006">
    <mc:Choice xmlns:p14="http://schemas.microsoft.com/office/powerpoint/2010/main" Requires="p14">
      <p:transition spd="slow" p14:dur="2000" advTm="23534"/>
    </mc:Choice>
    <mc:Fallback>
      <p:transition spd="slow" advTm="2353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1082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is your ethical framework?</a:t>
            </a:r>
            <a:endParaRPr dirty="0"/>
          </a:p>
        </p:txBody>
      </p:sp>
      <p:sp>
        <p:nvSpPr>
          <p:cNvPr id="67" name="Google Shape;67;p15"/>
          <p:cNvSpPr txBox="1">
            <a:spLocks noGrp="1"/>
          </p:cNvSpPr>
          <p:nvPr>
            <p:ph type="body" idx="1"/>
          </p:nvPr>
        </p:nvSpPr>
        <p:spPr>
          <a:xfrm>
            <a:off x="189780" y="465760"/>
            <a:ext cx="8791660" cy="4206240"/>
          </a:xfrm>
          <a:prstGeom prst="rect">
            <a:avLst/>
          </a:prstGeom>
        </p:spPr>
        <p:txBody>
          <a:bodyPr spcFirstLastPara="1" wrap="square" lIns="91425" tIns="91425" rIns="91425" bIns="91425" anchor="t" anchorCtr="0">
            <a:normAutofit fontScale="85000" lnSpcReduction="20000"/>
          </a:bodyPr>
          <a:lstStyle/>
          <a:p>
            <a:pPr marL="457200" lvl="0" indent="-342900" algn="l" rtl="0">
              <a:spcBef>
                <a:spcPts val="0"/>
              </a:spcBef>
              <a:spcAft>
                <a:spcPts val="0"/>
              </a:spcAft>
              <a:buSzPts val="1800"/>
              <a:buChar char="●"/>
            </a:pPr>
            <a:r>
              <a:rPr lang="en-US" sz="2000" dirty="0"/>
              <a:t>The primary ethical framework is </a:t>
            </a:r>
            <a:r>
              <a:rPr lang="en-US" sz="2000" b="1" dirty="0"/>
              <a:t>DEONTOLOGICAL</a:t>
            </a:r>
            <a:r>
              <a:rPr lang="en-US" sz="2000" dirty="0"/>
              <a:t>. </a:t>
            </a:r>
          </a:p>
          <a:p>
            <a:pPr lvl="1" indent="-342900">
              <a:buSzPts val="1800"/>
              <a:buChar char="●"/>
            </a:pPr>
            <a:r>
              <a:rPr lang="en-US" sz="1800" dirty="0"/>
              <a:t>Any policy that relies solely on a tool that systematically disadvantages a protected group violates the duties that FERPA has enacted.</a:t>
            </a:r>
          </a:p>
          <a:p>
            <a:pPr lvl="1" indent="-342900">
              <a:buSzPts val="1800"/>
              <a:buChar char="●"/>
            </a:pPr>
            <a:r>
              <a:rPr lang="en-US" sz="1800" dirty="0"/>
              <a:t>Use of AI-detectors may violate FERPA</a:t>
            </a:r>
          </a:p>
          <a:p>
            <a:pPr lvl="1" indent="-342900">
              <a:buSzPts val="1800"/>
              <a:buChar char="●"/>
            </a:pPr>
            <a:endParaRPr lang="en-US" sz="1800" dirty="0"/>
          </a:p>
          <a:p>
            <a:r>
              <a:rPr lang="en-US" sz="2000" dirty="0"/>
              <a:t>A secondary framework is the </a:t>
            </a:r>
            <a:r>
              <a:rPr lang="en-US" sz="2000" b="1" dirty="0"/>
              <a:t>CONSEQUENTIAL</a:t>
            </a:r>
            <a:r>
              <a:rPr lang="en-US" sz="2000" dirty="0"/>
              <a:t> one</a:t>
            </a:r>
          </a:p>
          <a:p>
            <a:pPr lvl="2" indent="-342900">
              <a:buSzPts val="1800"/>
              <a:buChar char="●"/>
            </a:pPr>
            <a:r>
              <a:rPr lang="en-US" sz="1800" dirty="0"/>
              <a:t>Not using AI detectors has also been shown to demonstrate bias </a:t>
            </a:r>
            <a:r>
              <a:rPr lang="en-US" sz="1800" b="1" dirty="0"/>
              <a:t>towards</a:t>
            </a:r>
            <a:r>
              <a:rPr lang="en-US" sz="1800" dirty="0"/>
              <a:t> privileged students with access to AI and computers; therefore, we are morally obligated (equal treatment/protection) to find another method to determine whether AI has been used in a given piece of written work. </a:t>
            </a:r>
          </a:p>
          <a:p>
            <a:pPr marL="457200" lvl="0" indent="-342900" algn="l" rtl="0">
              <a:spcBef>
                <a:spcPts val="0"/>
              </a:spcBef>
              <a:spcAft>
                <a:spcPts val="0"/>
              </a:spcAft>
              <a:buSzPts val="1800"/>
              <a:buChar char="●"/>
            </a:pPr>
            <a:r>
              <a:rPr lang="en-US" sz="2000" dirty="0"/>
              <a:t>We must find a way to make the best possible educational use of AI so we can ensure the integrity of any written work and help students achieve their best possible work.</a:t>
            </a:r>
          </a:p>
          <a:p>
            <a:pPr marL="457200" lvl="0" indent="-342900" algn="l" rtl="0">
              <a:spcBef>
                <a:spcPts val="0"/>
              </a:spcBef>
              <a:spcAft>
                <a:spcPts val="0"/>
              </a:spcAft>
              <a:buSzPts val="1800"/>
              <a:buChar char="●"/>
            </a:pPr>
            <a:r>
              <a:rPr lang="en-US" sz="2000" dirty="0"/>
              <a:t>I was trained as an educator. My spouse teaches ESL students. I have seen many ELL misuse AI, and a policy such as this will help them to use this tool more effectively without stopping them from achieving their best. </a:t>
            </a:r>
            <a:endParaRPr sz="2000" dirty="0"/>
          </a:p>
          <a:p>
            <a:pPr marL="0" lvl="0" indent="0" algn="l" rtl="0">
              <a:spcBef>
                <a:spcPts val="1200"/>
              </a:spcBef>
              <a:spcAft>
                <a:spcPts val="1200"/>
              </a:spcAft>
              <a:buNone/>
            </a:pPr>
            <a:endParaRPr dirty="0"/>
          </a:p>
        </p:txBody>
      </p:sp>
      <p:pic>
        <p:nvPicPr>
          <p:cNvPr id="3" name="Camera 2">
            <a:extLst>
              <a:ext uri="{FF2B5EF4-FFF2-40B4-BE49-F238E27FC236}">
                <a16:creationId xmlns:a16="http://schemas.microsoft.com/office/drawing/2014/main" id="{6509D6A7-4B08-1D5A-7090-600B368057BB}"/>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60336" y="3822871"/>
            <a:ext cx="1402080" cy="1402080"/>
          </a:xfrm>
          <a:prstGeom prst="ellipse">
            <a:avLst/>
          </a:prstGeom>
          <a:ln>
            <a:noFill/>
          </a:ln>
          <a:effectLst>
            <a:softEdge rad="127000"/>
          </a:effectLst>
        </p:spPr>
      </p:pic>
    </p:spTree>
  </p:cSld>
  <p:clrMapOvr>
    <a:masterClrMapping/>
  </p:clrMapOvr>
  <mc:AlternateContent xmlns:mc="http://schemas.openxmlformats.org/markup-compatibility/2006">
    <mc:Choice xmlns:p14="http://schemas.microsoft.com/office/powerpoint/2010/main" Requires="p14">
      <p:transition spd="slow" p14:dur="2000" advTm="67113"/>
    </mc:Choice>
    <mc:Fallback>
      <p:transition spd="slow" advTm="6711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CBA51-7B2E-1217-B11C-9A887E2C9EC1}"/>
              </a:ext>
            </a:extLst>
          </p:cNvPr>
          <p:cNvSpPr>
            <a:spLocks noGrp="1"/>
          </p:cNvSpPr>
          <p:nvPr>
            <p:ph type="title"/>
          </p:nvPr>
        </p:nvSpPr>
        <p:spPr/>
        <p:txBody>
          <a:bodyPr>
            <a:normAutofit fontScale="90000"/>
          </a:bodyPr>
          <a:lstStyle/>
          <a:p>
            <a:r>
              <a:rPr lang="en-US" dirty="0"/>
              <a:t>Ethical principles in play</a:t>
            </a:r>
          </a:p>
        </p:txBody>
      </p:sp>
      <p:sp>
        <p:nvSpPr>
          <p:cNvPr id="3" name="Text Placeholder 2">
            <a:extLst>
              <a:ext uri="{FF2B5EF4-FFF2-40B4-BE49-F238E27FC236}">
                <a16:creationId xmlns:a16="http://schemas.microsoft.com/office/drawing/2014/main" id="{F9053DD2-B8F1-DEC2-55C0-BB17CC8A54E7}"/>
              </a:ext>
            </a:extLst>
          </p:cNvPr>
          <p:cNvSpPr>
            <a:spLocks noGrp="1"/>
          </p:cNvSpPr>
          <p:nvPr>
            <p:ph type="body" idx="1"/>
          </p:nvPr>
        </p:nvSpPr>
        <p:spPr/>
        <p:txBody>
          <a:bodyPr/>
          <a:lstStyle/>
          <a:p>
            <a:r>
              <a:rPr lang="en-US" sz="3200" dirty="0"/>
              <a:t>Civil Rights – Title IV</a:t>
            </a:r>
          </a:p>
          <a:p>
            <a:pPr lvl="1"/>
            <a:r>
              <a:rPr lang="en-US" sz="2400" kern="0" dirty="0">
                <a:effectLst/>
                <a:latin typeface="Times New Roman" panose="02020603050405020304" pitchFamily="18" charset="0"/>
                <a:ea typeface="Calibri" panose="020F0502020204030204" pitchFamily="34" charset="0"/>
              </a:rPr>
              <a:t>“disparate treatment" </a:t>
            </a:r>
          </a:p>
          <a:p>
            <a:pPr lvl="1"/>
            <a:r>
              <a:rPr lang="en-US" sz="2400" kern="0" dirty="0">
                <a:effectLst/>
                <a:latin typeface="Times New Roman" panose="02020603050405020304" pitchFamily="18" charset="0"/>
                <a:ea typeface="Calibri" panose="020F0502020204030204" pitchFamily="34" charset="0"/>
              </a:rPr>
              <a:t>“disparate impact”</a:t>
            </a:r>
          </a:p>
          <a:p>
            <a:pPr lvl="1"/>
            <a:r>
              <a:rPr lang="en-US" sz="2400" kern="0" dirty="0">
                <a:effectLst/>
                <a:latin typeface="Times New Roman" panose="02020603050405020304" pitchFamily="18" charset="0"/>
                <a:ea typeface="Calibri" panose="020F0502020204030204" pitchFamily="34" charset="0"/>
              </a:rPr>
              <a:t>“hostile learning environment”</a:t>
            </a:r>
          </a:p>
          <a:p>
            <a:r>
              <a:rPr lang="en-US" sz="3200" kern="0" dirty="0">
                <a:latin typeface="Times New Roman" panose="02020603050405020304" pitchFamily="18" charset="0"/>
              </a:rPr>
              <a:t>Equal treatment</a:t>
            </a:r>
          </a:p>
        </p:txBody>
      </p:sp>
      <p:pic>
        <p:nvPicPr>
          <p:cNvPr id="5" name="Camera 4">
            <a:extLst>
              <a:ext uri="{FF2B5EF4-FFF2-40B4-BE49-F238E27FC236}">
                <a16:creationId xmlns:a16="http://schemas.microsoft.com/office/drawing/2014/main" id="{500C2242-1CF0-D21E-FEC5-CEBED51C2E57}"/>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31760" y="3737143"/>
            <a:ext cx="1402080" cy="1402080"/>
          </a:xfrm>
          <a:prstGeom prst="ellipse">
            <a:avLst/>
          </a:prstGeom>
          <a:ln>
            <a:noFill/>
          </a:ln>
          <a:effectLst>
            <a:softEdge rad="127000"/>
          </a:effectLst>
        </p:spPr>
      </p:pic>
    </p:spTree>
    <p:extLst>
      <p:ext uri="{BB962C8B-B14F-4D97-AF65-F5344CB8AC3E}">
        <p14:creationId xmlns:p14="http://schemas.microsoft.com/office/powerpoint/2010/main" val="2586166049"/>
      </p:ext>
    </p:extLst>
  </p:cSld>
  <p:clrMapOvr>
    <a:masterClrMapping/>
  </p:clrMapOvr>
  <mc:AlternateContent xmlns:mc="http://schemas.openxmlformats.org/markup-compatibility/2006">
    <mc:Choice xmlns:p14="http://schemas.microsoft.com/office/powerpoint/2010/main" Requires="p14">
      <p:transition spd="slow" p14:dur="2000" advTm="9470"/>
    </mc:Choice>
    <mc:Fallback>
      <p:transition spd="slow" advTm="947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Stakeholders</a:t>
            </a:r>
            <a:endParaRPr dirty="0"/>
          </a:p>
        </p:txBody>
      </p:sp>
      <p:graphicFrame>
        <p:nvGraphicFramePr>
          <p:cNvPr id="3" name="Table 2">
            <a:extLst>
              <a:ext uri="{FF2B5EF4-FFF2-40B4-BE49-F238E27FC236}">
                <a16:creationId xmlns:a16="http://schemas.microsoft.com/office/drawing/2014/main" id="{4FBE8A60-99D9-1BB8-9902-58E0A831C4A2}"/>
              </a:ext>
            </a:extLst>
          </p:cNvPr>
          <p:cNvGraphicFramePr>
            <a:graphicFrameLocks noGrp="1"/>
          </p:cNvGraphicFramePr>
          <p:nvPr>
            <p:extLst>
              <p:ext uri="{D42A27DB-BD31-4B8C-83A1-F6EECF244321}">
                <p14:modId xmlns:p14="http://schemas.microsoft.com/office/powerpoint/2010/main" val="339948059"/>
              </p:ext>
            </p:extLst>
          </p:nvPr>
        </p:nvGraphicFramePr>
        <p:xfrm>
          <a:off x="74196" y="563410"/>
          <a:ext cx="7627084" cy="3974448"/>
        </p:xfrm>
        <a:graphic>
          <a:graphicData uri="http://schemas.openxmlformats.org/drawingml/2006/table">
            <a:tbl>
              <a:tblPr firstRow="1" bandRow="1">
                <a:tableStyleId>{5C22544A-7EE6-4342-B048-85BDC9FD1C3A}</a:tableStyleId>
              </a:tblPr>
              <a:tblGrid>
                <a:gridCol w="1602308">
                  <a:extLst>
                    <a:ext uri="{9D8B030D-6E8A-4147-A177-3AD203B41FA5}">
                      <a16:colId xmlns:a16="http://schemas.microsoft.com/office/drawing/2014/main" val="2326593050"/>
                    </a:ext>
                  </a:extLst>
                </a:gridCol>
                <a:gridCol w="943441">
                  <a:extLst>
                    <a:ext uri="{9D8B030D-6E8A-4147-A177-3AD203B41FA5}">
                      <a16:colId xmlns:a16="http://schemas.microsoft.com/office/drawing/2014/main" val="1473608676"/>
                    </a:ext>
                  </a:extLst>
                </a:gridCol>
                <a:gridCol w="1059301">
                  <a:extLst>
                    <a:ext uri="{9D8B030D-6E8A-4147-A177-3AD203B41FA5}">
                      <a16:colId xmlns:a16="http://schemas.microsoft.com/office/drawing/2014/main" val="3100850239"/>
                    </a:ext>
                  </a:extLst>
                </a:gridCol>
                <a:gridCol w="1307574">
                  <a:extLst>
                    <a:ext uri="{9D8B030D-6E8A-4147-A177-3AD203B41FA5}">
                      <a16:colId xmlns:a16="http://schemas.microsoft.com/office/drawing/2014/main" val="1416136628"/>
                    </a:ext>
                  </a:extLst>
                </a:gridCol>
                <a:gridCol w="2714460">
                  <a:extLst>
                    <a:ext uri="{9D8B030D-6E8A-4147-A177-3AD203B41FA5}">
                      <a16:colId xmlns:a16="http://schemas.microsoft.com/office/drawing/2014/main" val="1036428492"/>
                    </a:ext>
                  </a:extLst>
                </a:gridCol>
              </a:tblGrid>
              <a:tr h="396538">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Stakeholder</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Power</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Interest</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Quadrant</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Action Items</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42094753"/>
                  </a:ext>
                </a:extLst>
              </a:tr>
              <a:tr h="396538">
                <a:tc>
                  <a:txBody>
                    <a:bodyPr/>
                    <a:lstStyle/>
                    <a:p>
                      <a:pPr marL="0" marR="0">
                        <a:spcBef>
                          <a:spcPts val="0"/>
                        </a:spcBef>
                        <a:spcAft>
                          <a:spcPts val="0"/>
                        </a:spcAft>
                      </a:pPr>
                      <a:r>
                        <a:rPr lang="en-US" sz="1200" b="1" dirty="0">
                          <a:solidFill>
                            <a:srgbClr val="000000"/>
                          </a:solidFill>
                          <a:effectLst/>
                          <a:latin typeface="Times New Roman" panose="02020603050405020304" pitchFamily="18" charset="0"/>
                          <a:ea typeface="Calibri" panose="020F0502020204030204" pitchFamily="34" charset="0"/>
                        </a:rPr>
                        <a:t>Provost / Academic Integrity Office</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solidFill>
                            <a:srgbClr val="000000"/>
                          </a:solidFill>
                          <a:effectLst/>
                          <a:latin typeface="Times New Roman" panose="02020603050405020304" pitchFamily="18" charset="0"/>
                          <a:ea typeface="Calibri" panose="020F0502020204030204" pitchFamily="34" charset="0"/>
                        </a:rPr>
                        <a:t>Manage Closely</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solidFill>
                            <a:srgbClr val="000000"/>
                          </a:solidFill>
                          <a:effectLst/>
                          <a:latin typeface="Times New Roman" panose="02020603050405020304" pitchFamily="18" charset="0"/>
                          <a:ea typeface="Calibri" panose="020F0502020204030204" pitchFamily="34" charset="0"/>
                        </a:rPr>
                        <a:t>Sponsor steering committee</a:t>
                      </a:r>
                      <a:endParaRPr lang="en-US" sz="1200" dirty="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Font typeface="Symbol" pitchFamily="2" charset="2"/>
                        <a:buNone/>
                      </a:pPr>
                      <a:r>
                        <a:rPr lang="en-US" sz="1200" dirty="0">
                          <a:solidFill>
                            <a:srgbClr val="000000"/>
                          </a:solidFill>
                          <a:effectLst/>
                          <a:latin typeface="Times New Roman" panose="02020603050405020304" pitchFamily="18" charset="0"/>
                          <a:ea typeface="Calibri" panose="020F0502020204030204" pitchFamily="34" charset="0"/>
                        </a:rPr>
                        <a:t>Approve budget</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1160112"/>
                  </a:ext>
                </a:extLst>
              </a:tr>
              <a:tr h="396538">
                <a:tc>
                  <a:txBody>
                    <a:bodyPr/>
                    <a:lstStyle/>
                    <a:p>
                      <a:pPr marL="0" marR="0">
                        <a:spcBef>
                          <a:spcPts val="0"/>
                        </a:spcBef>
                        <a:spcAft>
                          <a:spcPts val="0"/>
                        </a:spcAft>
                      </a:pPr>
                      <a:r>
                        <a:rPr lang="en-US" sz="1200" b="1" dirty="0">
                          <a:effectLst/>
                          <a:latin typeface="Times New Roman" panose="02020603050405020304" pitchFamily="18" charset="0"/>
                          <a:ea typeface="Calibri" panose="020F0502020204030204" pitchFamily="34" charset="0"/>
                        </a:rPr>
                        <a:t>Legal / Compliance Office</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Medium 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Manage Closely</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effectLst/>
                          <a:latin typeface="Times New Roman" panose="02020603050405020304" pitchFamily="18" charset="0"/>
                          <a:ea typeface="Calibri" panose="020F0502020204030204" pitchFamily="34" charset="0"/>
                        </a:rPr>
                        <a:t>Review policy language for Title IV compliance</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18967019"/>
                  </a:ext>
                </a:extLst>
              </a:tr>
              <a:tr h="264359">
                <a:tc>
                  <a:txBody>
                    <a:bodyPr/>
                    <a:lstStyle/>
                    <a:p>
                      <a:pPr marL="0" marR="0">
                        <a:spcBef>
                          <a:spcPts val="0"/>
                        </a:spcBef>
                        <a:spcAft>
                          <a:spcPts val="0"/>
                        </a:spcAft>
                      </a:pPr>
                      <a:r>
                        <a:rPr lang="en-US" sz="1200" b="1" dirty="0">
                          <a:solidFill>
                            <a:srgbClr val="000000"/>
                          </a:solidFill>
                          <a:effectLst/>
                          <a:latin typeface="Times New Roman" panose="02020603050405020304" pitchFamily="18" charset="0"/>
                          <a:ea typeface="Calibri" panose="020F0502020204030204" pitchFamily="34" charset="0"/>
                        </a:rPr>
                        <a:t>IT Services</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Medium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Keep Satisfied</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a:solidFill>
                            <a:srgbClr val="000000"/>
                          </a:solidFill>
                          <a:effectLst/>
                          <a:latin typeface="Times New Roman" panose="02020603050405020304" pitchFamily="18" charset="0"/>
                          <a:ea typeface="Calibri" panose="020F0502020204030204" pitchFamily="34" charset="0"/>
                        </a:rPr>
                        <a:t>Provide integration timeline</a:t>
                      </a:r>
                      <a:endParaRPr lang="en-US" sz="120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Font typeface="Symbol" pitchFamily="2" charset="2"/>
                        <a:buNone/>
                      </a:pPr>
                      <a:r>
                        <a:rPr lang="en-US" sz="1200">
                          <a:solidFill>
                            <a:srgbClr val="000000"/>
                          </a:solidFill>
                          <a:effectLst/>
                          <a:latin typeface="Times New Roman" panose="02020603050405020304" pitchFamily="18" charset="0"/>
                          <a:ea typeface="Calibri" panose="020F0502020204030204" pitchFamily="34" charset="0"/>
                        </a:rPr>
                        <a:t>Allocate API support</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29212792"/>
                  </a:ext>
                </a:extLst>
              </a:tr>
              <a:tr h="264359">
                <a:tc>
                  <a:txBody>
                    <a:bodyPr/>
                    <a:lstStyle/>
                    <a:p>
                      <a:pPr marL="0" marR="0">
                        <a:spcBef>
                          <a:spcPts val="0"/>
                        </a:spcBef>
                        <a:spcAft>
                          <a:spcPts val="0"/>
                        </a:spcAft>
                      </a:pPr>
                      <a:r>
                        <a:rPr lang="en-US" sz="1200" b="1" dirty="0">
                          <a:effectLst/>
                          <a:latin typeface="Times New Roman" panose="02020603050405020304" pitchFamily="18" charset="0"/>
                          <a:ea typeface="Calibri" panose="020F0502020204030204" pitchFamily="34" charset="0"/>
                        </a:rPr>
                        <a:t>Faculty Senate / Dept. Chairs</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Medium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Manage Closely</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a:effectLst/>
                          <a:latin typeface="Times New Roman" panose="02020603050405020304" pitchFamily="18" charset="0"/>
                          <a:ea typeface="Calibri" panose="020F0502020204030204" pitchFamily="34" charset="0"/>
                        </a:rPr>
                        <a:t>Draft department‑level addenda</a:t>
                      </a:r>
                      <a:endParaRPr lang="en-US" sz="120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Font typeface="Symbol" pitchFamily="2" charset="2"/>
                        <a:buNone/>
                      </a:pPr>
                      <a:r>
                        <a:rPr lang="en-US" sz="1200">
                          <a:effectLst/>
                          <a:latin typeface="Times New Roman" panose="02020603050405020304" pitchFamily="18" charset="0"/>
                          <a:ea typeface="Calibri" panose="020F0502020204030204" pitchFamily="34" charset="0"/>
                        </a:rPr>
                        <a:t>Host workshops</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2003389"/>
                  </a:ext>
                </a:extLst>
              </a:tr>
              <a:tr h="264359">
                <a:tc>
                  <a:txBody>
                    <a:bodyPr/>
                    <a:lstStyle/>
                    <a:p>
                      <a:pPr marL="0" marR="0">
                        <a:spcBef>
                          <a:spcPts val="0"/>
                        </a:spcBef>
                        <a:spcAft>
                          <a:spcPts val="0"/>
                        </a:spcAft>
                      </a:pPr>
                      <a:r>
                        <a:rPr lang="en-US" sz="1200" b="1" dirty="0">
                          <a:solidFill>
                            <a:srgbClr val="000000"/>
                          </a:solidFill>
                          <a:effectLst/>
                          <a:latin typeface="Times New Roman" panose="02020603050405020304" pitchFamily="18" charset="0"/>
                          <a:ea typeface="Calibri" panose="020F0502020204030204" pitchFamily="34" charset="0"/>
                        </a:rPr>
                        <a:t>Individual Instructors</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Low</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Keep Informed</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a:solidFill>
                            <a:srgbClr val="000000"/>
                          </a:solidFill>
                          <a:effectLst/>
                          <a:latin typeface="Times New Roman" panose="02020603050405020304" pitchFamily="18" charset="0"/>
                          <a:ea typeface="Calibri" panose="020F0502020204030204" pitchFamily="34" charset="0"/>
                        </a:rPr>
                        <a:t>Distribute quick‑start guide</a:t>
                      </a:r>
                      <a:endParaRPr lang="en-US" sz="120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Font typeface="Symbol" pitchFamily="2" charset="2"/>
                        <a:buNone/>
                      </a:pPr>
                      <a:r>
                        <a:rPr lang="en-US" sz="1200">
                          <a:solidFill>
                            <a:srgbClr val="000000"/>
                          </a:solidFill>
                          <a:effectLst/>
                          <a:latin typeface="Times New Roman" panose="02020603050405020304" pitchFamily="18" charset="0"/>
                          <a:ea typeface="Calibri" panose="020F0502020204030204" pitchFamily="34" charset="0"/>
                        </a:rPr>
                        <a:t>Collect usability feedback</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78477241"/>
                  </a:ext>
                </a:extLst>
              </a:tr>
              <a:tr h="396538">
                <a:tc>
                  <a:txBody>
                    <a:bodyPr/>
                    <a:lstStyle/>
                    <a:p>
                      <a:pPr marL="0" marR="0">
                        <a:spcBef>
                          <a:spcPts val="0"/>
                        </a:spcBef>
                        <a:spcAft>
                          <a:spcPts val="0"/>
                        </a:spcAft>
                      </a:pPr>
                      <a:r>
                        <a:rPr lang="en-US" sz="1200" b="1" dirty="0">
                          <a:effectLst/>
                          <a:latin typeface="Times New Roman" panose="02020603050405020304" pitchFamily="18" charset="0"/>
                          <a:ea typeface="Calibri" panose="020F0502020204030204" pitchFamily="34" charset="0"/>
                        </a:rPr>
                        <a:t>ELL / International Students</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Low</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Keep Informed</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effectLst/>
                          <a:latin typeface="Times New Roman" panose="02020603050405020304" pitchFamily="18" charset="0"/>
                          <a:ea typeface="Calibri" panose="020F0502020204030204" pitchFamily="34" charset="0"/>
                        </a:rPr>
                        <a:t>Conduct focus groups</a:t>
                      </a:r>
                      <a:endParaRPr lang="en-US" sz="1200" dirty="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Font typeface="Symbol" pitchFamily="2" charset="2"/>
                        <a:buNone/>
                      </a:pPr>
                      <a:r>
                        <a:rPr lang="en-US" sz="1200" dirty="0">
                          <a:effectLst/>
                          <a:latin typeface="Times New Roman" panose="02020603050405020304" pitchFamily="18" charset="0"/>
                          <a:ea typeface="Calibri" panose="020F0502020204030204" pitchFamily="34" charset="0"/>
                        </a:rPr>
                        <a:t>Publish plain‑language policy</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987502975"/>
                  </a:ext>
                </a:extLst>
              </a:tr>
              <a:tr h="264359">
                <a:tc>
                  <a:txBody>
                    <a:bodyPr/>
                    <a:lstStyle/>
                    <a:p>
                      <a:pPr marL="0" marR="0">
                        <a:spcBef>
                          <a:spcPts val="0"/>
                        </a:spcBef>
                        <a:spcAft>
                          <a:spcPts val="0"/>
                        </a:spcAft>
                      </a:pPr>
                      <a:r>
                        <a:rPr lang="en-US" sz="1200" b="1" dirty="0">
                          <a:solidFill>
                            <a:srgbClr val="FF0000"/>
                          </a:solidFill>
                          <a:effectLst/>
                          <a:latin typeface="Times New Roman" panose="02020603050405020304" pitchFamily="18" charset="0"/>
                          <a:ea typeface="Calibri" panose="020F0502020204030204" pitchFamily="34" charset="0"/>
                        </a:rPr>
                        <a:t>AI‑Detector Vendors</a:t>
                      </a:r>
                      <a:endParaRPr lang="en-US" sz="12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b="1" dirty="0">
                          <a:solidFill>
                            <a:srgbClr val="FF0000"/>
                          </a:solidFill>
                          <a:effectLst/>
                          <a:latin typeface="Times New Roman" panose="02020603050405020304" pitchFamily="18" charset="0"/>
                          <a:ea typeface="Calibri" panose="020F0502020204030204" pitchFamily="34" charset="0"/>
                        </a:rPr>
                        <a:t>Medium</a:t>
                      </a:r>
                      <a:endParaRPr lang="en-US" sz="12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b="1" dirty="0">
                          <a:solidFill>
                            <a:srgbClr val="FF0000"/>
                          </a:solidFill>
                          <a:effectLst/>
                          <a:latin typeface="Times New Roman" panose="02020603050405020304" pitchFamily="18" charset="0"/>
                          <a:ea typeface="Calibri" panose="020F0502020204030204" pitchFamily="34" charset="0"/>
                        </a:rPr>
                        <a:t>Low‑Medium</a:t>
                      </a:r>
                      <a:endParaRPr lang="en-US" sz="12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b="1" dirty="0">
                          <a:solidFill>
                            <a:srgbClr val="FF0000"/>
                          </a:solidFill>
                          <a:effectLst/>
                          <a:latin typeface="Times New Roman" panose="02020603050405020304" pitchFamily="18" charset="0"/>
                          <a:ea typeface="Calibri" panose="020F0502020204030204" pitchFamily="34" charset="0"/>
                        </a:rPr>
                        <a:t>Monitor</a:t>
                      </a:r>
                      <a:endParaRPr lang="en-US" sz="12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b="1" dirty="0">
                          <a:solidFill>
                            <a:srgbClr val="FF0000"/>
                          </a:solidFill>
                          <a:effectLst/>
                          <a:latin typeface="Times New Roman" panose="02020603050405020304" pitchFamily="18" charset="0"/>
                          <a:ea typeface="Calibri" panose="020F0502020204030204" pitchFamily="34" charset="0"/>
                        </a:rPr>
                        <a:t>Request bias‑mitigation documentation</a:t>
                      </a:r>
                      <a:endParaRPr lang="en-US" sz="12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98978278"/>
                  </a:ext>
                </a:extLst>
              </a:tr>
              <a:tr h="264359">
                <a:tc>
                  <a:txBody>
                    <a:bodyPr/>
                    <a:lstStyle/>
                    <a:p>
                      <a:pPr marL="0" marR="0">
                        <a:spcBef>
                          <a:spcPts val="0"/>
                        </a:spcBef>
                        <a:spcAft>
                          <a:spcPts val="0"/>
                        </a:spcAft>
                      </a:pPr>
                      <a:r>
                        <a:rPr lang="en-US" sz="1200" b="1" dirty="0">
                          <a:effectLst/>
                          <a:latin typeface="Times New Roman" panose="02020603050405020304" pitchFamily="18" charset="0"/>
                          <a:ea typeface="Calibri" panose="020F0502020204030204" pitchFamily="34" charset="0"/>
                        </a:rPr>
                        <a:t>Education Agencies</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Low‑Medium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Keep Satisfied</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effectLst/>
                          <a:latin typeface="Times New Roman" panose="02020603050405020304" pitchFamily="18" charset="0"/>
                          <a:ea typeface="Calibri" panose="020F0502020204030204" pitchFamily="34" charset="0"/>
                        </a:rPr>
                        <a:t>Submit compliance summary</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359945620"/>
                  </a:ext>
                </a:extLst>
              </a:tr>
              <a:tr h="396538">
                <a:tc>
                  <a:txBody>
                    <a:bodyPr/>
                    <a:lstStyle/>
                    <a:p>
                      <a:pPr marL="0" marR="0">
                        <a:spcBef>
                          <a:spcPts val="0"/>
                        </a:spcBef>
                        <a:spcAft>
                          <a:spcPts val="0"/>
                        </a:spcAft>
                      </a:pPr>
                      <a:r>
                        <a:rPr lang="en-US" sz="1200" b="1" dirty="0">
                          <a:solidFill>
                            <a:srgbClr val="000000"/>
                          </a:solidFill>
                          <a:effectLst/>
                          <a:latin typeface="Times New Roman" panose="02020603050405020304" pitchFamily="18" charset="0"/>
                          <a:ea typeface="Calibri" panose="020F0502020204030204" pitchFamily="34" charset="0"/>
                        </a:rPr>
                        <a:t>Student Government</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solidFill>
                            <a:srgbClr val="000000"/>
                          </a:solidFill>
                          <a:effectLst/>
                          <a:latin typeface="Times New Roman" panose="02020603050405020304" pitchFamily="18" charset="0"/>
                          <a:ea typeface="Calibri" panose="020F0502020204030204" pitchFamily="34" charset="0"/>
                        </a:rPr>
                        <a:t>Low‑Medium</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solidFill>
                            <a:srgbClr val="000000"/>
                          </a:solidFill>
                          <a:effectLst/>
                          <a:latin typeface="Times New Roman" panose="02020603050405020304" pitchFamily="18" charset="0"/>
                          <a:ea typeface="Calibri" panose="020F0502020204030204" pitchFamily="34" charset="0"/>
                        </a:rPr>
                        <a:t>High</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solidFill>
                            <a:srgbClr val="000000"/>
                          </a:solidFill>
                          <a:effectLst/>
                          <a:latin typeface="Times New Roman" panose="02020603050405020304" pitchFamily="18" charset="0"/>
                          <a:ea typeface="Calibri" panose="020F0502020204030204" pitchFamily="34" charset="0"/>
                        </a:rPr>
                        <a:t>Keep Informed</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solidFill>
                            <a:srgbClr val="000000"/>
                          </a:solidFill>
                          <a:effectLst/>
                          <a:latin typeface="Times New Roman" panose="02020603050405020304" pitchFamily="18" charset="0"/>
                          <a:ea typeface="Calibri" panose="020F0502020204030204" pitchFamily="34" charset="0"/>
                        </a:rPr>
                        <a:t>Invite to review meetings</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16522031"/>
                  </a:ext>
                </a:extLst>
              </a:tr>
              <a:tr h="264359">
                <a:tc>
                  <a:txBody>
                    <a:bodyPr/>
                    <a:lstStyle/>
                    <a:p>
                      <a:pPr marL="0" marR="0">
                        <a:spcBef>
                          <a:spcPts val="0"/>
                        </a:spcBef>
                        <a:spcAft>
                          <a:spcPts val="0"/>
                        </a:spcAft>
                      </a:pPr>
                      <a:r>
                        <a:rPr lang="en-US" sz="1200" b="1" dirty="0">
                          <a:effectLst/>
                          <a:latin typeface="Times New Roman" panose="02020603050405020304" pitchFamily="18" charset="0"/>
                          <a:ea typeface="Calibri" panose="020F0502020204030204" pitchFamily="34" charset="0"/>
                        </a:rPr>
                        <a:t>General Public / Media</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Low</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Low</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Monitor</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effectLst/>
                          <a:latin typeface="Times New Roman" panose="02020603050405020304" pitchFamily="18" charset="0"/>
                          <a:ea typeface="Calibri" panose="020F0502020204030204" pitchFamily="34" charset="0"/>
                        </a:rPr>
                        <a:t>Prepare press kit (on‑demand)</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90010176"/>
                  </a:ext>
                </a:extLst>
              </a:tr>
            </a:tbl>
          </a:graphicData>
        </a:graphic>
      </p:graphicFrame>
      <p:sp>
        <p:nvSpPr>
          <p:cNvPr id="9" name="TextBox 8">
            <a:extLst>
              <a:ext uri="{FF2B5EF4-FFF2-40B4-BE49-F238E27FC236}">
                <a16:creationId xmlns:a16="http://schemas.microsoft.com/office/drawing/2014/main" id="{AD14FC9A-638C-5470-70AD-84BB27A93E9D}"/>
              </a:ext>
            </a:extLst>
          </p:cNvPr>
          <p:cNvSpPr txBox="1"/>
          <p:nvPr/>
        </p:nvSpPr>
        <p:spPr>
          <a:xfrm>
            <a:off x="4084003" y="4609757"/>
            <a:ext cx="2053767" cy="477054"/>
          </a:xfrm>
          <a:prstGeom prst="rect">
            <a:avLst/>
          </a:prstGeom>
          <a:noFill/>
        </p:spPr>
        <p:txBody>
          <a:bodyPr wrap="none" rtlCol="0">
            <a:spAutoFit/>
          </a:bodyPr>
          <a:lstStyle/>
          <a:p>
            <a:r>
              <a:rPr lang="en-US" sz="2500" dirty="0"/>
              <a:t>Stakeholders</a:t>
            </a:r>
          </a:p>
        </p:txBody>
      </p:sp>
      <p:pic>
        <p:nvPicPr>
          <p:cNvPr id="2" name="Camera 1">
            <a:extLst>
              <a:ext uri="{FF2B5EF4-FFF2-40B4-BE49-F238E27FC236}">
                <a16:creationId xmlns:a16="http://schemas.microsoft.com/office/drawing/2014/main" id="{80DC0A8C-725C-DE25-25FC-0C003045A0A3}"/>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01280" y="3700780"/>
            <a:ext cx="1442720" cy="1442720"/>
          </a:xfrm>
          <a:prstGeom prst="ellipse">
            <a:avLst/>
          </a:prstGeom>
          <a:ln>
            <a:noFill/>
          </a:ln>
          <a:effectLst>
            <a:softEdge rad="127000"/>
          </a:effectLst>
        </p:spPr>
      </p:pic>
    </p:spTree>
  </p:cSld>
  <p:clrMapOvr>
    <a:masterClrMapping/>
  </p:clrMapOvr>
  <mc:AlternateContent xmlns:mc="http://schemas.openxmlformats.org/markup-compatibility/2006">
    <mc:Choice xmlns:p14="http://schemas.microsoft.com/office/powerpoint/2010/main" Requires="p14">
      <p:transition spd="slow" p14:dur="2000" advTm="32322"/>
    </mc:Choice>
    <mc:Fallback>
      <p:transition spd="slow" advTm="3232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CBD9F0EF-B673-695F-A2DB-A63092F45D88}"/>
            </a:ext>
          </a:extLst>
        </p:cNvPr>
        <p:cNvGrpSpPr/>
        <p:nvPr/>
      </p:nvGrpSpPr>
      <p:grpSpPr>
        <a:xfrm>
          <a:off x="0" y="0"/>
          <a:ext cx="0" cy="0"/>
          <a:chOff x="0" y="0"/>
          <a:chExt cx="0" cy="0"/>
        </a:xfrm>
      </p:grpSpPr>
      <p:pic>
        <p:nvPicPr>
          <p:cNvPr id="2" name="Camera 1">
            <a:extLst>
              <a:ext uri="{FF2B5EF4-FFF2-40B4-BE49-F238E27FC236}">
                <a16:creationId xmlns:a16="http://schemas.microsoft.com/office/drawing/2014/main" id="{20FE0F74-820B-D068-EC51-76CA3FC12EC7}"/>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01280" y="3700780"/>
            <a:ext cx="1442720" cy="1442720"/>
          </a:xfrm>
          <a:prstGeom prst="ellipse">
            <a:avLst/>
          </a:prstGeom>
          <a:ln>
            <a:noFill/>
          </a:ln>
          <a:effectLst>
            <a:softEdge rad="127000"/>
          </a:effectLst>
        </p:spPr>
      </p:pic>
      <p:graphicFrame>
        <p:nvGraphicFramePr>
          <p:cNvPr id="3" name="Table 2">
            <a:extLst>
              <a:ext uri="{FF2B5EF4-FFF2-40B4-BE49-F238E27FC236}">
                <a16:creationId xmlns:a16="http://schemas.microsoft.com/office/drawing/2014/main" id="{9DE9F0BB-22FE-0995-D7C3-5F69CB6EA916}"/>
              </a:ext>
            </a:extLst>
          </p:cNvPr>
          <p:cNvGraphicFramePr>
            <a:graphicFrameLocks noGrp="1"/>
          </p:cNvGraphicFramePr>
          <p:nvPr>
            <p:extLst>
              <p:ext uri="{D42A27DB-BD31-4B8C-83A1-F6EECF244321}">
                <p14:modId xmlns:p14="http://schemas.microsoft.com/office/powerpoint/2010/main" val="1769039057"/>
              </p:ext>
            </p:extLst>
          </p:nvPr>
        </p:nvGraphicFramePr>
        <p:xfrm>
          <a:off x="212006" y="446727"/>
          <a:ext cx="7703270" cy="3496626"/>
        </p:xfrm>
        <a:graphic>
          <a:graphicData uri="http://schemas.openxmlformats.org/drawingml/2006/table">
            <a:tbl>
              <a:tblPr firstRow="1" bandRow="1">
                <a:tableStyleId>{5C22544A-7EE6-4342-B048-85BDC9FD1C3A}</a:tableStyleId>
              </a:tblPr>
              <a:tblGrid>
                <a:gridCol w="1630947">
                  <a:extLst>
                    <a:ext uri="{9D8B030D-6E8A-4147-A177-3AD203B41FA5}">
                      <a16:colId xmlns:a16="http://schemas.microsoft.com/office/drawing/2014/main" val="2326593050"/>
                    </a:ext>
                  </a:extLst>
                </a:gridCol>
                <a:gridCol w="2840701">
                  <a:extLst>
                    <a:ext uri="{9D8B030D-6E8A-4147-A177-3AD203B41FA5}">
                      <a16:colId xmlns:a16="http://schemas.microsoft.com/office/drawing/2014/main" val="3025345546"/>
                    </a:ext>
                  </a:extLst>
                </a:gridCol>
                <a:gridCol w="3231622">
                  <a:extLst>
                    <a:ext uri="{9D8B030D-6E8A-4147-A177-3AD203B41FA5}">
                      <a16:colId xmlns:a16="http://schemas.microsoft.com/office/drawing/2014/main" val="1036428492"/>
                    </a:ext>
                  </a:extLst>
                </a:gridCol>
              </a:tblGrid>
              <a:tr h="542673">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Stakeholder</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dirty="0">
                          <a:effectLst/>
                          <a:latin typeface="Times New Roman" panose="02020603050405020304" pitchFamily="18" charset="0"/>
                          <a:ea typeface="Times New Roman" panose="02020603050405020304" pitchFamily="18" charset="0"/>
                        </a:rPr>
                        <a:t>Need(s)</a:t>
                      </a:r>
                    </a:p>
                  </a:txBody>
                  <a:tcPr marL="68580" marR="68580" marT="0" marB="0"/>
                </a:tc>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How GAIDA Policy responds to the stated Need</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42094753"/>
                  </a:ext>
                </a:extLst>
              </a:tr>
              <a:tr h="391291">
                <a:tc>
                  <a:txBody>
                    <a:bodyPr/>
                    <a:lstStyle/>
                    <a:p>
                      <a:pPr marL="0" marR="0">
                        <a:spcBef>
                          <a:spcPts val="0"/>
                        </a:spcBef>
                        <a:spcAft>
                          <a:spcPts val="0"/>
                        </a:spcAft>
                      </a:pPr>
                      <a:r>
                        <a:rPr lang="en-US" sz="1000" b="1" dirty="0">
                          <a:solidFill>
                            <a:srgbClr val="000000"/>
                          </a:solidFill>
                          <a:effectLst/>
                          <a:latin typeface="Times New Roman" panose="02020603050405020304" pitchFamily="18" charset="0"/>
                          <a:ea typeface="Calibri" panose="020F0502020204030204" pitchFamily="34" charset="0"/>
                        </a:rPr>
                        <a:t>Provost / Academic Integrity Office</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Needs a way to Enforce Academic Integrity rulings</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Enforce integrity, giving direct guidance about AI detection use</a:t>
                      </a:r>
                    </a:p>
                  </a:txBody>
                  <a:tcPr marL="68580" marR="68580" marT="0" marB="0"/>
                </a:tc>
                <a:extLst>
                  <a:ext uri="{0D108BD9-81ED-4DB2-BD59-A6C34878D82A}">
                    <a16:rowId xmlns:a16="http://schemas.microsoft.com/office/drawing/2014/main" val="121160112"/>
                  </a:ext>
                </a:extLst>
              </a:tr>
              <a:tr h="138498">
                <a:tc>
                  <a:txBody>
                    <a:bodyPr/>
                    <a:lstStyle/>
                    <a:p>
                      <a:pPr marL="0" marR="0">
                        <a:spcBef>
                          <a:spcPts val="0"/>
                        </a:spcBef>
                        <a:spcAft>
                          <a:spcPts val="0"/>
                        </a:spcAft>
                      </a:pPr>
                      <a:r>
                        <a:rPr lang="en-US" sz="1000" b="1" dirty="0">
                          <a:effectLst/>
                          <a:latin typeface="Times New Roman" panose="02020603050405020304" pitchFamily="18" charset="0"/>
                          <a:ea typeface="Calibri" panose="020F0502020204030204" pitchFamily="34" charset="0"/>
                        </a:rPr>
                        <a:t>Legal / Compliance Office</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Needs a way to avoid costly lawsuits</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Lays grounds to preclude lawsuits</a:t>
                      </a:r>
                    </a:p>
                  </a:txBody>
                  <a:tcPr marL="68580" marR="68580" marT="0" marB="0"/>
                </a:tc>
                <a:extLst>
                  <a:ext uri="{0D108BD9-81ED-4DB2-BD59-A6C34878D82A}">
                    <a16:rowId xmlns:a16="http://schemas.microsoft.com/office/drawing/2014/main" val="3818967019"/>
                  </a:ext>
                </a:extLst>
              </a:tr>
              <a:tr h="138498">
                <a:tc>
                  <a:txBody>
                    <a:bodyPr/>
                    <a:lstStyle/>
                    <a:p>
                      <a:pPr marL="0" marR="0">
                        <a:spcBef>
                          <a:spcPts val="0"/>
                        </a:spcBef>
                        <a:spcAft>
                          <a:spcPts val="0"/>
                        </a:spcAft>
                      </a:pPr>
                      <a:r>
                        <a:rPr lang="en-US" sz="1000" b="1" dirty="0">
                          <a:solidFill>
                            <a:srgbClr val="000000"/>
                          </a:solidFill>
                          <a:effectLst/>
                          <a:latin typeface="Times New Roman" panose="02020603050405020304" pitchFamily="18" charset="0"/>
                          <a:ea typeface="Calibri" panose="020F0502020204030204" pitchFamily="34" charset="0"/>
                        </a:rPr>
                        <a:t>IT Services</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Wishes to be part of the solution</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Becomes part of the solution</a:t>
                      </a:r>
                    </a:p>
                  </a:txBody>
                  <a:tcPr marL="68580" marR="68580" marT="0" marB="0"/>
                </a:tc>
                <a:extLst>
                  <a:ext uri="{0D108BD9-81ED-4DB2-BD59-A6C34878D82A}">
                    <a16:rowId xmlns:a16="http://schemas.microsoft.com/office/drawing/2014/main" val="1529212792"/>
                  </a:ext>
                </a:extLst>
              </a:tr>
              <a:tr h="276995">
                <a:tc>
                  <a:txBody>
                    <a:bodyPr/>
                    <a:lstStyle/>
                    <a:p>
                      <a:pPr marL="0" marR="0">
                        <a:spcBef>
                          <a:spcPts val="0"/>
                        </a:spcBef>
                        <a:spcAft>
                          <a:spcPts val="0"/>
                        </a:spcAft>
                      </a:pPr>
                      <a:r>
                        <a:rPr lang="en-US" sz="1000" b="1" dirty="0">
                          <a:effectLst/>
                          <a:latin typeface="Times New Roman" panose="02020603050405020304" pitchFamily="18" charset="0"/>
                          <a:ea typeface="Calibri" panose="020F0502020204030204" pitchFamily="34" charset="0"/>
                        </a:rPr>
                        <a:t>Faculty Senate / Dept. Chairs</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Does NOT want to be responsible for Decisions that may adversely affect students</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Onus no longer on faculty committees</a:t>
                      </a:r>
                    </a:p>
                  </a:txBody>
                  <a:tcPr marL="68580" marR="68580" marT="0" marB="0"/>
                </a:tc>
                <a:extLst>
                  <a:ext uri="{0D108BD9-81ED-4DB2-BD59-A6C34878D82A}">
                    <a16:rowId xmlns:a16="http://schemas.microsoft.com/office/drawing/2014/main" val="352003389"/>
                  </a:ext>
                </a:extLst>
              </a:tr>
              <a:tr h="276995">
                <a:tc>
                  <a:txBody>
                    <a:bodyPr/>
                    <a:lstStyle/>
                    <a:p>
                      <a:pPr marL="0" marR="0">
                        <a:spcBef>
                          <a:spcPts val="0"/>
                        </a:spcBef>
                        <a:spcAft>
                          <a:spcPts val="0"/>
                        </a:spcAft>
                      </a:pPr>
                      <a:r>
                        <a:rPr lang="en-US" sz="1000" b="1" dirty="0">
                          <a:solidFill>
                            <a:srgbClr val="000000"/>
                          </a:solidFill>
                          <a:effectLst/>
                          <a:latin typeface="Times New Roman" panose="02020603050405020304" pitchFamily="18" charset="0"/>
                          <a:ea typeface="Calibri" panose="020F0502020204030204" pitchFamily="34" charset="0"/>
                        </a:rPr>
                        <a:t>Individual Instructors</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Do not want to be solely responsible for deciding whether a work is AI generated</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Onus no longer on faculty</a:t>
                      </a:r>
                    </a:p>
                  </a:txBody>
                  <a:tcPr marL="68580" marR="68580" marT="0" marB="0"/>
                </a:tc>
                <a:extLst>
                  <a:ext uri="{0D108BD9-81ED-4DB2-BD59-A6C34878D82A}">
                    <a16:rowId xmlns:a16="http://schemas.microsoft.com/office/drawing/2014/main" val="2678477241"/>
                  </a:ext>
                </a:extLst>
              </a:tr>
              <a:tr h="276995">
                <a:tc>
                  <a:txBody>
                    <a:bodyPr/>
                    <a:lstStyle/>
                    <a:p>
                      <a:pPr marL="0" marR="0">
                        <a:spcBef>
                          <a:spcPts val="0"/>
                        </a:spcBef>
                        <a:spcAft>
                          <a:spcPts val="0"/>
                        </a:spcAft>
                      </a:pPr>
                      <a:r>
                        <a:rPr lang="en-US" sz="1000" b="1" dirty="0">
                          <a:effectLst/>
                          <a:latin typeface="Times New Roman" panose="02020603050405020304" pitchFamily="18" charset="0"/>
                          <a:ea typeface="Calibri" panose="020F0502020204030204" pitchFamily="34" charset="0"/>
                        </a:rPr>
                        <a:t>ELL / International Students</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Needs clear guidelines on USE</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Clear understanding of rules governing use of AI detectors</a:t>
                      </a:r>
                    </a:p>
                  </a:txBody>
                  <a:tcPr marL="68580" marR="68580" marT="0" marB="0"/>
                </a:tc>
                <a:extLst>
                  <a:ext uri="{0D108BD9-81ED-4DB2-BD59-A6C34878D82A}">
                    <a16:rowId xmlns:a16="http://schemas.microsoft.com/office/drawing/2014/main" val="987502975"/>
                  </a:ext>
                </a:extLst>
              </a:tr>
              <a:tr h="138498">
                <a:tc>
                  <a:txBody>
                    <a:bodyPr/>
                    <a:lstStyle/>
                    <a:p>
                      <a:pPr marL="0" marR="0">
                        <a:spcBef>
                          <a:spcPts val="0"/>
                        </a:spcBef>
                        <a:spcAft>
                          <a:spcPts val="0"/>
                        </a:spcAft>
                      </a:pPr>
                      <a:r>
                        <a:rPr lang="en-US" sz="1000" b="1" dirty="0">
                          <a:solidFill>
                            <a:schemeClr val="tx1"/>
                          </a:solidFill>
                          <a:effectLst/>
                          <a:latin typeface="Times New Roman" panose="02020603050405020304" pitchFamily="18" charset="0"/>
                          <a:ea typeface="Calibri" panose="020F0502020204030204" pitchFamily="34" charset="0"/>
                        </a:rPr>
                        <a:t>AI‑Detector Vendors</a:t>
                      </a:r>
                      <a:endParaRPr lang="en-US" sz="1000" b="1"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b="0" dirty="0">
                          <a:solidFill>
                            <a:schemeClr val="tx1"/>
                          </a:solidFill>
                          <a:effectLst/>
                          <a:latin typeface="Times New Roman" panose="02020603050405020304" pitchFamily="18" charset="0"/>
                          <a:ea typeface="Times New Roman" panose="02020603050405020304" pitchFamily="18" charset="0"/>
                        </a:rPr>
                        <a:t>A better understanding of any bias and a way to fix it</a:t>
                      </a:r>
                    </a:p>
                  </a:txBody>
                  <a:tcPr marL="68580" marR="68580" marT="0" marB="0"/>
                </a:tc>
                <a:tc>
                  <a:txBody>
                    <a:bodyPr/>
                    <a:lstStyle/>
                    <a:p>
                      <a:pPr marL="0" marR="0" lvl="0" indent="0">
                        <a:spcBef>
                          <a:spcPts val="0"/>
                        </a:spcBef>
                        <a:spcAft>
                          <a:spcPts val="0"/>
                        </a:spcAft>
                        <a:buFont typeface="Symbol" pitchFamily="2" charset="2"/>
                        <a:buNone/>
                      </a:pPr>
                      <a:r>
                        <a:rPr lang="en-US" sz="1000" b="0" dirty="0">
                          <a:solidFill>
                            <a:schemeClr val="tx1"/>
                          </a:solidFill>
                          <a:effectLst/>
                          <a:latin typeface="Times New Roman" panose="02020603050405020304" pitchFamily="18" charset="0"/>
                          <a:ea typeface="Times New Roman" panose="02020603050405020304" pitchFamily="18" charset="0"/>
                        </a:rPr>
                        <a:t>New training sets</a:t>
                      </a:r>
                    </a:p>
                  </a:txBody>
                  <a:tcPr marL="68580" marR="68580" marT="0" marB="0"/>
                </a:tc>
                <a:extLst>
                  <a:ext uri="{0D108BD9-81ED-4DB2-BD59-A6C34878D82A}">
                    <a16:rowId xmlns:a16="http://schemas.microsoft.com/office/drawing/2014/main" val="2698978278"/>
                  </a:ext>
                </a:extLst>
              </a:tr>
              <a:tr h="276995">
                <a:tc>
                  <a:txBody>
                    <a:bodyPr/>
                    <a:lstStyle/>
                    <a:p>
                      <a:pPr marL="0" marR="0">
                        <a:spcBef>
                          <a:spcPts val="0"/>
                        </a:spcBef>
                        <a:spcAft>
                          <a:spcPts val="0"/>
                        </a:spcAft>
                      </a:pPr>
                      <a:r>
                        <a:rPr lang="en-US" sz="1000" b="1" dirty="0">
                          <a:effectLst/>
                          <a:latin typeface="Times New Roman" panose="02020603050405020304" pitchFamily="18" charset="0"/>
                          <a:ea typeface="Calibri" panose="020F0502020204030204" pitchFamily="34" charset="0"/>
                        </a:rPr>
                        <a:t>Education Agencies</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Needs a clear path on which these agencies can send others</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Understanding of the way in which AI detectors can be used with ELL students</a:t>
                      </a:r>
                    </a:p>
                  </a:txBody>
                  <a:tcPr marL="68580" marR="68580" marT="0" marB="0"/>
                </a:tc>
                <a:extLst>
                  <a:ext uri="{0D108BD9-81ED-4DB2-BD59-A6C34878D82A}">
                    <a16:rowId xmlns:a16="http://schemas.microsoft.com/office/drawing/2014/main" val="2359945620"/>
                  </a:ext>
                </a:extLst>
              </a:tr>
              <a:tr h="276995">
                <a:tc>
                  <a:txBody>
                    <a:bodyPr/>
                    <a:lstStyle/>
                    <a:p>
                      <a:pPr marL="0" marR="0">
                        <a:spcBef>
                          <a:spcPts val="0"/>
                        </a:spcBef>
                        <a:spcAft>
                          <a:spcPts val="0"/>
                        </a:spcAft>
                      </a:pPr>
                      <a:r>
                        <a:rPr lang="en-US" sz="1000" b="1" dirty="0">
                          <a:solidFill>
                            <a:srgbClr val="000000"/>
                          </a:solidFill>
                          <a:effectLst/>
                          <a:latin typeface="Times New Roman" panose="02020603050405020304" pitchFamily="18" charset="0"/>
                          <a:ea typeface="Calibri" panose="020F0502020204030204" pitchFamily="34" charset="0"/>
                        </a:rPr>
                        <a:t>Student Government</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Needs a very concise understanding of why a student would be accused of an integrity breach and how to combat it</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The policy addresses the basis on which any student can be accused of academic integrity breaches</a:t>
                      </a:r>
                    </a:p>
                  </a:txBody>
                  <a:tcPr marL="68580" marR="68580" marT="0" marB="0"/>
                </a:tc>
                <a:extLst>
                  <a:ext uri="{0D108BD9-81ED-4DB2-BD59-A6C34878D82A}">
                    <a16:rowId xmlns:a16="http://schemas.microsoft.com/office/drawing/2014/main" val="2916522031"/>
                  </a:ext>
                </a:extLst>
              </a:tr>
              <a:tr h="270695">
                <a:tc>
                  <a:txBody>
                    <a:bodyPr/>
                    <a:lstStyle/>
                    <a:p>
                      <a:pPr marL="0" marR="0">
                        <a:spcBef>
                          <a:spcPts val="0"/>
                        </a:spcBef>
                        <a:spcAft>
                          <a:spcPts val="0"/>
                        </a:spcAft>
                      </a:pPr>
                      <a:r>
                        <a:rPr lang="en-US" sz="1000" b="1" dirty="0">
                          <a:effectLst/>
                          <a:latin typeface="Times New Roman" panose="02020603050405020304" pitchFamily="18" charset="0"/>
                          <a:ea typeface="Calibri" panose="020F0502020204030204" pitchFamily="34" charset="0"/>
                        </a:rPr>
                        <a:t>General Public / Media</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Wishes to understand what the fuss it about</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Transparency</a:t>
                      </a:r>
                    </a:p>
                  </a:txBody>
                  <a:tcPr marL="68580" marR="68580" marT="0" marB="0"/>
                </a:tc>
                <a:extLst>
                  <a:ext uri="{0D108BD9-81ED-4DB2-BD59-A6C34878D82A}">
                    <a16:rowId xmlns:a16="http://schemas.microsoft.com/office/drawing/2014/main" val="1490010176"/>
                  </a:ext>
                </a:extLst>
              </a:tr>
            </a:tbl>
          </a:graphicData>
        </a:graphic>
      </p:graphicFrame>
      <p:sp>
        <p:nvSpPr>
          <p:cNvPr id="9" name="TextBox 8">
            <a:extLst>
              <a:ext uri="{FF2B5EF4-FFF2-40B4-BE49-F238E27FC236}">
                <a16:creationId xmlns:a16="http://schemas.microsoft.com/office/drawing/2014/main" id="{F0DDF1CC-9490-946D-831A-020D23C352B9}"/>
              </a:ext>
            </a:extLst>
          </p:cNvPr>
          <p:cNvSpPr txBox="1"/>
          <p:nvPr/>
        </p:nvSpPr>
        <p:spPr>
          <a:xfrm>
            <a:off x="1206349" y="-30327"/>
            <a:ext cx="4528804" cy="477054"/>
          </a:xfrm>
          <a:prstGeom prst="rect">
            <a:avLst/>
          </a:prstGeom>
          <a:noFill/>
        </p:spPr>
        <p:txBody>
          <a:bodyPr wrap="none" rtlCol="0">
            <a:spAutoFit/>
          </a:bodyPr>
          <a:lstStyle/>
          <a:p>
            <a:r>
              <a:rPr lang="en-US" sz="2500" dirty="0"/>
              <a:t>Stakeholder Needs Addressed</a:t>
            </a:r>
          </a:p>
        </p:txBody>
      </p:sp>
    </p:spTree>
    <p:extLst>
      <p:ext uri="{BB962C8B-B14F-4D97-AF65-F5344CB8AC3E}">
        <p14:creationId xmlns:p14="http://schemas.microsoft.com/office/powerpoint/2010/main" val="2990417007"/>
      </p:ext>
    </p:extLst>
  </p:cSld>
  <p:clrMapOvr>
    <a:masterClrMapping/>
  </p:clrMapOvr>
  <mc:AlternateContent xmlns:mc="http://schemas.openxmlformats.org/markup-compatibility/2006">
    <mc:Choice xmlns:p14="http://schemas.microsoft.com/office/powerpoint/2010/main" Requires="p14">
      <p:transition spd="slow" p14:dur="2000" advTm="18130"/>
    </mc:Choice>
    <mc:Fallback>
      <p:transition spd="slow" advTm="1813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E0D19-FBED-6F99-880F-02E44FC0A47E}"/>
              </a:ext>
            </a:extLst>
          </p:cNvPr>
          <p:cNvSpPr>
            <a:spLocks noGrp="1"/>
          </p:cNvSpPr>
          <p:nvPr>
            <p:ph type="title"/>
          </p:nvPr>
        </p:nvSpPr>
        <p:spPr/>
        <p:txBody>
          <a:bodyPr>
            <a:normAutofit fontScale="90000"/>
          </a:bodyPr>
          <a:lstStyle/>
          <a:p>
            <a:r>
              <a:rPr lang="en-US" dirty="0"/>
              <a:t>Timeline</a:t>
            </a:r>
          </a:p>
        </p:txBody>
      </p:sp>
      <p:sp>
        <p:nvSpPr>
          <p:cNvPr id="3" name="Text Placeholder 2">
            <a:extLst>
              <a:ext uri="{FF2B5EF4-FFF2-40B4-BE49-F238E27FC236}">
                <a16:creationId xmlns:a16="http://schemas.microsoft.com/office/drawing/2014/main" id="{221DCC89-8010-DBA6-9A01-812DD6F2F821}"/>
              </a:ext>
            </a:extLst>
          </p:cNvPr>
          <p:cNvSpPr>
            <a:spLocks noGrp="1"/>
          </p:cNvSpPr>
          <p:nvPr>
            <p:ph type="body" idx="1"/>
          </p:nvPr>
        </p:nvSpPr>
        <p:spPr/>
        <p:txBody>
          <a:bodyPr/>
          <a:lstStyle/>
          <a:p>
            <a:r>
              <a:rPr lang="en-US" dirty="0"/>
              <a:t>The policy is designed to rollout in 7 iterative phases over 1 academic year.</a:t>
            </a:r>
          </a:p>
          <a:p>
            <a:r>
              <a:rPr lang="en-US" dirty="0"/>
              <a:t>Each phase is iterative to allow each stakeholder involved to feel as comfortable as possible before proceeding to the next phase.</a:t>
            </a:r>
          </a:p>
          <a:p>
            <a:r>
              <a:rPr lang="en-US" dirty="0"/>
              <a:t>For each phase, there is a suggested “Owner” who is responsible for that phase and guiding it to the next phase</a:t>
            </a:r>
          </a:p>
          <a:p>
            <a:r>
              <a:rPr lang="en-US" dirty="0"/>
              <a:t>During each phase a goal is stated and a deliverable is suggested.</a:t>
            </a:r>
          </a:p>
          <a:p>
            <a:r>
              <a:rPr lang="en-US" dirty="0"/>
              <a:t>At the point that the deliverable has been created, a decision on whether to proceed to the next phase is made.</a:t>
            </a:r>
          </a:p>
          <a:p>
            <a:r>
              <a:rPr lang="en-US" dirty="0"/>
              <a:t>A complete timeline is described in the paper.</a:t>
            </a:r>
          </a:p>
        </p:txBody>
      </p:sp>
      <p:pic>
        <p:nvPicPr>
          <p:cNvPr id="4" name="Camera 3">
            <a:extLst>
              <a:ext uri="{FF2B5EF4-FFF2-40B4-BE49-F238E27FC236}">
                <a16:creationId xmlns:a16="http://schemas.microsoft.com/office/drawing/2014/main" id="{F48B8AFA-0F84-7517-C205-147943994D0E}"/>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31760" y="3737143"/>
            <a:ext cx="1402080" cy="1402080"/>
          </a:xfrm>
          <a:prstGeom prst="ellipse">
            <a:avLst/>
          </a:prstGeom>
          <a:ln>
            <a:noFill/>
          </a:ln>
          <a:effectLst>
            <a:softEdge rad="127000"/>
          </a:effectLst>
        </p:spPr>
      </p:pic>
    </p:spTree>
    <p:extLst>
      <p:ext uri="{BB962C8B-B14F-4D97-AF65-F5344CB8AC3E}">
        <p14:creationId xmlns:p14="http://schemas.microsoft.com/office/powerpoint/2010/main" val="1363977141"/>
      </p:ext>
    </p:extLst>
  </p:cSld>
  <p:clrMapOvr>
    <a:masterClrMapping/>
  </p:clrMapOvr>
  <mc:AlternateContent xmlns:mc="http://schemas.openxmlformats.org/markup-compatibility/2006">
    <mc:Choice xmlns:p14="http://schemas.microsoft.com/office/powerpoint/2010/main" Requires="p14">
      <p:transition spd="slow" p14:dur="2000" advTm="14645"/>
    </mc:Choice>
    <mc:Fallback>
      <p:transition spd="slow" advTm="1464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your policy solution?</a:t>
            </a:r>
            <a:endParaRPr/>
          </a:p>
        </p:txBody>
      </p:sp>
      <p:sp>
        <p:nvSpPr>
          <p:cNvPr id="79" name="Google Shape;79;p17"/>
          <p:cNvSpPr txBox="1">
            <a:spLocks noGrp="1"/>
          </p:cNvSpPr>
          <p:nvPr>
            <p:ph type="body" idx="1"/>
          </p:nvPr>
        </p:nvSpPr>
        <p:spPr>
          <a:xfrm>
            <a:off x="311700" y="1152475"/>
            <a:ext cx="6060525" cy="2576563"/>
          </a:xfrm>
          <a:prstGeom prst="rect">
            <a:avLst/>
          </a:prstGeom>
        </p:spPr>
        <p:txBody>
          <a:bodyPr spcFirstLastPara="1" wrap="square" lIns="91425" tIns="91425" rIns="91425" bIns="91425" anchor="t" anchorCtr="0">
            <a:normAutofit/>
          </a:bodyPr>
          <a:lstStyle/>
          <a:p>
            <a:r>
              <a:rPr lang="en" dirty="0"/>
              <a:t>Implementation at an institutional level</a:t>
            </a:r>
          </a:p>
          <a:p>
            <a:pPr marL="457200" lvl="0" indent="-342900" algn="l" rtl="0">
              <a:spcBef>
                <a:spcPts val="0"/>
              </a:spcBef>
              <a:spcAft>
                <a:spcPts val="0"/>
              </a:spcAft>
              <a:buSzPts val="1800"/>
              <a:buChar char="●"/>
            </a:pPr>
            <a:r>
              <a:rPr lang="en" dirty="0"/>
              <a:t>Basic Tenets of the Policy</a:t>
            </a:r>
          </a:p>
          <a:p>
            <a:pPr lvl="1"/>
            <a:r>
              <a:rPr lang="en-US" dirty="0"/>
              <a:t>Avoid Relying solely on AI detectors</a:t>
            </a:r>
          </a:p>
          <a:p>
            <a:pPr lvl="1"/>
            <a:r>
              <a:rPr lang="en-US" dirty="0"/>
              <a:t>Mandatory human review</a:t>
            </a:r>
          </a:p>
          <a:p>
            <a:pPr lvl="1"/>
            <a:r>
              <a:rPr lang="en-US" dirty="0"/>
              <a:t>An accessible appeals process</a:t>
            </a:r>
          </a:p>
          <a:p>
            <a:pPr lvl="1"/>
            <a:r>
              <a:rPr lang="en-US" dirty="0"/>
              <a:t>Informing students when AI detection is used</a:t>
            </a:r>
          </a:p>
          <a:p>
            <a:pPr lvl="1"/>
            <a:r>
              <a:rPr lang="en-US" dirty="0"/>
              <a:t>Providing information about error rates and known biases</a:t>
            </a:r>
          </a:p>
          <a:p>
            <a:pPr lvl="1"/>
            <a:r>
              <a:rPr lang="en-US" dirty="0"/>
              <a:t>Civil rights protections</a:t>
            </a:r>
          </a:p>
          <a:p>
            <a:pPr lvl="1"/>
            <a:r>
              <a:rPr lang="en-US" dirty="0"/>
              <a:t>Evaluate student work holistically</a:t>
            </a:r>
          </a:p>
          <a:p>
            <a:pPr marL="457200" lvl="0" indent="-342900" algn="l" rtl="0">
              <a:spcBef>
                <a:spcPts val="0"/>
              </a:spcBef>
              <a:spcAft>
                <a:spcPts val="0"/>
              </a:spcAft>
              <a:buSzPts val="1800"/>
              <a:buChar char="●"/>
            </a:pPr>
            <a:endParaRPr dirty="0"/>
          </a:p>
        </p:txBody>
      </p:sp>
      <p:pic>
        <p:nvPicPr>
          <p:cNvPr id="3" name="Camera 2">
            <a:extLst>
              <a:ext uri="{FF2B5EF4-FFF2-40B4-BE49-F238E27FC236}">
                <a16:creationId xmlns:a16="http://schemas.microsoft.com/office/drawing/2014/main" id="{CBD0C220-3025-B413-59B2-D7919A4CA0D1}"/>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31760" y="3737143"/>
            <a:ext cx="1402080" cy="1402080"/>
          </a:xfrm>
          <a:prstGeom prst="ellipse">
            <a:avLst/>
          </a:prstGeom>
          <a:ln>
            <a:noFill/>
          </a:ln>
          <a:effectLst>
            <a:softEdge rad="127000"/>
          </a:effectLst>
        </p:spPr>
      </p:pic>
    </p:spTree>
  </p:cSld>
  <p:clrMapOvr>
    <a:masterClrMapping/>
  </p:clrMapOvr>
  <mc:AlternateContent xmlns:mc="http://schemas.openxmlformats.org/markup-compatibility/2006">
    <mc:Choice xmlns:p14="http://schemas.microsoft.com/office/powerpoint/2010/main" Requires="p14">
      <p:transition spd="slow" p14:dur="2000" advTm="6536"/>
    </mc:Choice>
    <mc:Fallback>
      <p:transition spd="slow" advTm="653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159217"/>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are potential objections/critiques?</a:t>
            </a:r>
            <a:endParaRPr dirty="0"/>
          </a:p>
        </p:txBody>
      </p:sp>
      <p:pic>
        <p:nvPicPr>
          <p:cNvPr id="2" name="Camera 1">
            <a:extLst>
              <a:ext uri="{FF2B5EF4-FFF2-40B4-BE49-F238E27FC236}">
                <a16:creationId xmlns:a16="http://schemas.microsoft.com/office/drawing/2014/main" id="{3AD85729-D3FC-1619-7D66-2FC26E7BB1F6}"/>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31760" y="3737143"/>
            <a:ext cx="1402080" cy="1402080"/>
          </a:xfrm>
          <a:prstGeom prst="ellipse">
            <a:avLst/>
          </a:prstGeom>
          <a:ln>
            <a:noFill/>
          </a:ln>
          <a:effectLst>
            <a:softEdge rad="127000"/>
          </a:effectLst>
        </p:spPr>
      </p:pic>
      <p:sp>
        <p:nvSpPr>
          <p:cNvPr id="4" name="TextBox 3">
            <a:extLst>
              <a:ext uri="{FF2B5EF4-FFF2-40B4-BE49-F238E27FC236}">
                <a16:creationId xmlns:a16="http://schemas.microsoft.com/office/drawing/2014/main" id="{EF24ED40-E9F0-C117-B623-1A339430ECE7}"/>
              </a:ext>
            </a:extLst>
          </p:cNvPr>
          <p:cNvSpPr txBox="1"/>
          <p:nvPr/>
        </p:nvSpPr>
        <p:spPr>
          <a:xfrm>
            <a:off x="220260" y="4026564"/>
            <a:ext cx="7359100" cy="830997"/>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marL="114300">
              <a:buSzPts val="1800"/>
            </a:pPr>
            <a:r>
              <a:rPr lang="en-US" sz="1600" dirty="0">
                <a:ln w="0"/>
                <a:solidFill>
                  <a:schemeClr val="tx1"/>
                </a:solidFill>
                <a:effectLst>
                  <a:outerShdw blurRad="38100" dist="19050" dir="2700000" algn="tl" rotWithShape="0">
                    <a:schemeClr val="dk1">
                      <a:alpha val="40000"/>
                    </a:schemeClr>
                  </a:outerShdw>
                </a:effectLst>
              </a:rPr>
              <a:t>The various costs (both political and monetary) may be initially high, but this policy will help create the kind of academic atmosphere that fosters students’ potential, which is why most educators entered the field in the first place. </a:t>
            </a:r>
          </a:p>
        </p:txBody>
      </p:sp>
      <p:graphicFrame>
        <p:nvGraphicFramePr>
          <p:cNvPr id="6" name="Table 5">
            <a:extLst>
              <a:ext uri="{FF2B5EF4-FFF2-40B4-BE49-F238E27FC236}">
                <a16:creationId xmlns:a16="http://schemas.microsoft.com/office/drawing/2014/main" id="{33DCF521-3DAD-C083-CB9C-D9DF3D7C3C6B}"/>
              </a:ext>
            </a:extLst>
          </p:cNvPr>
          <p:cNvGraphicFramePr>
            <a:graphicFrameLocks noGrp="1"/>
          </p:cNvGraphicFramePr>
          <p:nvPr>
            <p:extLst>
              <p:ext uri="{D42A27DB-BD31-4B8C-83A1-F6EECF244321}">
                <p14:modId xmlns:p14="http://schemas.microsoft.com/office/powerpoint/2010/main" val="3436283951"/>
              </p:ext>
            </p:extLst>
          </p:nvPr>
        </p:nvGraphicFramePr>
        <p:xfrm>
          <a:off x="315678" y="637636"/>
          <a:ext cx="8597902" cy="3112508"/>
        </p:xfrm>
        <a:graphic>
          <a:graphicData uri="http://schemas.openxmlformats.org/drawingml/2006/table">
            <a:tbl>
              <a:tblPr firstRow="1" bandRow="1">
                <a:tableStyleId>{5C22544A-7EE6-4342-B048-85BDC9FD1C3A}</a:tableStyleId>
              </a:tblPr>
              <a:tblGrid>
                <a:gridCol w="2593342">
                  <a:extLst>
                    <a:ext uri="{9D8B030D-6E8A-4147-A177-3AD203B41FA5}">
                      <a16:colId xmlns:a16="http://schemas.microsoft.com/office/drawing/2014/main" val="921648364"/>
                    </a:ext>
                  </a:extLst>
                </a:gridCol>
                <a:gridCol w="2895600">
                  <a:extLst>
                    <a:ext uri="{9D8B030D-6E8A-4147-A177-3AD203B41FA5}">
                      <a16:colId xmlns:a16="http://schemas.microsoft.com/office/drawing/2014/main" val="2722686661"/>
                    </a:ext>
                  </a:extLst>
                </a:gridCol>
                <a:gridCol w="3108960">
                  <a:extLst>
                    <a:ext uri="{9D8B030D-6E8A-4147-A177-3AD203B41FA5}">
                      <a16:colId xmlns:a16="http://schemas.microsoft.com/office/drawing/2014/main" val="3720130886"/>
                    </a:ext>
                  </a:extLst>
                </a:gridCol>
              </a:tblGrid>
              <a:tr h="162163">
                <a:tc>
                  <a:txBody>
                    <a:bodyPr/>
                    <a:lstStyle/>
                    <a:p>
                      <a:r>
                        <a:rPr lang="en-US" dirty="0"/>
                        <a:t>Potential Objection/Critique</a:t>
                      </a:r>
                    </a:p>
                  </a:txBody>
                  <a:tcPr/>
                </a:tc>
                <a:tc>
                  <a:txBody>
                    <a:bodyPr/>
                    <a:lstStyle/>
                    <a:p>
                      <a:r>
                        <a:rPr lang="en-US" dirty="0"/>
                        <a:t>Why</a:t>
                      </a:r>
                    </a:p>
                  </a:txBody>
                  <a:tcPr/>
                </a:tc>
                <a:tc>
                  <a:txBody>
                    <a:bodyPr/>
                    <a:lstStyle/>
                    <a:p>
                      <a:r>
                        <a:rPr lang="en-US" dirty="0"/>
                        <a:t>Response by Plan</a:t>
                      </a:r>
                    </a:p>
                  </a:txBody>
                  <a:tcPr/>
                </a:tc>
                <a:extLst>
                  <a:ext uri="{0D108BD9-81ED-4DB2-BD59-A6C34878D82A}">
                    <a16:rowId xmlns:a16="http://schemas.microsoft.com/office/drawing/2014/main" val="1711249960"/>
                  </a:ext>
                </a:extLst>
              </a:tr>
              <a:tr h="34074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200" b="0" i="0" u="none" strike="noStrike" cap="none" dirty="0">
                          <a:solidFill>
                            <a:schemeClr val="dk1"/>
                          </a:solidFill>
                          <a:latin typeface="+mn-lt"/>
                          <a:ea typeface="+mn-ea"/>
                          <a:cs typeface="+mn-cs"/>
                          <a:sym typeface="Arial"/>
                        </a:rPr>
                        <a:t>Increased Faculty workload</a:t>
                      </a:r>
                    </a:p>
                  </a:txBody>
                  <a:tcPr/>
                </a:tc>
                <a:tc>
                  <a:txBody>
                    <a:bodyPr/>
                    <a:lstStyle/>
                    <a:p>
                      <a:pPr marL="285750" indent="-285750">
                        <a:buFont typeface="Arial" panose="020B0604020202020204" pitchFamily="34" charset="0"/>
                        <a:buChar char="•"/>
                      </a:pPr>
                      <a:r>
                        <a:rPr lang="en-US" sz="1200" dirty="0"/>
                        <a:t>Initial increase in training for faculty </a:t>
                      </a:r>
                    </a:p>
                    <a:p>
                      <a:pPr marL="285750" indent="-285750">
                        <a:buFont typeface="Arial" panose="020B0604020202020204" pitchFamily="34" charset="0"/>
                        <a:buChar char="•"/>
                      </a:pPr>
                      <a:r>
                        <a:rPr lang="en-US" sz="1200" dirty="0"/>
                        <a:t>human review of AI detector results</a:t>
                      </a:r>
                    </a:p>
                  </a:txBody>
                  <a:tcPr/>
                </a:tc>
                <a:tc>
                  <a:txBody>
                    <a:bodyPr/>
                    <a:lstStyle/>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human‑review workflow pilot</a:t>
                      </a:r>
                      <a:r>
                        <a:rPr lang="en-US" sz="1200" b="0" i="0" u="none" strike="noStrike" cap="none" dirty="0">
                          <a:solidFill>
                            <a:schemeClr val="dk1"/>
                          </a:solidFill>
                          <a:effectLst/>
                          <a:latin typeface="+mn-lt"/>
                          <a:ea typeface="+mn-ea"/>
                          <a:cs typeface="+mn-cs"/>
                          <a:sym typeface="Arial"/>
                        </a:rPr>
                        <a:t> </a:t>
                      </a:r>
                    </a:p>
                    <a:p>
                      <a:pPr marL="285750" indent="-285750">
                        <a:buFont typeface="Arial" panose="020B0604020202020204" pitchFamily="34" charset="0"/>
                        <a:buChar char="•"/>
                      </a:pPr>
                      <a:r>
                        <a:rPr lang="en-US" sz="1200" b="0" i="0" u="none" strike="noStrike" cap="none" dirty="0">
                          <a:solidFill>
                            <a:schemeClr val="dk1"/>
                          </a:solidFill>
                          <a:effectLst/>
                          <a:latin typeface="+mn-lt"/>
                          <a:ea typeface="+mn-ea"/>
                          <a:cs typeface="+mn-cs"/>
                          <a:sym typeface="Arial"/>
                        </a:rPr>
                        <a:t>provide </a:t>
                      </a:r>
                      <a:r>
                        <a:rPr lang="en-US" sz="1200" b="1" i="0" u="none" strike="noStrike" cap="none" dirty="0">
                          <a:solidFill>
                            <a:schemeClr val="dk1"/>
                          </a:solidFill>
                          <a:effectLst/>
                          <a:latin typeface="+mn-lt"/>
                          <a:ea typeface="+mn-ea"/>
                          <a:cs typeface="+mn-cs"/>
                          <a:sym typeface="Arial"/>
                        </a:rPr>
                        <a:t>training modules</a:t>
                      </a:r>
                      <a:endParaRPr lang="en-US" sz="1200" b="0" i="0" u="none" strike="noStrike" cap="none" dirty="0">
                        <a:solidFill>
                          <a:schemeClr val="dk1"/>
                        </a:solidFill>
                        <a:effectLst/>
                        <a:latin typeface="+mn-lt"/>
                        <a:ea typeface="+mn-ea"/>
                        <a:cs typeface="+mn-cs"/>
                        <a:sym typeface="Arial"/>
                      </a:endParaRPr>
                    </a:p>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compensation</a:t>
                      </a:r>
                      <a:r>
                        <a:rPr lang="en-US" sz="1200" b="0" i="0" u="none" strike="noStrike" cap="none" dirty="0">
                          <a:solidFill>
                            <a:schemeClr val="dk1"/>
                          </a:solidFill>
                          <a:effectLst/>
                          <a:latin typeface="+mn-lt"/>
                          <a:ea typeface="+mn-ea"/>
                          <a:cs typeface="+mn-cs"/>
                          <a:sym typeface="Arial"/>
                        </a:rPr>
                        <a:t> </a:t>
                      </a:r>
                      <a:endParaRPr lang="en-US" sz="1200" dirty="0"/>
                    </a:p>
                  </a:txBody>
                  <a:tcPr/>
                </a:tc>
                <a:extLst>
                  <a:ext uri="{0D108BD9-81ED-4DB2-BD59-A6C34878D82A}">
                    <a16:rowId xmlns:a16="http://schemas.microsoft.com/office/drawing/2014/main" val="1360986276"/>
                  </a:ext>
                </a:extLst>
              </a:tr>
              <a:tr h="535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200" b="0" i="0" u="none" strike="noStrike" cap="none" dirty="0">
                          <a:solidFill>
                            <a:schemeClr val="dk1"/>
                          </a:solidFill>
                          <a:latin typeface="+mn-lt"/>
                          <a:ea typeface="+mn-ea"/>
                          <a:cs typeface="+mn-cs"/>
                          <a:sym typeface="Arial"/>
                        </a:rPr>
                        <a:t>Potential reintroduction of bias due to human review</a:t>
                      </a:r>
                    </a:p>
                  </a:txBody>
                  <a:tcPr/>
                </a:tc>
                <a:tc>
                  <a:txBody>
                    <a:bodyPr/>
                    <a:lstStyle/>
                    <a:p>
                      <a:r>
                        <a:rPr lang="en-US" sz="1200" dirty="0"/>
                        <a:t>Human review</a:t>
                      </a:r>
                    </a:p>
                  </a:txBody>
                  <a:tcPr/>
                </a:tc>
                <a:tc>
                  <a:txBody>
                    <a:bodyPr/>
                    <a:lstStyle/>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bias‑training</a:t>
                      </a:r>
                      <a:endParaRPr lang="en-US" sz="1200" b="0" i="0" u="none" strike="noStrike" cap="none" dirty="0">
                        <a:solidFill>
                          <a:schemeClr val="dk1"/>
                        </a:solidFill>
                        <a:effectLst/>
                        <a:latin typeface="+mn-lt"/>
                        <a:ea typeface="+mn-ea"/>
                        <a:cs typeface="+mn-cs"/>
                        <a:sym typeface="Arial"/>
                      </a:endParaRPr>
                    </a:p>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standardized rubrics</a:t>
                      </a:r>
                      <a:endParaRPr lang="en-US" sz="1200" dirty="0"/>
                    </a:p>
                  </a:txBody>
                  <a:tcPr/>
                </a:tc>
                <a:extLst>
                  <a:ext uri="{0D108BD9-81ED-4DB2-BD59-A6C34878D82A}">
                    <a16:rowId xmlns:a16="http://schemas.microsoft.com/office/drawing/2014/main" val="2219398047"/>
                  </a:ext>
                </a:extLst>
              </a:tr>
              <a:tr h="535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dk1"/>
                          </a:solidFill>
                          <a:latin typeface="+mn-lt"/>
                          <a:ea typeface="+mn-ea"/>
                          <a:cs typeface="+mn-cs"/>
                          <a:sym typeface="Arial"/>
                        </a:rPr>
                        <a:t>Impact on visa status for international students</a:t>
                      </a:r>
                      <a:endParaRPr lang="en" sz="1200" b="0" i="0" u="none" strike="noStrike" cap="none" dirty="0">
                        <a:solidFill>
                          <a:schemeClr val="dk1"/>
                        </a:solidFill>
                        <a:latin typeface="+mn-lt"/>
                        <a:ea typeface="+mn-ea"/>
                        <a:cs typeface="+mn-cs"/>
                        <a:sym typeface="Arial"/>
                      </a:endParaRPr>
                    </a:p>
                  </a:txBody>
                  <a:tcPr/>
                </a:tc>
                <a:tc>
                  <a:txBody>
                    <a:bodyPr/>
                    <a:lstStyle/>
                    <a:p>
                      <a:r>
                        <a:rPr lang="en-US" sz="1200" dirty="0"/>
                        <a:t>Decisions made regarding student integrity may still have similar results</a:t>
                      </a:r>
                    </a:p>
                  </a:txBody>
                  <a:tcPr/>
                </a:tc>
                <a:tc>
                  <a:txBody>
                    <a:bodyPr/>
                    <a:lstStyle/>
                    <a:p>
                      <a:pPr marL="285750" indent="-285750">
                        <a:buFont typeface="Arial" panose="020B0604020202020204" pitchFamily="34" charset="0"/>
                        <a:buChar char="•"/>
                      </a:pPr>
                      <a:r>
                        <a:rPr lang="en-US" sz="1200" b="0" i="0" u="none" strike="noStrike" cap="none" dirty="0">
                          <a:solidFill>
                            <a:schemeClr val="dk1"/>
                          </a:solidFill>
                          <a:effectLst/>
                          <a:latin typeface="+mn-lt"/>
                          <a:ea typeface="+mn-ea"/>
                          <a:cs typeface="+mn-cs"/>
                          <a:sym typeface="Arial"/>
                        </a:rPr>
                        <a:t>T</a:t>
                      </a:r>
                      <a:r>
                        <a:rPr lang="en-US" sz="1200" b="1" i="0" u="none" strike="noStrike" cap="none" dirty="0">
                          <a:solidFill>
                            <a:schemeClr val="dk1"/>
                          </a:solidFill>
                          <a:effectLst/>
                          <a:latin typeface="+mn-lt"/>
                          <a:ea typeface="+mn-ea"/>
                          <a:cs typeface="+mn-cs"/>
                          <a:sym typeface="Arial"/>
                        </a:rPr>
                        <a:t>ransparent appeals</a:t>
                      </a:r>
                      <a:r>
                        <a:rPr lang="en-US" sz="1200" b="0" i="0" u="none" strike="noStrike" cap="none" dirty="0">
                          <a:solidFill>
                            <a:schemeClr val="dk1"/>
                          </a:solidFill>
                          <a:effectLst/>
                          <a:latin typeface="+mn-lt"/>
                          <a:ea typeface="+mn-ea"/>
                          <a:cs typeface="+mn-cs"/>
                          <a:sym typeface="Arial"/>
                        </a:rPr>
                        <a:t> process </a:t>
                      </a:r>
                    </a:p>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Legal counsel</a:t>
                      </a:r>
                      <a:r>
                        <a:rPr lang="en-US" sz="1200" b="0" i="0" u="none" strike="noStrike" cap="none" dirty="0">
                          <a:solidFill>
                            <a:schemeClr val="dk1"/>
                          </a:solidFill>
                          <a:effectLst/>
                          <a:latin typeface="+mn-lt"/>
                          <a:ea typeface="+mn-ea"/>
                          <a:cs typeface="+mn-cs"/>
                          <a:sym typeface="Arial"/>
                        </a:rPr>
                        <a:t> involvement</a:t>
                      </a:r>
                      <a:endParaRPr lang="en-US" sz="1200" dirty="0"/>
                    </a:p>
                  </a:txBody>
                  <a:tcPr/>
                </a:tc>
                <a:extLst>
                  <a:ext uri="{0D108BD9-81ED-4DB2-BD59-A6C34878D82A}">
                    <a16:rowId xmlns:a16="http://schemas.microsoft.com/office/drawing/2014/main" val="3437225738"/>
                  </a:ext>
                </a:extLst>
              </a:tr>
              <a:tr h="34074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200" b="0" i="0" u="none" strike="noStrike" cap="none" dirty="0">
                          <a:solidFill>
                            <a:schemeClr val="dk1"/>
                          </a:solidFill>
                          <a:latin typeface="+mn-lt"/>
                          <a:ea typeface="+mn-ea"/>
                          <a:cs typeface="+mn-cs"/>
                          <a:sym typeface="Arial"/>
                        </a:rPr>
                        <a:t>Technical feasibility / cost</a:t>
                      </a:r>
                    </a:p>
                  </a:txBody>
                  <a:tcPr/>
                </a:tc>
                <a:tc>
                  <a:txBody>
                    <a:bodyPr/>
                    <a:lstStyle/>
                    <a:p>
                      <a:r>
                        <a:rPr lang="en-US" sz="1200" dirty="0"/>
                        <a:t>Policy may be more expensive to implement than purchasing an alternative</a:t>
                      </a:r>
                    </a:p>
                  </a:txBody>
                  <a:tcPr/>
                </a:tc>
                <a:tc>
                  <a:txBody>
                    <a:bodyPr/>
                    <a:lstStyle/>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Cost‑benefit analysis</a:t>
                      </a:r>
                      <a:r>
                        <a:rPr lang="en-US" sz="1200" b="0" i="0" u="none" strike="noStrike" cap="none" dirty="0">
                          <a:solidFill>
                            <a:schemeClr val="dk1"/>
                          </a:solidFill>
                          <a:effectLst/>
                          <a:latin typeface="+mn-lt"/>
                          <a:ea typeface="+mn-ea"/>
                          <a:cs typeface="+mn-cs"/>
                          <a:sym typeface="Arial"/>
                        </a:rPr>
                        <a:t> </a:t>
                      </a:r>
                      <a:endParaRPr lang="en-US" sz="1200" dirty="0"/>
                    </a:p>
                  </a:txBody>
                  <a:tcPr/>
                </a:tc>
                <a:extLst>
                  <a:ext uri="{0D108BD9-81ED-4DB2-BD59-A6C34878D82A}">
                    <a16:rowId xmlns:a16="http://schemas.microsoft.com/office/drawing/2014/main" val="4244104354"/>
                  </a:ext>
                </a:extLst>
              </a:tr>
              <a:tr h="34074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200" b="0" i="0" u="none" strike="noStrike" cap="none" dirty="0">
                          <a:solidFill>
                            <a:schemeClr val="dk1"/>
                          </a:solidFill>
                          <a:latin typeface="+mn-lt"/>
                          <a:ea typeface="+mn-ea"/>
                          <a:cs typeface="+mn-cs"/>
                          <a:sym typeface="Arial"/>
                        </a:rPr>
                        <a:t>Risk of over-reliance on detectors</a:t>
                      </a:r>
                    </a:p>
                  </a:txBody>
                  <a:tcPr/>
                </a:tc>
                <a:tc>
                  <a:txBody>
                    <a:bodyPr/>
                    <a:lstStyle/>
                    <a:p>
                      <a:r>
                        <a:rPr lang="en-US" sz="1200" dirty="0"/>
                        <a:t>AI detectors will be used as one of the determinants of decisions</a:t>
                      </a:r>
                    </a:p>
                  </a:txBody>
                  <a:tcPr/>
                </a:tc>
                <a:tc>
                  <a:txBody>
                    <a:bodyPr/>
                    <a:lstStyle/>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AI detectors will be only one indicator among many</a:t>
                      </a:r>
                    </a:p>
                  </a:txBody>
                  <a:tcPr/>
                </a:tc>
                <a:extLst>
                  <a:ext uri="{0D108BD9-81ED-4DB2-BD59-A6C34878D82A}">
                    <a16:rowId xmlns:a16="http://schemas.microsoft.com/office/drawing/2014/main" val="1317464719"/>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6436"/>
    </mc:Choice>
    <mc:Fallback>
      <p:transition spd="slow" advTm="6436"/>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422</TotalTime>
  <Words>2373</Words>
  <Application>Microsoft Macintosh PowerPoint</Application>
  <PresentationFormat>On-screen Show (16:9)</PresentationFormat>
  <Paragraphs>204</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fkGroteskNeue</vt:lpstr>
      <vt:lpstr>Symbol</vt:lpstr>
      <vt:lpstr>Times New Roman</vt:lpstr>
      <vt:lpstr>Simple Light</vt:lpstr>
      <vt:lpstr>AI Detectors use with English Language Learners</vt:lpstr>
      <vt:lpstr>What is the problem?</vt:lpstr>
      <vt:lpstr>What is your ethical framework?</vt:lpstr>
      <vt:lpstr>Ethical principles in play</vt:lpstr>
      <vt:lpstr>Stakeholders</vt:lpstr>
      <vt:lpstr>PowerPoint Presentation</vt:lpstr>
      <vt:lpstr>Timeline</vt:lpstr>
      <vt:lpstr>What is your policy solution?</vt:lpstr>
      <vt:lpstr>What are potential objections/critiques?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Thomas Zucker-Scharff</cp:lastModifiedBy>
  <cp:revision>18</cp:revision>
  <cp:lastPrinted>2025-11-20T18:50:43Z</cp:lastPrinted>
  <dcterms:modified xsi:type="dcterms:W3CDTF">2025-11-21T06:58:47Z</dcterms:modified>
</cp:coreProperties>
</file>